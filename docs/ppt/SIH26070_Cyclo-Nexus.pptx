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Times New Roman Bold" charset="1" panose="02020803070505020304"/>
      <p:regular r:id="rId13"/>
    </p:embeddedFont>
    <p:embeddedFont>
      <p:font typeface="Arimo Bold" charset="1" panose="020B0704020202020204"/>
      <p:regular r:id="rId14"/>
    </p:embeddedFont>
    <p:embeddedFont>
      <p:font typeface="Calibri (MS)" charset="1" panose="020F0502020204030204"/>
      <p:regular r:id="rId15"/>
    </p:embeddedFon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  <p:embeddedFont>
      <p:font typeface="Arial Italics" charset="1" panose="020B0604020202090204"/>
      <p:regular r:id="rId18"/>
    </p:embeddedFont>
    <p:embeddedFont>
      <p:font typeface="Courier New Bold" charset="1" panose="02070609020205020404"/>
      <p:regular r:id="rId19"/>
    </p:embeddedFont>
    <p:embeddedFont>
      <p:font typeface="Calibri (MS) Bold" charset="1" panose="020F0702030404030204"/>
      <p:regular r:id="rId20"/>
    </p:embeddedFont>
    <p:embeddedFont>
      <p:font typeface="Arial Bold Italics" charset="1" panose="020B07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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101" Type="http://schemas.openxmlformats.org/officeDocument/2006/relationships/image" Target="../media/cn_1.png"/><Relationship Id="rId102" Type="http://schemas.openxmlformats.org/officeDocument/2006/relationships/image" Target="../media/cn_3.png"/><Relationship Id="rId103" Type="http://schemas.openxmlformats.org/officeDocument/2006/relationships/image" Target="../media/cn_4.svg"/><Relationship Id="rId104" Type="http://schemas.openxmlformats.org/officeDocument/2006/relationships/image" Target="../media/cn_5.png"/><Relationship Id="rId105" Type="http://schemas.openxmlformats.org/officeDocument/2006/relationships/image" Target="../media/cn_6.svg"/><Relationship Id="rId106" Type="http://schemas.openxmlformats.org/officeDocument/2006/relationships/image" Target="../media/cn_7.png"/><Relationship Id="rId107" Type="http://schemas.openxmlformats.org/officeDocument/2006/relationships/image" Target="../media/cn_8.svg"/><Relationship Id="rId108" Type="http://schemas.openxmlformats.org/officeDocument/2006/relationships/image" Target="../media/cn_9.png"/><Relationship Id="rId109" Type="http://schemas.openxmlformats.org/officeDocument/2006/relationships/image" Target="../media/cn_10.svg"/><Relationship Id="rId110" Type="http://schemas.openxmlformats.org/officeDocument/2006/relationships/image" Target="../media/cn_11.png"/><Relationship Id="rId111" Type="http://schemas.openxmlformats.org/officeDocument/2006/relationships/image" Target="../media/cn_12.svg"/><Relationship Id="rId112" Type="http://schemas.openxmlformats.org/officeDocument/2006/relationships/image" Target="../media/cn_13.png"/><Relationship Id="rId113" Type="http://schemas.openxmlformats.org/officeDocument/2006/relationships/image" Target="../media/cn_14.svg"/><Relationship Id="rId114" Type="http://schemas.openxmlformats.org/officeDocument/2006/relationships/image" Target="../media/cn_15.png"/><Relationship Id="rId115" Type="http://schemas.openxmlformats.org/officeDocument/2006/relationships/image" Target="../media/cn_16.svg"/><Relationship Id="rId116" Type="http://schemas.openxmlformats.org/officeDocument/2006/relationships/image" Target="../media/cn_17.png"/><Relationship Id="rId117" Type="http://schemas.openxmlformats.org/officeDocument/2006/relationships/image" Target="../media/cn_18.svg"/><Relationship Id="rId118" Type="http://schemas.openxmlformats.org/officeDocument/2006/relationships/image" Target="../media/cn_19.png"/><Relationship Id="rId119" Type="http://schemas.openxmlformats.org/officeDocument/2006/relationships/image" Target="../media/cn_20.svg"/><Relationship Id="rId120" Type="http://schemas.openxmlformats.org/officeDocument/2006/relationships/image" Target="../media/cn_21.png"/><Relationship Id="rId121" Type="http://schemas.openxmlformats.org/officeDocument/2006/relationships/image" Target="../media/cn_22.svg"/><Relationship Id="rId122" Type="http://schemas.openxmlformats.org/officeDocument/2006/relationships/image" Target="../media/cn_23.png"/><Relationship Id="rId123" Type="http://schemas.openxmlformats.org/officeDocument/2006/relationships/image" Target="../media/cn_24.svg"/><Relationship Id="rId124" Type="http://schemas.openxmlformats.org/officeDocument/2006/relationships/image" Target="../media/cn_25.png"/><Relationship Id="rId125" Type="http://schemas.openxmlformats.org/officeDocument/2006/relationships/image" Target="../media/cn_26.svg"/><Relationship Id="rId126" Type="http://schemas.openxmlformats.org/officeDocument/2006/relationships/image" Target="../media/cn_27.png"/><Relationship Id="rId127" Type="http://schemas.openxmlformats.org/officeDocument/2006/relationships/image" Target="../media/cn_28.svg"/><Relationship Id="rId128" Type="http://schemas.openxmlformats.org/officeDocument/2006/relationships/image" Target="../media/cn_29.png"/><Relationship Id="rId129" Type="http://schemas.openxmlformats.org/officeDocument/2006/relationships/image" Target="../media/cn_30.svg"/><Relationship Id="rId130" Type="http://schemas.openxmlformats.org/officeDocument/2006/relationships/image" Target="../media/cn_31.png"/><Relationship Id="rId131" Type="http://schemas.openxmlformats.org/officeDocument/2006/relationships/image" Target="../media/cn_32.svg"/><Relationship Id="rId132" Type="http://schemas.openxmlformats.org/officeDocument/2006/relationships/image" Target="../media/cn_33.png"/><Relationship Id="rId133" Type="http://schemas.openxmlformats.org/officeDocument/2006/relationships/image" Target="../media/cn_34.svg"/><Relationship Id="rId134" Type="http://schemas.openxmlformats.org/officeDocument/2006/relationships/image" Target="../media/cn_35.png"/><Relationship Id="rId135" Type="http://schemas.openxmlformats.org/officeDocument/2006/relationships/image" Target="../media/cn_36.svg"/><Relationship Id="rId136" Type="http://schemas.openxmlformats.org/officeDocument/2006/relationships/image" Target="../media/cn_37.png"/><Relationship Id="rId137" Type="http://schemas.openxmlformats.org/officeDocument/2006/relationships/image" Target="../media/cn_38.svg"/></Relationships>
</file>

<file path=ppt/slides/_rels/slide3.xml.rels><?xml version="1.0" encoding="UTF-8" standalone="yes"?>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101" Type="http://schemas.openxmlformats.org/officeDocument/2006/relationships/image" Target="../media/cn_39.png"/><Relationship Id="rId102" Type="http://schemas.openxmlformats.org/officeDocument/2006/relationships/image" Target="../media/cn_40.svg"/><Relationship Id="rId103" Type="http://schemas.openxmlformats.org/officeDocument/2006/relationships/image" Target="../media/cn_29.png"/><Relationship Id="rId104" Type="http://schemas.openxmlformats.org/officeDocument/2006/relationships/image" Target="../media/cn_30.svg"/><Relationship Id="rId105" Type="http://schemas.openxmlformats.org/officeDocument/2006/relationships/image" Target="../media/cn_41.png"/><Relationship Id="rId106" Type="http://schemas.openxmlformats.org/officeDocument/2006/relationships/image" Target="../media/cn_42.svg"/><Relationship Id="rId107" Type="http://schemas.openxmlformats.org/officeDocument/2006/relationships/image" Target="../media/cn_43.png"/><Relationship Id="rId108" Type="http://schemas.openxmlformats.org/officeDocument/2006/relationships/image" Target="../media/cn_44.svg"/><Relationship Id="rId109" Type="http://schemas.openxmlformats.org/officeDocument/2006/relationships/image" Target="../media/cn_45.png"/><Relationship Id="rId110" Type="http://schemas.openxmlformats.org/officeDocument/2006/relationships/image" Target="../media/cn_46.svg"/><Relationship Id="rId111" Type="http://schemas.openxmlformats.org/officeDocument/2006/relationships/image" Target="../media/cn_47.png"/><Relationship Id="rId112" Type="http://schemas.openxmlformats.org/officeDocument/2006/relationships/image" Target="../media/cn_48.svg"/><Relationship Id="rId113" Type="http://schemas.openxmlformats.org/officeDocument/2006/relationships/image" Target="../media/cn_49.png"/><Relationship Id="rId114" Type="http://schemas.openxmlformats.org/officeDocument/2006/relationships/image" Target="../media/cn_50.svg"/><Relationship Id="rId115" Type="http://schemas.openxmlformats.org/officeDocument/2006/relationships/image" Target="../media/cn_51.png"/><Relationship Id="rId116" Type="http://schemas.openxmlformats.org/officeDocument/2006/relationships/image" Target="../media/cn_52.svg"/><Relationship Id="rId117" Type="http://schemas.openxmlformats.org/officeDocument/2006/relationships/image" Target="../media/cn_53.png"/><Relationship Id="rId118" Type="http://schemas.openxmlformats.org/officeDocument/2006/relationships/image" Target="../media/cn_54.svg"/><Relationship Id="rId119" Type="http://schemas.openxmlformats.org/officeDocument/2006/relationships/image" Target="../media/cn_55.png"/><Relationship Id="rId120" Type="http://schemas.openxmlformats.org/officeDocument/2006/relationships/image" Target="../media/cn_56.svg"/><Relationship Id="rId121" Type="http://schemas.openxmlformats.org/officeDocument/2006/relationships/image" Target="../media/cn_57.png"/><Relationship Id="rId122" Type="http://schemas.openxmlformats.org/officeDocument/2006/relationships/image" Target="../media/cn_58.svg"/><Relationship Id="rId123" Type="http://schemas.openxmlformats.org/officeDocument/2006/relationships/image" Target="../media/cn_59.png"/><Relationship Id="rId124" Type="http://schemas.openxmlformats.org/officeDocument/2006/relationships/image" Target="../media/cn_60.svg"/><Relationship Id="rId125" Type="http://schemas.openxmlformats.org/officeDocument/2006/relationships/image" Target="../media/cn_7.png"/><Relationship Id="rId126" Type="http://schemas.openxmlformats.org/officeDocument/2006/relationships/image" Target="../media/cn_8.svg"/><Relationship Id="rId127" Type="http://schemas.openxmlformats.org/officeDocument/2006/relationships/image" Target="../media/cn_61.png"/><Relationship Id="rId128" Type="http://schemas.openxmlformats.org/officeDocument/2006/relationships/image" Target="../media/cn_62.svg"/><Relationship Id="rId129" Type="http://schemas.openxmlformats.org/officeDocument/2006/relationships/image" Target="../media/cn_27.png"/><Relationship Id="rId130" Type="http://schemas.openxmlformats.org/officeDocument/2006/relationships/image" Target="../media/cn_28.svg"/><Relationship Id="rId131" Type="http://schemas.openxmlformats.org/officeDocument/2006/relationships/image" Target="../media/cn_63.png"/><Relationship Id="rId132" Type="http://schemas.openxmlformats.org/officeDocument/2006/relationships/image" Target="../media/cn_64.svg"/><Relationship Id="rId133" Type="http://schemas.openxmlformats.org/officeDocument/2006/relationships/image" Target="../media/cn_65.png"/><Relationship Id="rId134" Type="http://schemas.openxmlformats.org/officeDocument/2006/relationships/image" Target="../media/cn_66.svg"/><Relationship Id="rId135" Type="http://schemas.openxmlformats.org/officeDocument/2006/relationships/image" Target="../media/cn_67.png"/><Relationship Id="rId136" Type="http://schemas.openxmlformats.org/officeDocument/2006/relationships/image" Target="../media/cn_68.svg"/><Relationship Id="rId137" Type="http://schemas.openxmlformats.org/officeDocument/2006/relationships/image" Target="../media/cn_69.png"/><Relationship Id="rId138" Type="http://schemas.openxmlformats.org/officeDocument/2006/relationships/image" Target="../media/cn_70.svg"/><Relationship Id="rId139" Type="http://schemas.openxmlformats.org/officeDocument/2006/relationships/image" Target="../media/cn_71.png"/><Relationship Id="rId140" Type="http://schemas.openxmlformats.org/officeDocument/2006/relationships/image" Target="../media/cn_72.svg"/><Relationship Id="rId141" Type="http://schemas.openxmlformats.org/officeDocument/2006/relationships/image" Target="../media/cn_73.png"/><Relationship Id="rId142" Type="http://schemas.openxmlformats.org/officeDocument/2006/relationships/image" Target="../media/cn_74.svg"/><Relationship Id="rId143" Type="http://schemas.openxmlformats.org/officeDocument/2006/relationships/image" Target="../media/cn_75.png"/><Relationship Id="rId144" Type="http://schemas.openxmlformats.org/officeDocument/2006/relationships/image" Target="../media/cn_76.svg"/><Relationship Id="rId145" Type="http://schemas.openxmlformats.org/officeDocument/2006/relationships/image" Target="../media/cn_37.png"/><Relationship Id="rId146" Type="http://schemas.openxmlformats.org/officeDocument/2006/relationships/image" Target="../media/cn_38.svg"/></Relationships>
</file>

<file path=ppt/slides/_rels/slide4.xml.rels><?xml version="1.0" encoding="UTF-8" standalone="yes"?>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101" Type="http://schemas.openxmlformats.org/officeDocument/2006/relationships/image" Target="../media/cn_77.png"/><Relationship Id="rId102" Type="http://schemas.openxmlformats.org/officeDocument/2006/relationships/image" Target="../media/cn_78.svg"/><Relationship Id="rId103" Type="http://schemas.openxmlformats.org/officeDocument/2006/relationships/image" Target="../media/cn_79.png"/><Relationship Id="rId104" Type="http://schemas.openxmlformats.org/officeDocument/2006/relationships/image" Target="../media/cn_80.svg"/><Relationship Id="rId105" Type="http://schemas.openxmlformats.org/officeDocument/2006/relationships/image" Target="../media/cn_57.png"/><Relationship Id="rId106" Type="http://schemas.openxmlformats.org/officeDocument/2006/relationships/image" Target="../media/cn_58.svg"/><Relationship Id="rId107" Type="http://schemas.openxmlformats.org/officeDocument/2006/relationships/image" Target="../media/cn_81.png"/><Relationship Id="rId108" Type="http://schemas.openxmlformats.org/officeDocument/2006/relationships/image" Target="../media/cn_82.svg"/><Relationship Id="rId109" Type="http://schemas.openxmlformats.org/officeDocument/2006/relationships/image" Target="../media/cn_83.png"/><Relationship Id="rId110" Type="http://schemas.openxmlformats.org/officeDocument/2006/relationships/image" Target="../media/cn_84.svg"/><Relationship Id="rId111" Type="http://schemas.openxmlformats.org/officeDocument/2006/relationships/image" Target="../media/cn_85.png"/><Relationship Id="rId112" Type="http://schemas.openxmlformats.org/officeDocument/2006/relationships/image" Target="../media/cn_86.svg"/><Relationship Id="rId113" Type="http://schemas.openxmlformats.org/officeDocument/2006/relationships/image" Target="../media/cn_87.png"/><Relationship Id="rId114" Type="http://schemas.openxmlformats.org/officeDocument/2006/relationships/image" Target="../media/cn_88.svg"/><Relationship Id="rId115" Type="http://schemas.openxmlformats.org/officeDocument/2006/relationships/image" Target="../media/cn_89.png"/><Relationship Id="rId116" Type="http://schemas.openxmlformats.org/officeDocument/2006/relationships/image" Target="../media/cn_90.svg"/><Relationship Id="rId117" Type="http://schemas.openxmlformats.org/officeDocument/2006/relationships/image" Target="../media/cn_91.png"/><Relationship Id="rId118" Type="http://schemas.openxmlformats.org/officeDocument/2006/relationships/image" Target="../media/cn_92.svg"/><Relationship Id="rId119" Type="http://schemas.openxmlformats.org/officeDocument/2006/relationships/image" Target="../media/cn_93.png"/><Relationship Id="rId120" Type="http://schemas.openxmlformats.org/officeDocument/2006/relationships/image" Target="../media/cn_94.svg"/><Relationship Id="rId121" Type="http://schemas.openxmlformats.org/officeDocument/2006/relationships/image" Target="../media/cn_95.png"/><Relationship Id="rId122" Type="http://schemas.openxmlformats.org/officeDocument/2006/relationships/image" Target="../media/cn_96.svg"/><Relationship Id="rId123" Type="http://schemas.openxmlformats.org/officeDocument/2006/relationships/image" Target="../media/cn_97.png"/><Relationship Id="rId124" Type="http://schemas.openxmlformats.org/officeDocument/2006/relationships/image" Target="../media/cn_98.svg"/><Relationship Id="rId125" Type="http://schemas.openxmlformats.org/officeDocument/2006/relationships/image" Target="../media/cn_99.png"/><Relationship Id="rId126" Type="http://schemas.openxmlformats.org/officeDocument/2006/relationships/image" Target="../media/cn_100.svg"/><Relationship Id="rId127" Type="http://schemas.openxmlformats.org/officeDocument/2006/relationships/image" Target="../media/cn_37.png"/><Relationship Id="rId128" Type="http://schemas.openxmlformats.org/officeDocument/2006/relationships/image" Target="../media/cn_38.svg"/></Relationships>
</file>

<file path=ppt/slides/_rels/slide5.xml.rels><?xml version="1.0" encoding="UTF-8" standalone="yes"?>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101" Type="http://schemas.openxmlformats.org/officeDocument/2006/relationships/image" Target="../media/cn_2.png"/><Relationship Id="rId102" Type="http://schemas.openxmlformats.org/officeDocument/2006/relationships/image" Target="../media/cn_13.png"/><Relationship Id="rId103" Type="http://schemas.openxmlformats.org/officeDocument/2006/relationships/image" Target="../media/cn_14.svg"/><Relationship Id="rId104" Type="http://schemas.openxmlformats.org/officeDocument/2006/relationships/image" Target="../media/cn_101.png"/><Relationship Id="rId105" Type="http://schemas.openxmlformats.org/officeDocument/2006/relationships/image" Target="../media/cn_102.svg"/><Relationship Id="rId106" Type="http://schemas.openxmlformats.org/officeDocument/2006/relationships/image" Target="../media/cn_103.png"/><Relationship Id="rId107" Type="http://schemas.openxmlformats.org/officeDocument/2006/relationships/image" Target="../media/cn_104.svg"/><Relationship Id="rId108" Type="http://schemas.openxmlformats.org/officeDocument/2006/relationships/image" Target="../media/cn_105.png"/><Relationship Id="rId109" Type="http://schemas.openxmlformats.org/officeDocument/2006/relationships/image" Target="../media/cn_106.svg"/><Relationship Id="rId110" Type="http://schemas.openxmlformats.org/officeDocument/2006/relationships/image" Target="../media/cn_107.png"/><Relationship Id="rId111" Type="http://schemas.openxmlformats.org/officeDocument/2006/relationships/image" Target="../media/cn_108.svg"/><Relationship Id="rId112" Type="http://schemas.openxmlformats.org/officeDocument/2006/relationships/image" Target="../media/cn_109.png"/><Relationship Id="rId113" Type="http://schemas.openxmlformats.org/officeDocument/2006/relationships/image" Target="../media/cn_110.svg"/><Relationship Id="rId114" Type="http://schemas.openxmlformats.org/officeDocument/2006/relationships/image" Target="../media/cn_111.png"/><Relationship Id="rId115" Type="http://schemas.openxmlformats.org/officeDocument/2006/relationships/image" Target="../media/cn_112.svg"/><Relationship Id="rId116" Type="http://schemas.openxmlformats.org/officeDocument/2006/relationships/image" Target="../media/cn_113.png"/><Relationship Id="rId117" Type="http://schemas.openxmlformats.org/officeDocument/2006/relationships/image" Target="../media/cn_114.svg"/><Relationship Id="rId118" Type="http://schemas.openxmlformats.org/officeDocument/2006/relationships/image" Target="../media/cn_115.png"/><Relationship Id="rId119" Type="http://schemas.openxmlformats.org/officeDocument/2006/relationships/image" Target="../media/cn_116.svg"/><Relationship Id="rId120" Type="http://schemas.openxmlformats.org/officeDocument/2006/relationships/image" Target="../media/cn_117.png"/><Relationship Id="rId121" Type="http://schemas.openxmlformats.org/officeDocument/2006/relationships/image" Target="../media/cn_118.svg"/><Relationship Id="rId122" Type="http://schemas.openxmlformats.org/officeDocument/2006/relationships/image" Target="../media/cn_25.png"/><Relationship Id="rId123" Type="http://schemas.openxmlformats.org/officeDocument/2006/relationships/image" Target="../media/cn_26.svg"/><Relationship Id="rId124" Type="http://schemas.openxmlformats.org/officeDocument/2006/relationships/image" Target="../media/cn_119.png"/><Relationship Id="rId125" Type="http://schemas.openxmlformats.org/officeDocument/2006/relationships/image" Target="../media/cn_120.svg"/><Relationship Id="rId126" Type="http://schemas.openxmlformats.org/officeDocument/2006/relationships/image" Target="../media/cn_121.png"/><Relationship Id="rId127" Type="http://schemas.openxmlformats.org/officeDocument/2006/relationships/image" Target="../media/cn_122.svg"/><Relationship Id="rId128" Type="http://schemas.openxmlformats.org/officeDocument/2006/relationships/image" Target="../media/cn_11.png"/><Relationship Id="rId129" Type="http://schemas.openxmlformats.org/officeDocument/2006/relationships/image" Target="../media/cn_12.svg"/><Relationship Id="rId130" Type="http://schemas.openxmlformats.org/officeDocument/2006/relationships/image" Target="../media/cn_123.png"/><Relationship Id="rId131" Type="http://schemas.openxmlformats.org/officeDocument/2006/relationships/image" Target="../media/cn_124.svg"/><Relationship Id="rId132" Type="http://schemas.openxmlformats.org/officeDocument/2006/relationships/image" Target="../media/cn_59.png"/><Relationship Id="rId133" Type="http://schemas.openxmlformats.org/officeDocument/2006/relationships/image" Target="../media/cn_60.svg"/><Relationship Id="rId134" Type="http://schemas.openxmlformats.org/officeDocument/2006/relationships/image" Target="../media/cn_35.png"/><Relationship Id="rId135" Type="http://schemas.openxmlformats.org/officeDocument/2006/relationships/image" Target="../media/cn_36.svg"/><Relationship Id="rId136" Type="http://schemas.openxmlformats.org/officeDocument/2006/relationships/image" Target="../media/cn_37.png"/><Relationship Id="rId137" Type="http://schemas.openxmlformats.org/officeDocument/2006/relationships/image" Target="../media/cn_38.svg"/></Relationships>
</file>

<file path=ppt/slides/_rels/slide6.xml.rels><?xml version="1.0" encoding="UTF-8" standalone="yes"?>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101" Type="http://schemas.openxmlformats.org/officeDocument/2006/relationships/hyperlink" Target="https://www.mosdac.gov.in" TargetMode="External"/><Relationship Id="rId102" Type="http://schemas.openxmlformats.org/officeDocument/2006/relationships/hyperlink" Target="https://gpm.nasa.gov/data/imerg" TargetMode="External"/><Relationship Id="rId103" Type="http://schemas.openxmlformats.org/officeDocument/2006/relationships/hyperlink" Target="https://www.metoc.navy.mil/jtwc/jtwc.html" TargetMode="External"/><Relationship Id="rId104" Type="http://schemas.openxmlformats.org/officeDocument/2006/relationships/hyperlink" Target="https://www.ncei.noaa.gov/products/international-best-track-archive" TargetMode="External"/><Relationship Id="rId105" Type="http://schemas.openxmlformats.org/officeDocument/2006/relationships/hyperlink" Target="https://mausam.imd.gov.in" TargetMode="External"/><Relationship Id="rId106" Type="http://schemas.openxmlformats.org/officeDocument/2006/relationships/hyperlink" Target="https://open-meteo.com" TargetMode="External"/><Relationship Id="rId107" Type="http://schemas.openxmlformats.org/officeDocument/2006/relationships/hyperlink" Target="https://arxiv.org/abs/1506.04214" TargetMode="External"/><Relationship Id="rId108" Type="http://schemas.openxmlformats.org/officeDocument/2006/relationships/hyperlink" Target="https://doi.org/10.1109/TGRS.2008.2000819" TargetMode="External"/><Relationship Id="rId109" Type="http://schemas.openxmlformats.org/officeDocument/2006/relationships/hyperlink" Target="https://doi.org/10.1175/1520-0493(1975)103&lt;0420:TCIAAF&gt;2.0.CO;2" TargetMode="External"/><Relationship Id="rId110" Type="http://schemas.openxmlformats.org/officeDocument/2006/relationships/hyperlink" Target="https://doi.org/10.1175/1520-0493(1977)105&lt;0421:TCMSLP&gt;2.0.CO;2" TargetMode="External"/><Relationship Id="rId111" Type="http://schemas.openxmlformats.org/officeDocument/2006/relationships/hyperlink" Target="https://doi.org/10.1175/2009BAMS2755.1" TargetMode="External"/><Relationship Id="rId112" Type="http://schemas.openxmlformats.org/officeDocument/2006/relationships/hyperlink" Target="https://doi.org/10.54302/mausam.v70i4.204" TargetMode="External"/><Relationship Id="rId113" Type="http://schemas.openxmlformats.org/officeDocument/2006/relationships/hyperlink" Target="https://shipmin.gov.in/en/content/revised-length-indias-coastline-0" TargetMode="External"/><Relationship Id="rId114" Type="http://schemas.openxmlformats.org/officeDocument/2006/relationships/hyperlink" Target="http://eprints.cmfri.org.in/17490/" TargetMode="External"/><Relationship Id="rId115" Type="http://schemas.openxmlformats.org/officeDocument/2006/relationships/hyperlink" Target="https://wmo.int/news/media-centre/early-warning-systems-must-protect-everyone-within-five-years" TargetMode="External"/><Relationship Id="rId116" Type="http://schemas.openxmlformats.org/officeDocument/2006/relationships/hyperlink" Target="https://www.worldbank.org/en/results/2014/04/10/india-averts-cyclone-phailin-devastation" TargetMode="External"/><Relationship Id="rId117" Type="http://schemas.openxmlformats.org/officeDocument/2006/relationships/hyperlink" Target="https://theprint.in/india/amphan-costliest-cyclone-in-north-indian-ocean-resulted-in-loss-of-14-billion-un-report/642754/" TargetMode="External"/><Relationship Id="rId118" Type="http://schemas.openxmlformats.org/officeDocument/2006/relationships/hyperlink" Target="https://docs.ultralytics.com/tasks/obb/" TargetMode="External"/><Relationship Id="rId119" Type="http://schemas.openxmlformats.org/officeDocument/2006/relationships/image" Target="../media/cn_125.png"/><Relationship Id="rId120" Type="http://schemas.openxmlformats.org/officeDocument/2006/relationships/image" Target="../media/cn_126.svg"/><Relationship Id="rId121" Type="http://schemas.openxmlformats.org/officeDocument/2006/relationships/image" Target="../media/cn_53.png"/><Relationship Id="rId122" Type="http://schemas.openxmlformats.org/officeDocument/2006/relationships/image" Target="../media/cn_54.svg"/><Relationship Id="rId123" Type="http://schemas.openxmlformats.org/officeDocument/2006/relationships/image" Target="../media/cn_127.png"/><Relationship Id="rId124" Type="http://schemas.openxmlformats.org/officeDocument/2006/relationships/image" Target="../media/cn_128.svg"/><Relationship Id="rId125" Type="http://schemas.openxmlformats.org/officeDocument/2006/relationships/image" Target="../media/cn_129.png"/><Relationship Id="rId126" Type="http://schemas.openxmlformats.org/officeDocument/2006/relationships/image" Target="../media/cn_130.svg"/><Relationship Id="rId127" Type="http://schemas.openxmlformats.org/officeDocument/2006/relationships/image" Target="../media/cn_131.png"/><Relationship Id="rId128" Type="http://schemas.openxmlformats.org/officeDocument/2006/relationships/image" Target="../media/cn_132.svg"/><Relationship Id="rId129" Type="http://schemas.openxmlformats.org/officeDocument/2006/relationships/image" Target="../media/cn_133.png"/><Relationship Id="rId130" Type="http://schemas.openxmlformats.org/officeDocument/2006/relationships/image" Target="../media/cn_134.svg"/><Relationship Id="rId131" Type="http://schemas.openxmlformats.org/officeDocument/2006/relationships/image" Target="../media/cn_135.png"/><Relationship Id="rId132" Type="http://schemas.openxmlformats.org/officeDocument/2006/relationships/image" Target="../media/cn_136.svg"/><Relationship Id="rId133" Type="http://schemas.openxmlformats.org/officeDocument/2006/relationships/image" Target="../media/cn_137.png"/><Relationship Id="rId134" Type="http://schemas.openxmlformats.org/officeDocument/2006/relationships/image" Target="../media/cn_138.svg"/><Relationship Id="rId135" Type="http://schemas.openxmlformats.org/officeDocument/2006/relationships/image" Target="../media/cn_37.png"/><Relationship Id="rId136" Type="http://schemas.openxmlformats.org/officeDocument/2006/relationships/image" Target="../media/cn_38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9450000" y="2160003"/>
            <a:ext cx="8639461" cy="7289463"/>
          </a:xfrm>
          <a:custGeom>
            <a:avLst/>
            <a:gdLst/>
            <a:ahLst/>
            <a:cxnLst/>
            <a:rect r="r" b="b" t="t" l="l"/>
            <a:pathLst>
              <a:path h="7289463" w="8639461">
                <a:moveTo>
                  <a:pt x="0" y="0"/>
                </a:moveTo>
                <a:lnTo>
                  <a:pt x="8639461" y="0"/>
                </a:lnTo>
                <a:lnTo>
                  <a:pt x="8639461" y="7289464"/>
                </a:lnTo>
                <a:lnTo>
                  <a:pt x="0" y="728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5078" y="3779996"/>
            <a:ext cx="4804381" cy="5138099"/>
            <a:chOff x="0" y="0"/>
            <a:chExt cx="6405842" cy="6850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5880" cy="6850761"/>
            </a:xfrm>
            <a:custGeom>
              <a:avLst/>
              <a:gdLst/>
              <a:ahLst/>
              <a:cxnLst/>
              <a:rect r="r" b="b" t="t" l="l"/>
              <a:pathLst>
                <a:path h="6850761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6850761"/>
                  </a:lnTo>
                  <a:lnTo>
                    <a:pt x="0" y="6850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4" b="-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557" y="-684181"/>
            <a:ext cx="15543905" cy="3113637"/>
            <a:chOff x="0" y="0"/>
            <a:chExt cx="20725206" cy="41515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5200" cy="4151520"/>
            </a:xfrm>
            <a:custGeom>
              <a:avLst/>
              <a:gdLst/>
              <a:ahLst/>
              <a:cxnLst/>
              <a:rect r="r" b="b" t="t" l="l"/>
              <a:pathLst>
                <a:path h="4151520" w="20725200">
                  <a:moveTo>
                    <a:pt x="0" y="0"/>
                  </a:moveTo>
                  <a:lnTo>
                    <a:pt x="20725200" y="0"/>
                  </a:lnTo>
                  <a:lnTo>
                    <a:pt x="20725200" y="4151520"/>
                  </a:lnTo>
                  <a:lnTo>
                    <a:pt x="0" y="415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73" r="0" b="-4727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5206" cy="4170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-6000">
            <a:off x="121278" y="2612269"/>
            <a:ext cx="12471438" cy="687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Problem Statement ID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– SIH26070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Problem Statement Title 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– To develop an Artificial Intelligence (AI) / Machine Learning (ML) based system for identification, classification, and prediction of different tropical cyclone patterns using multi-source satellite data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Theme 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– Disaster Management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Organization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– Ministry of Earth Sciences (MoES)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PS Category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– Software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Team ID 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– 136905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B03A2E"/>
                </a:solidFill>
                <a:latin typeface="Garamond Bold"/>
                <a:ea typeface="Garamond Bold"/>
                <a:cs typeface="Garamond Bold"/>
                <a:sym typeface="Garamond Bold"/>
              </a:rPr>
              <a:t>Team Name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– Tikka Techies</a:t>
            </a:r>
          </a:p>
          <a:p>
            <a:pPr algn="l" marL="526439" indent="-263220" lvl="1">
              <a:lnSpc>
                <a:spcPts val="349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4965023" y="272158"/>
            <a:ext cx="2854442" cy="1347302"/>
            <a:chOff x="0" y="0"/>
            <a:chExt cx="3805923" cy="17964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9" r="0" b="-18"/>
              </a:stretch>
            </a:blipFill>
          </p:spPr>
        </p:sp>
      </p:grpSp>
      <p:sp>
        <p:nvSpPr>
          <p:cNvPr name="Freeform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9450000" y="2160003"/>
            <a:ext cx="8639461" cy="7289463"/>
          </a:xfrm>
          <a:custGeom>
            <a:avLst/>
            <a:gdLst/>
            <a:ahLst/>
            <a:cxnLst/>
            <a:rect r="r" b="b" t="t" l="l"/>
            <a:pathLst>
              <a:path h="7289463" w="8639461">
                <a:moveTo>
                  <a:pt x="0" y="0"/>
                </a:moveTo>
                <a:lnTo>
                  <a:pt x="8639461" y="0"/>
                </a:lnTo>
                <a:lnTo>
                  <a:pt x="8639461" y="7289464"/>
                </a:lnTo>
                <a:lnTo>
                  <a:pt x="0" y="728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9450000" y="1628632"/>
            <a:ext cx="8639461" cy="7289463"/>
          </a:xfrm>
          <a:custGeom>
            <a:avLst/>
            <a:gdLst/>
            <a:ahLst/>
            <a:cxnLst/>
            <a:rect r="r" b="b" t="t" l="l"/>
            <a:pathLst>
              <a:path h="7289463" w="8639461">
                <a:moveTo>
                  <a:pt x="0" y="0"/>
                </a:moveTo>
                <a:lnTo>
                  <a:pt x="8639461" y="0"/>
                </a:lnTo>
                <a:lnTo>
                  <a:pt x="8639461" y="7289464"/>
                </a:lnTo>
                <a:lnTo>
                  <a:pt x="0" y="728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1747" y="20574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CYCLO-NEXUS: Multi-Satellite AI Cyclone Watch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sp>
        <p:nvSpPr>
          <p:cNvPr id="1001" name="Badge 1001"/>
          <p:cNvSpPr/>
          <p:nvPr/>
        </p:nvSpPr>
        <p:spPr>
          <a:xfrm>
            <a:off x="617220" y="1737360"/>
            <a:ext cx="342900" cy="3429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2" name="Heading 1002"/>
          <p:cNvSpPr txBox="1"/>
          <p:nvPr/>
        </p:nvSpPr>
        <p:spPr>
          <a:xfrm>
            <a:off x="1074420" y="1714500"/>
            <a:ext cx="10972800" cy="3886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9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Proposed Solution: detailed explanation of the proposed solution</a:t>
            </a:r>
          </a:p>
        </p:txBody>
      </p:sp>
      <p:sp>
        <p:nvSpPr>
          <p:cNvPr id="1003" name="Card 1003"/>
          <p:cNvSpPr/>
          <p:nvPr/>
        </p:nvSpPr>
        <p:spPr>
          <a:xfrm>
            <a:off x="617220" y="2491740"/>
            <a:ext cx="2583180" cy="24460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4" name="Badge 1004"/>
          <p:cNvSpPr/>
          <p:nvPr/>
        </p:nvSpPr>
        <p:spPr>
          <a:xfrm>
            <a:off x="1577340" y="2251710"/>
            <a:ext cx="662940" cy="662940"/>
          </a:xfrm>
          <a:prstGeom prst="ellipse">
            <a:avLst/>
          </a:prstGeom>
          <a:solidFill>
            <a:srgbClr val="0070C0"/>
          </a:solidFill>
          <a:ln w="25400">
            <a:solidFill>
              <a:srgbClr val="FFFFFF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5" name="Shape 1005"/>
          <p:cNvSpPr/>
          <p:nvPr/>
        </p:nvSpPr>
        <p:spPr>
          <a:xfrm>
            <a:off x="2743200" y="2628900"/>
            <a:ext cx="320040" cy="32004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06" name="Text 1006"/>
          <p:cNvSpPr txBox="1"/>
          <p:nvPr/>
        </p:nvSpPr>
        <p:spPr>
          <a:xfrm>
            <a:off x="777240" y="2994660"/>
            <a:ext cx="2263140" cy="3429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7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1007" name="Text 1007"/>
          <p:cNvSpPr txBox="1"/>
          <p:nvPr/>
        </p:nvSpPr>
        <p:spPr>
          <a:xfrm>
            <a:off x="800100" y="3383280"/>
            <a:ext cx="2240280" cy="14401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 marL="137160" indent="-137160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YOLO-OBB oriented boxes on the eye and cloud system</a:t>
            </a:r>
          </a:p>
          <a:p>
            <a:pPr algn="l" marL="137160" indent="-137160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Physics (DAV) check flags developing systems early</a:t>
            </a:r>
          </a:p>
        </p:txBody>
      </p:sp>
      <p:sp>
        <p:nvSpPr>
          <p:cNvPr id="1008" name="Pill 1008"/>
          <p:cNvSpPr/>
          <p:nvPr/>
        </p:nvSpPr>
        <p:spPr>
          <a:xfrm>
            <a:off x="960120" y="4457700"/>
            <a:ext cx="1897380" cy="32004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9" name="Text 1009"/>
          <p:cNvSpPr txBox="1"/>
          <p:nvPr/>
        </p:nvSpPr>
        <p:spPr>
          <a:xfrm>
            <a:off x="960120" y="4457700"/>
            <a:ext cx="1897380" cy="3200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Every 30 min</a:t>
            </a:r>
          </a:p>
        </p:txBody>
      </p:sp>
      <p:sp>
        <p:nvSpPr>
          <p:cNvPr id="1010" name="Flow arrow 1010"/>
          <p:cNvSpPr/>
          <p:nvPr/>
        </p:nvSpPr>
        <p:spPr>
          <a:xfrm>
            <a:off x="3234690" y="3589020"/>
            <a:ext cx="274320" cy="29718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1" name="Card 1011"/>
          <p:cNvSpPr/>
          <p:nvPr/>
        </p:nvSpPr>
        <p:spPr>
          <a:xfrm>
            <a:off x="3543300" y="2491740"/>
            <a:ext cx="2583180" cy="24460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2" name="Badge 1012"/>
          <p:cNvSpPr/>
          <p:nvPr/>
        </p:nvSpPr>
        <p:spPr>
          <a:xfrm>
            <a:off x="4503420" y="2251710"/>
            <a:ext cx="662940" cy="662940"/>
          </a:xfrm>
          <a:prstGeom prst="ellipse">
            <a:avLst/>
          </a:prstGeom>
          <a:solidFill>
            <a:srgbClr val="0E7490"/>
          </a:solidFill>
          <a:ln w="25400">
            <a:solidFill>
              <a:srgbClr val="FFFFFF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3" name="Shape 1013"/>
          <p:cNvSpPr/>
          <p:nvPr/>
        </p:nvSpPr>
        <p:spPr>
          <a:xfrm>
            <a:off x="5669280" y="2628900"/>
            <a:ext cx="320040" cy="32004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00" b="1" dirty="0">
                <a:solidFill>
                  <a:srgbClr val="0E74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14" name="Text 1014"/>
          <p:cNvSpPr txBox="1"/>
          <p:nvPr/>
        </p:nvSpPr>
        <p:spPr>
          <a:xfrm>
            <a:off x="3703320" y="2994660"/>
            <a:ext cx="2263140" cy="3429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700" b="1" dirty="0">
                <a:solidFill>
                  <a:srgbClr val="0E7490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1015" name="Text 1015"/>
          <p:cNvSpPr txBox="1"/>
          <p:nvPr/>
        </p:nvSpPr>
        <p:spPr>
          <a:xfrm>
            <a:off x="3726180" y="3383280"/>
            <a:ext cx="2240280" cy="14401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 marL="137160" indent="-137160">
              <a:spcAft>
                <a:spcPts val="500"/>
              </a:spcAft>
              <a:buClr>
                <a:srgbClr val="0E7490"/>
              </a:buClr>
              <a:buFont typeface="Arial"/>
              <a:buChar char="•"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IMD 7-tier scale, Depression to Super Cyclone</a:t>
            </a:r>
          </a:p>
          <a:p>
            <a:pPr algn="l" marL="137160" indent="-137160">
              <a:spcAft>
                <a:spcPts val="500"/>
              </a:spcAft>
              <a:buClr>
                <a:srgbClr val="0E7490"/>
              </a:buClr>
              <a:buFont typeface="Arial"/>
              <a:buChar char="•"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Yellow / Orange / Red alert levels</a:t>
            </a:r>
          </a:p>
        </p:txBody>
      </p:sp>
      <p:sp>
        <p:nvSpPr>
          <p:cNvPr id="1016" name="Pill 1016"/>
          <p:cNvSpPr/>
          <p:nvPr/>
        </p:nvSpPr>
        <p:spPr>
          <a:xfrm>
            <a:off x="3886200" y="4457700"/>
            <a:ext cx="1897380" cy="32004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7" name="Text 1017"/>
          <p:cNvSpPr txBox="1"/>
          <p:nvPr/>
        </p:nvSpPr>
        <p:spPr>
          <a:xfrm>
            <a:off x="3886200" y="4457700"/>
            <a:ext cx="1897380" cy="3200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00" b="1" dirty="0">
                <a:solidFill>
                  <a:srgbClr val="0E7490"/>
                </a:solidFill>
                <a:latin typeface="Arial"/>
                <a:ea typeface="Arial"/>
                <a:cs typeface="Arial"/>
              </a:rPr>
              <a:t>D  →  SuCS</a:t>
            </a:r>
          </a:p>
        </p:txBody>
      </p:sp>
      <p:sp>
        <p:nvSpPr>
          <p:cNvPr id="1018" name="Flow arrow 1018"/>
          <p:cNvSpPr/>
          <p:nvPr/>
        </p:nvSpPr>
        <p:spPr>
          <a:xfrm>
            <a:off x="6160770" y="3589020"/>
            <a:ext cx="274320" cy="29718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0E749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9" name="Card 1019"/>
          <p:cNvSpPr/>
          <p:nvPr/>
        </p:nvSpPr>
        <p:spPr>
          <a:xfrm>
            <a:off x="6469380" y="2491740"/>
            <a:ext cx="2583180" cy="24460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0" name="Badge 1020"/>
          <p:cNvSpPr/>
          <p:nvPr/>
        </p:nvSpPr>
        <p:spPr>
          <a:xfrm>
            <a:off x="7429500" y="2251710"/>
            <a:ext cx="662940" cy="662940"/>
          </a:xfrm>
          <a:prstGeom prst="ellipse">
            <a:avLst/>
          </a:prstGeom>
          <a:solidFill>
            <a:srgbClr val="6D28D9"/>
          </a:solidFill>
          <a:ln w="25400">
            <a:solidFill>
              <a:srgbClr val="FFFFFF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1" name="Shape 1021"/>
          <p:cNvSpPr/>
          <p:nvPr/>
        </p:nvSpPr>
        <p:spPr>
          <a:xfrm>
            <a:off x="8595360" y="2628900"/>
            <a:ext cx="320040" cy="32004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00" b="1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22" name="Text 1022"/>
          <p:cNvSpPr txBox="1"/>
          <p:nvPr/>
        </p:nvSpPr>
        <p:spPr>
          <a:xfrm>
            <a:off x="6629400" y="2994660"/>
            <a:ext cx="2263140" cy="3429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700" b="1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023" name="Text 1023"/>
          <p:cNvSpPr txBox="1"/>
          <p:nvPr/>
        </p:nvSpPr>
        <p:spPr>
          <a:xfrm>
            <a:off x="6652260" y="3383280"/>
            <a:ext cx="2240280" cy="14401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 marL="137160" indent="-137160">
              <a:spcAft>
                <a:spcPts val="500"/>
              </a:spcAft>
              <a:buClr>
                <a:srgbClr val="6D28D9"/>
              </a:buClr>
              <a:buFont typeface="Arial"/>
              <a:buChar char="•"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6 to 72 h track, wind and pressure</a:t>
            </a:r>
          </a:p>
          <a:p>
            <a:pPr algn="l" marL="137160" indent="-137160">
              <a:spcAft>
                <a:spcPts val="500"/>
              </a:spcAft>
              <a:buClr>
                <a:srgbClr val="6D28D9"/>
              </a:buClr>
              <a:buFont typeface="Arial"/>
              <a:buChar char="•"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ConvLSTM + Bi-GRU deep learning</a:t>
            </a:r>
          </a:p>
        </p:txBody>
      </p:sp>
      <p:sp>
        <p:nvSpPr>
          <p:cNvPr id="1024" name="Pill 1024"/>
          <p:cNvSpPr/>
          <p:nvPr/>
        </p:nvSpPr>
        <p:spPr>
          <a:xfrm>
            <a:off x="6812280" y="4457700"/>
            <a:ext cx="1897380" cy="32004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5" name="Text 1025"/>
          <p:cNvSpPr txBox="1"/>
          <p:nvPr/>
        </p:nvSpPr>
        <p:spPr>
          <a:xfrm>
            <a:off x="6812280" y="4457700"/>
            <a:ext cx="1897380" cy="3200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00" b="1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+6 h … +72 h</a:t>
            </a:r>
          </a:p>
        </p:txBody>
      </p:sp>
      <p:sp>
        <p:nvSpPr>
          <p:cNvPr id="1026" name="Flow arrow 1026"/>
          <p:cNvSpPr/>
          <p:nvPr/>
        </p:nvSpPr>
        <p:spPr>
          <a:xfrm>
            <a:off x="9086850" y="3589020"/>
            <a:ext cx="274320" cy="29718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7" name="Card 1027"/>
          <p:cNvSpPr/>
          <p:nvPr/>
        </p:nvSpPr>
        <p:spPr>
          <a:xfrm>
            <a:off x="9395460" y="2491740"/>
            <a:ext cx="2583180" cy="24460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8" name="Badge 1028"/>
          <p:cNvSpPr/>
          <p:nvPr/>
        </p:nvSpPr>
        <p:spPr>
          <a:xfrm>
            <a:off x="10355580" y="2251710"/>
            <a:ext cx="662940" cy="66294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9" name="Shape 1029"/>
          <p:cNvSpPr/>
          <p:nvPr/>
        </p:nvSpPr>
        <p:spPr>
          <a:xfrm>
            <a:off x="11521440" y="2628900"/>
            <a:ext cx="320040" cy="32004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30" name="Text 1030"/>
          <p:cNvSpPr txBox="1"/>
          <p:nvPr/>
        </p:nvSpPr>
        <p:spPr>
          <a:xfrm>
            <a:off x="9555480" y="2994660"/>
            <a:ext cx="2263140" cy="3429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7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WARN</a:t>
            </a:r>
          </a:p>
        </p:txBody>
      </p:sp>
      <p:sp>
        <p:nvSpPr>
          <p:cNvPr id="1031" name="Text 1031"/>
          <p:cNvSpPr txBox="1"/>
          <p:nvPr/>
        </p:nvSpPr>
        <p:spPr>
          <a:xfrm>
            <a:off x="9578340" y="3383280"/>
            <a:ext cx="2240280" cy="14401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 marL="137160" indent="-137160">
              <a:spcAft>
                <a:spcPts val="500"/>
              </a:spcAft>
              <a:buClr>
                <a:srgbClr val="F28C28"/>
              </a:buClr>
              <a:buFont typeface="Arial"/>
              <a:buChar char="•"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Auto-advisories for fishers, public, officials</a:t>
            </a:r>
          </a:p>
          <a:p>
            <a:pPr algn="l" marL="137160" indent="-137160">
              <a:spcAft>
                <a:spcPts val="500"/>
              </a:spcAft>
              <a:buClr>
                <a:srgbClr val="F28C28"/>
              </a:buClr>
              <a:buFont typeface="Arial"/>
              <a:buChar char="•"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English, Hindi and local languages</a:t>
            </a:r>
          </a:p>
        </p:txBody>
      </p:sp>
      <p:sp>
        <p:nvSpPr>
          <p:cNvPr id="1032" name="Pill 1032"/>
          <p:cNvSpPr/>
          <p:nvPr/>
        </p:nvSpPr>
        <p:spPr>
          <a:xfrm>
            <a:off x="9738360" y="4457700"/>
            <a:ext cx="1897380" cy="32004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3" name="Text 1033"/>
          <p:cNvSpPr txBox="1"/>
          <p:nvPr/>
        </p:nvSpPr>
        <p:spPr>
          <a:xfrm>
            <a:off x="9738360" y="4457700"/>
            <a:ext cx="1897380" cy="3200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00" b="1" dirty="0">
                <a:solidFill>
                  <a:srgbClr val="F28C28"/>
                </a:solidFill>
                <a:latin typeface="Arial"/>
                <a:ea typeface="Arial"/>
                <a:cs typeface="Nirmala UI"/>
              </a:rPr>
              <a:t>EN  ·  हिंदी</a:t>
            </a:r>
          </a:p>
        </p:txBody>
      </p:sp>
      <p:sp>
        <p:nvSpPr>
          <p:cNvPr id="1034" name="Card 1034"/>
          <p:cNvSpPr/>
          <p:nvPr/>
        </p:nvSpPr>
        <p:spPr>
          <a:xfrm>
            <a:off x="12458700" y="2240280"/>
            <a:ext cx="521208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8EA"/>
            </a:solidFill>
            <a:round/>
          </a:ln>
          <a:effectLst>
            <a:outerShdw blurRad="279400" dist="50800" dir="5400000" algn="t" rotWithShape="0">
              <a:srgbClr val="0A2540">
                <a:alpha val="14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5" name="Browser bar 1035"/>
          <p:cNvSpPr/>
          <p:nvPr/>
        </p:nvSpPr>
        <p:spPr>
          <a:xfrm>
            <a:off x="12458700" y="2240280"/>
            <a:ext cx="5212080" cy="2971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6" name="Dot 1036"/>
          <p:cNvSpPr/>
          <p:nvPr/>
        </p:nvSpPr>
        <p:spPr>
          <a:xfrm>
            <a:off x="12595860" y="234315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7" name="Dot 1037"/>
          <p:cNvSpPr/>
          <p:nvPr/>
        </p:nvSpPr>
        <p:spPr>
          <a:xfrm>
            <a:off x="12755880" y="234315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8" name="Dot 1038"/>
          <p:cNvSpPr/>
          <p:nvPr/>
        </p:nvSpPr>
        <p:spPr>
          <a:xfrm>
            <a:off x="12915900" y="234315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9" name="Text 1039"/>
          <p:cNvSpPr txBox="1"/>
          <p:nvPr/>
        </p:nvSpPr>
        <p:spPr>
          <a:xfrm>
            <a:off x="13144500" y="2263140"/>
            <a:ext cx="3429000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0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cyclo-nexus  ·  live dashboard</a:t>
            </a:r>
          </a:p>
        </p:txBody>
      </p:sp>
      <p:pic>
        <p:nvPicPr>
          <p:cNvPr id="1040" name="Picture 1040" descr="Cyclo-Nexus home page"/>
          <p:cNvPicPr>
            <a:picLocks noChangeAspect="1"/>
          </p:cNvPicPr>
          <p:nvPr/>
        </p:nvPicPr>
        <p:blipFill>
          <a:blip r:embed="rId101"/>
          <a:srcRect l="0" t="0" r="0" b="8000"/>
          <a:stretch>
            <a:fillRect/>
          </a:stretch>
        </p:blipFill>
        <p:spPr>
          <a:xfrm>
            <a:off x="12504420" y="2560320"/>
            <a:ext cx="5120640" cy="2331720"/>
          </a:xfrm>
          <a:prstGeom prst="rect">
            <a:avLst/>
          </a:prstGeom>
          <a:ln>
            <a:noFill/>
          </a:ln>
        </p:spPr>
      </p:pic>
      <p:sp>
        <p:nvSpPr>
          <p:cNvPr id="1041" name="Pill 1041"/>
          <p:cNvSpPr/>
          <p:nvPr/>
        </p:nvSpPr>
        <p:spPr>
          <a:xfrm>
            <a:off x="14927580" y="4549140"/>
            <a:ext cx="2651760" cy="29718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2" name="Text 1042"/>
          <p:cNvSpPr txBox="1"/>
          <p:nvPr/>
        </p:nvSpPr>
        <p:spPr>
          <a:xfrm>
            <a:off x="14927580" y="4549140"/>
            <a:ext cx="265176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prototype · demo scenario</a:t>
            </a:r>
          </a:p>
        </p:txBody>
      </p:sp>
      <p:sp>
        <p:nvSpPr>
          <p:cNvPr id="1043" name="Badge 1043"/>
          <p:cNvSpPr/>
          <p:nvPr/>
        </p:nvSpPr>
        <p:spPr>
          <a:xfrm>
            <a:off x="617220" y="5189220"/>
            <a:ext cx="342900" cy="3429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4" name="Heading 1044"/>
          <p:cNvSpPr txBox="1"/>
          <p:nvPr/>
        </p:nvSpPr>
        <p:spPr>
          <a:xfrm>
            <a:off x="1074420" y="5166360"/>
            <a:ext cx="8001000" cy="3886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9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How it addresses the problem</a:t>
            </a:r>
          </a:p>
        </p:txBody>
      </p:sp>
      <p:sp>
        <p:nvSpPr>
          <p:cNvPr id="1045" name="Shape 1045"/>
          <p:cNvSpPr/>
          <p:nvPr/>
        </p:nvSpPr>
        <p:spPr>
          <a:xfrm>
            <a:off x="617220" y="5646420"/>
            <a:ext cx="2857500" cy="731520"/>
          </a:xfrm>
          <a:prstGeom prst="roundRect">
            <a:avLst>
              <a:gd name="adj" fmla="val 14000"/>
            </a:avLst>
          </a:prstGeom>
          <a:solidFill>
            <a:srgbClr val="FDEC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6" name="Text 1046"/>
          <p:cNvSpPr txBox="1"/>
          <p:nvPr/>
        </p:nvSpPr>
        <p:spPr>
          <a:xfrm>
            <a:off x="1051560" y="5737860"/>
            <a:ext cx="2354580" cy="5715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35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Fragmented data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7F1D1D"/>
                </a:solidFill>
                <a:latin typeface="Arial"/>
                <a:ea typeface="Arial"/>
                <a:cs typeface="Arial"/>
              </a:rPr>
              <a:t>Many agencies, many formats</a:t>
            </a:r>
          </a:p>
        </p:txBody>
      </p:sp>
      <p:sp>
        <p:nvSpPr>
          <p:cNvPr id="1047" name="Arrow bubble 1047"/>
          <p:cNvSpPr/>
          <p:nvPr/>
        </p:nvSpPr>
        <p:spPr>
          <a:xfrm>
            <a:off x="3611880" y="585216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8" name="Shape 1048"/>
          <p:cNvSpPr/>
          <p:nvPr/>
        </p:nvSpPr>
        <p:spPr>
          <a:xfrm>
            <a:off x="4069080" y="5646420"/>
            <a:ext cx="5029200" cy="731520"/>
          </a:xfrm>
          <a:prstGeom prst="roundRect">
            <a:avLst>
              <a:gd name="adj" fmla="val 14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9" name="Badge 1049"/>
          <p:cNvSpPr/>
          <p:nvPr/>
        </p:nvSpPr>
        <p:spPr>
          <a:xfrm>
            <a:off x="4183380" y="58064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0" name="Text 1050"/>
          <p:cNvSpPr txBox="1"/>
          <p:nvPr/>
        </p:nvSpPr>
        <p:spPr>
          <a:xfrm>
            <a:off x="4709160" y="564642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INSAT-3DS + GPM IMERG + JTWC/IBTrACS fused into one grid</a:t>
            </a:r>
          </a:p>
        </p:txBody>
      </p:sp>
      <p:sp>
        <p:nvSpPr>
          <p:cNvPr id="1051" name="Shape 1051"/>
          <p:cNvSpPr/>
          <p:nvPr/>
        </p:nvSpPr>
        <p:spPr>
          <a:xfrm>
            <a:off x="617220" y="6560820"/>
            <a:ext cx="2857500" cy="731520"/>
          </a:xfrm>
          <a:prstGeom prst="roundRect">
            <a:avLst>
              <a:gd name="adj" fmla="val 14000"/>
            </a:avLst>
          </a:prstGeom>
          <a:solidFill>
            <a:srgbClr val="FDEC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2" name="Text 1052"/>
          <p:cNvSpPr txBox="1"/>
          <p:nvPr/>
        </p:nvSpPr>
        <p:spPr>
          <a:xfrm>
            <a:off x="1051560" y="6652260"/>
            <a:ext cx="2354580" cy="5715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35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Manual tracking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7F1D1D"/>
                </a:solidFill>
                <a:latin typeface="Arial"/>
                <a:ea typeface="Arial"/>
                <a:cs typeface="Arial"/>
              </a:rPr>
              <a:t>Slow and error-prone</a:t>
            </a:r>
          </a:p>
        </p:txBody>
      </p:sp>
      <p:sp>
        <p:nvSpPr>
          <p:cNvPr id="1053" name="Arrow bubble 1053"/>
          <p:cNvSpPr/>
          <p:nvPr/>
        </p:nvSpPr>
        <p:spPr>
          <a:xfrm>
            <a:off x="3611880" y="676656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4" name="Shape 1054"/>
          <p:cNvSpPr/>
          <p:nvPr/>
        </p:nvSpPr>
        <p:spPr>
          <a:xfrm>
            <a:off x="4069080" y="6560820"/>
            <a:ext cx="5029200" cy="731520"/>
          </a:xfrm>
          <a:prstGeom prst="roundRect">
            <a:avLst>
              <a:gd name="adj" fmla="val 14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5" name="Badge 1055"/>
          <p:cNvSpPr/>
          <p:nvPr/>
        </p:nvSpPr>
        <p:spPr>
          <a:xfrm>
            <a:off x="4183380" y="67208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6" name="Text 1056"/>
          <p:cNvSpPr txBox="1"/>
          <p:nvPr/>
        </p:nvSpPr>
        <p:spPr>
          <a:xfrm>
            <a:off x="4709160" y="656082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Automated 30-minute pipeline, every satellite cycle</a:t>
            </a:r>
          </a:p>
        </p:txBody>
      </p:sp>
      <p:sp>
        <p:nvSpPr>
          <p:cNvPr id="1057" name="Shape 1057"/>
          <p:cNvSpPr/>
          <p:nvPr/>
        </p:nvSpPr>
        <p:spPr>
          <a:xfrm>
            <a:off x="617220" y="7475220"/>
            <a:ext cx="2857500" cy="731520"/>
          </a:xfrm>
          <a:prstGeom prst="roundRect">
            <a:avLst>
              <a:gd name="adj" fmla="val 14000"/>
            </a:avLst>
          </a:prstGeom>
          <a:solidFill>
            <a:srgbClr val="FDEC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8" name="Text 1058"/>
          <p:cNvSpPr txBox="1"/>
          <p:nvPr/>
        </p:nvSpPr>
        <p:spPr>
          <a:xfrm>
            <a:off x="1051560" y="7566660"/>
            <a:ext cx="2354580" cy="5715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35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Forecast uncertainty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7F1D1D"/>
                </a:solidFill>
                <a:latin typeface="Arial"/>
                <a:ea typeface="Arial"/>
                <a:cs typeface="Arial"/>
              </a:rPr>
              <a:t>Weak systems get missed</a:t>
            </a:r>
          </a:p>
        </p:txBody>
      </p:sp>
      <p:sp>
        <p:nvSpPr>
          <p:cNvPr id="1059" name="Arrow bubble 1059"/>
          <p:cNvSpPr/>
          <p:nvPr/>
        </p:nvSpPr>
        <p:spPr>
          <a:xfrm>
            <a:off x="3611880" y="768096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0" name="Shape 1060"/>
          <p:cNvSpPr/>
          <p:nvPr/>
        </p:nvSpPr>
        <p:spPr>
          <a:xfrm>
            <a:off x="4069080" y="7475220"/>
            <a:ext cx="5029200" cy="731520"/>
          </a:xfrm>
          <a:prstGeom prst="roundRect">
            <a:avLst>
              <a:gd name="adj" fmla="val 14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1" name="Badge 1061"/>
          <p:cNvSpPr/>
          <p:nvPr/>
        </p:nvSpPr>
        <p:spPr>
          <a:xfrm>
            <a:off x="4183380" y="76352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2" name="Text 1062"/>
          <p:cNvSpPr txBox="1"/>
          <p:nvPr/>
        </p:nvSpPr>
        <p:spPr>
          <a:xfrm>
            <a:off x="4709160" y="747522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Physics check + validated watch threshold flag weak systems</a:t>
            </a:r>
          </a:p>
        </p:txBody>
      </p:sp>
      <p:sp>
        <p:nvSpPr>
          <p:cNvPr id="1063" name="Shape 1063"/>
          <p:cNvSpPr/>
          <p:nvPr/>
        </p:nvSpPr>
        <p:spPr>
          <a:xfrm>
            <a:off x="617220" y="8389620"/>
            <a:ext cx="2857500" cy="731520"/>
          </a:xfrm>
          <a:prstGeom prst="roundRect">
            <a:avLst>
              <a:gd name="adj" fmla="val 14000"/>
            </a:avLst>
          </a:prstGeom>
          <a:solidFill>
            <a:srgbClr val="FDEC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4" name="Text 1064"/>
          <p:cNvSpPr txBox="1"/>
          <p:nvPr/>
        </p:nvSpPr>
        <p:spPr>
          <a:xfrm>
            <a:off x="1051560" y="8481060"/>
            <a:ext cx="2354580" cy="5715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35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Coastal risk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7F1D1D"/>
                </a:solidFill>
                <a:latin typeface="Arial"/>
                <a:ea typeface="Arial"/>
                <a:cs typeface="Arial"/>
              </a:rPr>
              <a:t>High population exposure</a:t>
            </a:r>
          </a:p>
        </p:txBody>
      </p:sp>
      <p:sp>
        <p:nvSpPr>
          <p:cNvPr id="1065" name="Arrow bubble 1065"/>
          <p:cNvSpPr/>
          <p:nvPr/>
        </p:nvSpPr>
        <p:spPr>
          <a:xfrm>
            <a:off x="3611880" y="859536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6" name="Shape 1066"/>
          <p:cNvSpPr/>
          <p:nvPr/>
        </p:nvSpPr>
        <p:spPr>
          <a:xfrm>
            <a:off x="4069080" y="8389620"/>
            <a:ext cx="5029200" cy="731520"/>
          </a:xfrm>
          <a:prstGeom prst="roundRect">
            <a:avLst>
              <a:gd name="adj" fmla="val 14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7" name="Badge 1067"/>
          <p:cNvSpPr/>
          <p:nvPr/>
        </p:nvSpPr>
        <p:spPr>
          <a:xfrm>
            <a:off x="4183380" y="85496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8" name="Text 1068"/>
          <p:cNvSpPr txBox="1"/>
          <p:nvPr/>
        </p:nvSpPr>
        <p:spPr>
          <a:xfrm>
            <a:off x="4709160" y="838962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People-in-path estimate, landfall ETA, EN/HI alerts</a:t>
            </a:r>
          </a:p>
        </p:txBody>
      </p:sp>
      <p:sp>
        <p:nvSpPr>
          <p:cNvPr id="1069" name="Badge 1069"/>
          <p:cNvSpPr/>
          <p:nvPr/>
        </p:nvSpPr>
        <p:spPr>
          <a:xfrm>
            <a:off x="9372600" y="5189220"/>
            <a:ext cx="342900" cy="3429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0" name="Heading 1070"/>
          <p:cNvSpPr txBox="1"/>
          <p:nvPr/>
        </p:nvSpPr>
        <p:spPr>
          <a:xfrm>
            <a:off x="9829800" y="5166360"/>
            <a:ext cx="7886700" cy="3886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9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Innovation and uniqueness of the solution</a:t>
            </a:r>
          </a:p>
        </p:txBody>
      </p:sp>
      <p:sp>
        <p:nvSpPr>
          <p:cNvPr id="1071" name="Card 1071"/>
          <p:cNvSpPr/>
          <p:nvPr/>
        </p:nvSpPr>
        <p:spPr>
          <a:xfrm>
            <a:off x="9372600" y="5646420"/>
            <a:ext cx="4057650" cy="16687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2" name="Badge 1072"/>
          <p:cNvSpPr/>
          <p:nvPr/>
        </p:nvSpPr>
        <p:spPr>
          <a:xfrm>
            <a:off x="9578340" y="5852160"/>
            <a:ext cx="594360" cy="59436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3" name="Text 1073"/>
          <p:cNvSpPr txBox="1"/>
          <p:nvPr/>
        </p:nvSpPr>
        <p:spPr>
          <a:xfrm>
            <a:off x="10309860" y="5897880"/>
            <a:ext cx="299466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Indian + NASA fusion</a:t>
            </a:r>
          </a:p>
        </p:txBody>
      </p:sp>
      <p:sp>
        <p:nvSpPr>
          <p:cNvPr id="1074" name="Text 1074"/>
          <p:cNvSpPr txBox="1"/>
          <p:nvPr/>
        </p:nvSpPr>
        <p:spPr>
          <a:xfrm>
            <a:off x="9624060" y="6537960"/>
            <a:ext cx="36347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INSAT-3DS and GPM IMERG in one 4-channel AI tensor</a:t>
            </a:r>
          </a:p>
        </p:txBody>
      </p:sp>
      <p:sp>
        <p:nvSpPr>
          <p:cNvPr id="1075" name="Pill 1075"/>
          <p:cNvSpPr/>
          <p:nvPr/>
        </p:nvSpPr>
        <p:spPr>
          <a:xfrm>
            <a:off x="9624060" y="69265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6" name="Text 1076"/>
          <p:cNvSpPr txBox="1"/>
          <p:nvPr/>
        </p:nvSpPr>
        <p:spPr>
          <a:xfrm>
            <a:off x="9624060" y="69265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5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4 sources</a:t>
            </a:r>
          </a:p>
        </p:txBody>
      </p:sp>
      <p:sp>
        <p:nvSpPr>
          <p:cNvPr id="1077" name="Card 1077"/>
          <p:cNvSpPr/>
          <p:nvPr/>
        </p:nvSpPr>
        <p:spPr>
          <a:xfrm>
            <a:off x="13601700" y="5646420"/>
            <a:ext cx="4057650" cy="16687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8" name="Badge 1078"/>
          <p:cNvSpPr/>
          <p:nvPr/>
        </p:nvSpPr>
        <p:spPr>
          <a:xfrm>
            <a:off x="13807440" y="5852160"/>
            <a:ext cx="594360" cy="594360"/>
          </a:xfrm>
          <a:prstGeom prst="ellipse">
            <a:avLst/>
          </a:prstGeom>
          <a:solidFill>
            <a:srgbClr val="15803D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9" name="Text 1079"/>
          <p:cNvSpPr txBox="1"/>
          <p:nvPr/>
        </p:nvSpPr>
        <p:spPr>
          <a:xfrm>
            <a:off x="14538960" y="5897880"/>
            <a:ext cx="299466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Hard-fail quality gates</a:t>
            </a:r>
          </a:p>
        </p:txBody>
      </p:sp>
      <p:sp>
        <p:nvSpPr>
          <p:cNvPr id="1080" name="Text 1080"/>
          <p:cNvSpPr txBox="1"/>
          <p:nvPr/>
        </p:nvSpPr>
        <p:spPr>
          <a:xfrm>
            <a:off x="13853160" y="6537960"/>
            <a:ext cx="36347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Corrupt or blank tensors are blocked before inference</a:t>
            </a:r>
          </a:p>
        </p:txBody>
      </p:sp>
      <p:sp>
        <p:nvSpPr>
          <p:cNvPr id="1081" name="Pill 1081"/>
          <p:cNvSpPr/>
          <p:nvPr/>
        </p:nvSpPr>
        <p:spPr>
          <a:xfrm>
            <a:off x="13853160" y="69265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2" name="Text 1082"/>
          <p:cNvSpPr txBox="1"/>
          <p:nvPr/>
        </p:nvSpPr>
        <p:spPr>
          <a:xfrm>
            <a:off x="13853160" y="69265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5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 bad inputs</a:t>
            </a:r>
          </a:p>
        </p:txBody>
      </p:sp>
      <p:sp>
        <p:nvSpPr>
          <p:cNvPr id="1083" name="Card 1083"/>
          <p:cNvSpPr/>
          <p:nvPr/>
        </p:nvSpPr>
        <p:spPr>
          <a:xfrm>
            <a:off x="9372600" y="7475220"/>
            <a:ext cx="4057650" cy="16687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4" name="Badge 1084"/>
          <p:cNvSpPr/>
          <p:nvPr/>
        </p:nvSpPr>
        <p:spPr>
          <a:xfrm>
            <a:off x="9578340" y="7680960"/>
            <a:ext cx="594360" cy="59436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5" name="Text 1085"/>
          <p:cNvSpPr txBox="1"/>
          <p:nvPr/>
        </p:nvSpPr>
        <p:spPr>
          <a:xfrm>
            <a:off x="10309860" y="7726680"/>
            <a:ext cx="299466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Early weak-system flags</a:t>
            </a:r>
          </a:p>
        </p:txBody>
      </p:sp>
      <p:sp>
        <p:nvSpPr>
          <p:cNvPr id="1086" name="Text 1086"/>
          <p:cNvSpPr txBox="1"/>
          <p:nvPr/>
        </p:nvSpPr>
        <p:spPr>
          <a:xfrm>
            <a:off x="9624060" y="8366760"/>
            <a:ext cx="36347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Satellite watch areas before a system is named</a:t>
            </a:r>
          </a:p>
        </p:txBody>
      </p:sp>
      <p:sp>
        <p:nvSpPr>
          <p:cNvPr id="1087" name="Pill 1087"/>
          <p:cNvSpPr/>
          <p:nvPr/>
        </p:nvSpPr>
        <p:spPr>
          <a:xfrm>
            <a:off x="9624060" y="87553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8" name="Text 1088"/>
          <p:cNvSpPr txBox="1"/>
          <p:nvPr/>
        </p:nvSpPr>
        <p:spPr>
          <a:xfrm>
            <a:off x="9624060" y="87553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50" b="1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Watch layer</a:t>
            </a:r>
          </a:p>
        </p:txBody>
      </p:sp>
      <p:sp>
        <p:nvSpPr>
          <p:cNvPr id="1089" name="Card 1089"/>
          <p:cNvSpPr/>
          <p:nvPr/>
        </p:nvSpPr>
        <p:spPr>
          <a:xfrm>
            <a:off x="13601700" y="7475220"/>
            <a:ext cx="4057650" cy="16687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90" name="Badge 1090"/>
          <p:cNvSpPr/>
          <p:nvPr/>
        </p:nvSpPr>
        <p:spPr>
          <a:xfrm>
            <a:off x="13807440" y="7680960"/>
            <a:ext cx="594360" cy="594360"/>
          </a:xfrm>
          <a:prstGeom prst="ellipse">
            <a:avLst/>
          </a:prstGeom>
          <a:solidFill>
            <a:srgbClr val="F28C28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91" name="Text 1091"/>
          <p:cNvSpPr txBox="1"/>
          <p:nvPr/>
        </p:nvSpPr>
        <p:spPr>
          <a:xfrm>
            <a:off x="14538960" y="7726680"/>
            <a:ext cx="299466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Clearly labelled, open</a:t>
            </a:r>
          </a:p>
        </p:txBody>
      </p:sp>
      <p:sp>
        <p:nvSpPr>
          <p:cNvPr id="1092" name="Text 1092"/>
          <p:cNvSpPr txBox="1"/>
          <p:nvPr/>
        </p:nvSpPr>
        <p:spPr>
          <a:xfrm>
            <a:off x="13853160" y="8366760"/>
            <a:ext cx="36347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Official vs AI tags; low-cost open-source stack</a:t>
            </a:r>
          </a:p>
        </p:txBody>
      </p:sp>
      <p:sp>
        <p:nvSpPr>
          <p:cNvPr id="1093" name="Pill 1093"/>
          <p:cNvSpPr/>
          <p:nvPr/>
        </p:nvSpPr>
        <p:spPr>
          <a:xfrm>
            <a:off x="13853160" y="87553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94" name="Text 1094"/>
          <p:cNvSpPr txBox="1"/>
          <p:nvPr/>
        </p:nvSpPr>
        <p:spPr>
          <a:xfrm>
            <a:off x="13853160" y="87553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5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Official first</a:t>
            </a:r>
          </a:p>
        </p:txBody>
      </p:sp>
      <p:sp>
        <p:nvSpPr>
          <p:cNvPr id="1095" name="Footer tagline 1095"/>
          <p:cNvSpPr txBox="1"/>
          <p:nvPr/>
        </p:nvSpPr>
        <p:spPr>
          <a:xfrm>
            <a:off x="1165860" y="9555480"/>
            <a:ext cx="11430000" cy="6629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CYCLO-NEXUS</a:t>
            </a:r>
            <a:r>
              <a:rPr lang="en-IN" sz="1300" dirty="0">
                <a:solidFill>
                  <a:srgbClr val="A9CDEE"/>
                </a:solidFill>
                <a:latin typeface="Arial"/>
                <a:ea typeface="Arial"/>
                <a:cs typeface="Arial"/>
              </a:rPr>
              <a:t xml:space="preserve">   |   </a:t>
            </a:r>
            <a:r>
              <a:rPr lang="en-IN" sz="13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 early. Warn clearly. Protect every coast.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50" dirty="0">
                <a:solidFill>
                  <a:srgbClr val="CFE3F7"/>
                </a:solidFill>
                <a:latin typeface="Arial"/>
                <a:ea typeface="Arial"/>
                <a:cs typeface="Arial"/>
              </a:rPr>
              <a:t>Team Tikka Techies  ·  SIH26070  ·  Ministry of Earth Sciences  ·  Disaster Management</a:t>
            </a:r>
          </a:p>
        </p:txBody>
      </p:sp>
      <p:pic>
        <p:nvPicPr>
          <p:cNvPr id="1096" name="Picture 1096" descr="icon"/>
          <p:cNvPicPr>
            <a:picLocks noChangeAspect="1"/>
          </p:cNvPicPr>
          <p:nvPr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699516" y="1819655"/>
            <a:ext cx="178308" cy="178308"/>
          </a:xfrm>
          <a:prstGeom prst="rect">
            <a:avLst/>
          </a:prstGeom>
          <a:ln>
            <a:noFill/>
          </a:ln>
        </p:spPr>
      </p:pic>
      <p:pic>
        <p:nvPicPr>
          <p:cNvPr id="1097" name="Picture 1097" descr="icon"/>
          <p:cNvPicPr>
            <a:picLocks noChangeAspect="1"/>
          </p:cNvPicPr>
          <p:nvPr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736445" y="2410815"/>
            <a:ext cx="344728" cy="344728"/>
          </a:xfrm>
          <a:prstGeom prst="rect">
            <a:avLst/>
          </a:prstGeom>
          <a:ln>
            <a:noFill/>
          </a:ln>
        </p:spPr>
      </p:pic>
      <p:pic>
        <p:nvPicPr>
          <p:cNvPr id="1098" name="Picture 1098" descr="icon"/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4662525" y="2410815"/>
            <a:ext cx="344728" cy="344728"/>
          </a:xfrm>
          <a:prstGeom prst="rect">
            <a:avLst/>
          </a:prstGeom>
          <a:ln>
            <a:noFill/>
          </a:ln>
        </p:spPr>
      </p:pic>
      <p:pic>
        <p:nvPicPr>
          <p:cNvPr id="1099" name="Picture 1099" descr="icon"/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7588605" y="2410815"/>
            <a:ext cx="344728" cy="344728"/>
          </a:xfrm>
          <a:prstGeom prst="rect">
            <a:avLst/>
          </a:prstGeom>
          <a:ln>
            <a:noFill/>
          </a:ln>
        </p:spPr>
      </p:pic>
      <p:pic>
        <p:nvPicPr>
          <p:cNvPr id="1100" name="Picture 1100" descr="icon"/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10514685" y="2410815"/>
            <a:ext cx="344728" cy="344728"/>
          </a:xfrm>
          <a:prstGeom prst="rect">
            <a:avLst/>
          </a:prstGeom>
          <a:ln>
            <a:noFill/>
          </a:ln>
        </p:spPr>
      </p:pic>
      <p:pic>
        <p:nvPicPr>
          <p:cNvPr id="1101" name="Picture 1101" descr="icon"/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699516" y="5271516"/>
            <a:ext cx="178308" cy="178308"/>
          </a:xfrm>
          <a:prstGeom prst="rect">
            <a:avLst/>
          </a:prstGeom>
          <a:ln>
            <a:noFill/>
          </a:ln>
        </p:spPr>
      </p:pic>
      <p:pic>
        <p:nvPicPr>
          <p:cNvPr id="1102" name="Picture 1102" descr="icon"/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777240" y="5783580"/>
            <a:ext cx="205740" cy="205740"/>
          </a:xfrm>
          <a:prstGeom prst="rect">
            <a:avLst/>
          </a:prstGeom>
          <a:ln>
            <a:noFill/>
          </a:ln>
        </p:spPr>
      </p:pic>
      <p:pic>
        <p:nvPicPr>
          <p:cNvPr id="1103" name="Picture 1103" descr="icon"/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3680460" y="5920740"/>
            <a:ext cx="182880" cy="182880"/>
          </a:xfrm>
          <a:prstGeom prst="rect">
            <a:avLst/>
          </a:prstGeom>
          <a:ln>
            <a:noFill/>
          </a:ln>
        </p:spPr>
      </p:pic>
      <p:pic>
        <p:nvPicPr>
          <p:cNvPr id="1104" name="Picture 1104" descr="icon"/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4282135" y="5905195"/>
            <a:ext cx="213969" cy="213969"/>
          </a:xfrm>
          <a:prstGeom prst="rect">
            <a:avLst/>
          </a:prstGeom>
          <a:ln>
            <a:noFill/>
          </a:ln>
        </p:spPr>
      </p:pic>
      <p:pic>
        <p:nvPicPr>
          <p:cNvPr id="1105" name="Picture 1105" descr="icon"/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777240" y="6697980"/>
            <a:ext cx="205740" cy="205740"/>
          </a:xfrm>
          <a:prstGeom prst="rect">
            <a:avLst/>
          </a:prstGeom>
          <a:ln>
            <a:noFill/>
          </a:ln>
        </p:spPr>
      </p:pic>
      <p:pic>
        <p:nvPicPr>
          <p:cNvPr id="1106" name="Picture 1106" descr="icon"/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3680460" y="6835140"/>
            <a:ext cx="182880" cy="182880"/>
          </a:xfrm>
          <a:prstGeom prst="rect">
            <a:avLst/>
          </a:prstGeom>
          <a:ln>
            <a:noFill/>
          </a:ln>
        </p:spPr>
      </p:pic>
      <p:pic>
        <p:nvPicPr>
          <p:cNvPr id="1107" name="Picture 1107" descr="icon"/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4282135" y="6819595"/>
            <a:ext cx="213969" cy="213969"/>
          </a:xfrm>
          <a:prstGeom prst="rect">
            <a:avLst/>
          </a:prstGeom>
          <a:ln>
            <a:noFill/>
          </a:ln>
        </p:spPr>
      </p:pic>
      <p:pic>
        <p:nvPicPr>
          <p:cNvPr id="1108" name="Picture 1108" descr="icon"/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777240" y="7612380"/>
            <a:ext cx="205740" cy="205740"/>
          </a:xfrm>
          <a:prstGeom prst="rect">
            <a:avLst/>
          </a:prstGeom>
          <a:ln>
            <a:noFill/>
          </a:ln>
        </p:spPr>
      </p:pic>
      <p:pic>
        <p:nvPicPr>
          <p:cNvPr id="1109" name="Picture 1109" descr="icon"/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3680460" y="7749540"/>
            <a:ext cx="182880" cy="182880"/>
          </a:xfrm>
          <a:prstGeom prst="rect">
            <a:avLst/>
          </a:prstGeom>
          <a:ln>
            <a:noFill/>
          </a:ln>
        </p:spPr>
      </p:pic>
      <p:pic>
        <p:nvPicPr>
          <p:cNvPr id="1110" name="Picture 1110" descr="icon"/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4282135" y="7733995"/>
            <a:ext cx="213969" cy="213969"/>
          </a:xfrm>
          <a:prstGeom prst="rect">
            <a:avLst/>
          </a:prstGeom>
          <a:ln>
            <a:noFill/>
          </a:ln>
        </p:spPr>
      </p:pic>
      <p:pic>
        <p:nvPicPr>
          <p:cNvPr id="1111" name="Picture 1111" descr="icon"/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777240" y="8526780"/>
            <a:ext cx="205740" cy="205740"/>
          </a:xfrm>
          <a:prstGeom prst="rect">
            <a:avLst/>
          </a:prstGeom>
          <a:ln>
            <a:noFill/>
          </a:ln>
        </p:spPr>
      </p:pic>
      <p:pic>
        <p:nvPicPr>
          <p:cNvPr id="1112" name="Picture 1112" descr="icon"/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3680460" y="8663940"/>
            <a:ext cx="182880" cy="182880"/>
          </a:xfrm>
          <a:prstGeom prst="rect">
            <a:avLst/>
          </a:prstGeom>
          <a:ln>
            <a:noFill/>
          </a:ln>
        </p:spPr>
      </p:pic>
      <p:pic>
        <p:nvPicPr>
          <p:cNvPr id="1113" name="Picture 1113" descr="icon"/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4282135" y="8648395"/>
            <a:ext cx="213969" cy="213969"/>
          </a:xfrm>
          <a:prstGeom prst="rect">
            <a:avLst/>
          </a:prstGeom>
          <a:ln>
            <a:noFill/>
          </a:ln>
        </p:spPr>
      </p:pic>
      <p:pic>
        <p:nvPicPr>
          <p:cNvPr id="1114" name="Picture 1114" descr="icon"/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9454896" y="5271516"/>
            <a:ext cx="178308" cy="178308"/>
          </a:xfrm>
          <a:prstGeom prst="rect">
            <a:avLst/>
          </a:prstGeom>
          <a:ln>
            <a:noFill/>
          </a:ln>
        </p:spPr>
      </p:pic>
      <p:pic>
        <p:nvPicPr>
          <p:cNvPr id="1115" name="Picture 1115" descr="icon"/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9720986" y="5994806"/>
            <a:ext cx="309067" cy="309067"/>
          </a:xfrm>
          <a:prstGeom prst="rect">
            <a:avLst/>
          </a:prstGeom>
          <a:ln>
            <a:noFill/>
          </a:ln>
        </p:spPr>
      </p:pic>
      <p:pic>
        <p:nvPicPr>
          <p:cNvPr id="1116" name="Picture 1116" descr="icon"/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13950086" y="5994806"/>
            <a:ext cx="309067" cy="309067"/>
          </a:xfrm>
          <a:prstGeom prst="rect">
            <a:avLst/>
          </a:prstGeom>
          <a:ln>
            <a:noFill/>
          </a:ln>
        </p:spPr>
      </p:pic>
      <p:pic>
        <p:nvPicPr>
          <p:cNvPr id="1117" name="Picture 1117" descr="icon"/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9720986" y="7823606"/>
            <a:ext cx="309067" cy="309067"/>
          </a:xfrm>
          <a:prstGeom prst="rect">
            <a:avLst/>
          </a:prstGeom>
          <a:ln>
            <a:noFill/>
          </a:ln>
        </p:spPr>
      </p:pic>
      <p:pic>
        <p:nvPicPr>
          <p:cNvPr id="1118" name="Picture 1118" descr="icon"/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13950086" y="7823606"/>
            <a:ext cx="309067" cy="309067"/>
          </a:xfrm>
          <a:prstGeom prst="rect">
            <a:avLst/>
          </a:prstGeom>
          <a:ln>
            <a:noFill/>
          </a:ln>
        </p:spPr>
      </p:pic>
      <p:pic>
        <p:nvPicPr>
          <p:cNvPr id="1119" name="Picture 1119" descr="icon"/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617220" y="9669780"/>
            <a:ext cx="434340" cy="4343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219" y="-71276"/>
            <a:ext cx="16458124" cy="1713424"/>
            <a:chOff x="0" y="0"/>
            <a:chExt cx="21944165" cy="2284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160" cy="2284560"/>
            </a:xfrm>
            <a:custGeom>
              <a:avLst/>
              <a:gdLst/>
              <a:ahLst/>
              <a:cxnLst/>
              <a:rect r="r" b="b" t="t" l="l"/>
              <a:pathLst>
                <a:path h="2284560" w="21944160">
                  <a:moveTo>
                    <a:pt x="0" y="0"/>
                  </a:moveTo>
                  <a:lnTo>
                    <a:pt x="21944160" y="0"/>
                  </a:lnTo>
                  <a:lnTo>
                    <a:pt x="21944160" y="2284560"/>
                  </a:lnTo>
                  <a:lnTo>
                    <a:pt x="0" y="228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61" r="0" b="-1371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4165" cy="2313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sp>
        <p:nvSpPr>
          <p:cNvPr id="1001" name="Badge 1001"/>
          <p:cNvSpPr/>
          <p:nvPr/>
        </p:nvSpPr>
        <p:spPr>
          <a:xfrm>
            <a:off x="617220" y="1737360"/>
            <a:ext cx="342900" cy="3429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2" name="Heading 1002"/>
          <p:cNvSpPr txBox="1"/>
          <p:nvPr/>
        </p:nvSpPr>
        <p:spPr>
          <a:xfrm>
            <a:off x="1074420" y="1714500"/>
            <a:ext cx="11430000" cy="3886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9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Technologies to be used: architecture, one signed and monitored path</a:t>
            </a:r>
          </a:p>
        </p:txBody>
      </p:sp>
      <p:sp>
        <p:nvSpPr>
          <p:cNvPr id="1003" name="Card 1003"/>
          <p:cNvSpPr/>
          <p:nvPr/>
        </p:nvSpPr>
        <p:spPr>
          <a:xfrm>
            <a:off x="617220" y="2194560"/>
            <a:ext cx="2811780" cy="7086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4" name="Badge 1004"/>
          <p:cNvSpPr/>
          <p:nvPr/>
        </p:nvSpPr>
        <p:spPr>
          <a:xfrm>
            <a:off x="754380" y="232029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5" name="Text 1005"/>
          <p:cNvSpPr txBox="1"/>
          <p:nvPr/>
        </p:nvSpPr>
        <p:spPr>
          <a:xfrm>
            <a:off x="1303020" y="2240280"/>
            <a:ext cx="2080260" cy="6172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INSAT-3DS (ISRO)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IR + WV · every 30 min</a:t>
            </a:r>
          </a:p>
        </p:txBody>
      </p:sp>
      <p:cxnSp>
        <p:nvCxnSpPr>
          <p:cNvPr id="1006" name="Connector 1006"/>
          <p:cNvCxnSpPr/>
          <p:nvPr/>
        </p:nvCxnSpPr>
        <p:spPr>
          <a:xfrm>
            <a:off x="2023110" y="2903220"/>
            <a:ext cx="1" cy="320040"/>
          </a:xfrm>
          <a:prstGeom prst="line">
            <a:avLst/>
          </a:prstGeom>
          <a:ln w="22225">
            <a:solidFill>
              <a:srgbClr val="0070C0"/>
            </a:solidFill>
            <a:round/>
            <a:tailEnd type="triangle" w="med" len="med"/>
          </a:ln>
        </p:spPr>
      </p:cxnSp>
      <p:sp>
        <p:nvSpPr>
          <p:cNvPr id="1007" name="Card 1007"/>
          <p:cNvSpPr/>
          <p:nvPr/>
        </p:nvSpPr>
        <p:spPr>
          <a:xfrm>
            <a:off x="3611880" y="2194560"/>
            <a:ext cx="2811780" cy="7086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8" name="Badge 1008"/>
          <p:cNvSpPr/>
          <p:nvPr/>
        </p:nvSpPr>
        <p:spPr>
          <a:xfrm>
            <a:off x="3749040" y="2320290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9" name="Text 1009"/>
          <p:cNvSpPr txBox="1"/>
          <p:nvPr/>
        </p:nvSpPr>
        <p:spPr>
          <a:xfrm>
            <a:off x="4297680" y="2240280"/>
            <a:ext cx="2080260" cy="6172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GPM IMERG (NASA)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Rain rate · 30 min</a:t>
            </a:r>
          </a:p>
        </p:txBody>
      </p:sp>
      <p:cxnSp>
        <p:nvCxnSpPr>
          <p:cNvPr id="1010" name="Connector 1010"/>
          <p:cNvCxnSpPr/>
          <p:nvPr/>
        </p:nvCxnSpPr>
        <p:spPr>
          <a:xfrm>
            <a:off x="5017770" y="2903220"/>
            <a:ext cx="1" cy="320040"/>
          </a:xfrm>
          <a:prstGeom prst="line">
            <a:avLst/>
          </a:prstGeom>
          <a:ln w="22225">
            <a:solidFill>
              <a:srgbClr val="0E7490"/>
            </a:solidFill>
            <a:round/>
            <a:tailEnd type="triangle" w="med" len="med"/>
          </a:ln>
        </p:spPr>
      </p:cxnSp>
      <p:sp>
        <p:nvSpPr>
          <p:cNvPr id="1011" name="Card 1011"/>
          <p:cNvSpPr/>
          <p:nvPr/>
        </p:nvSpPr>
        <p:spPr>
          <a:xfrm>
            <a:off x="6606540" y="2194560"/>
            <a:ext cx="2811780" cy="7086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2" name="Badge 1012"/>
          <p:cNvSpPr/>
          <p:nvPr/>
        </p:nvSpPr>
        <p:spPr>
          <a:xfrm>
            <a:off x="6743700" y="232029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3" name="Text 1013"/>
          <p:cNvSpPr txBox="1"/>
          <p:nvPr/>
        </p:nvSpPr>
        <p:spPr>
          <a:xfrm>
            <a:off x="7292340" y="2240280"/>
            <a:ext cx="2080260" cy="6172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JTWC + IBTrACS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Official warnings + tracks</a:t>
            </a:r>
          </a:p>
        </p:txBody>
      </p:sp>
      <p:cxnSp>
        <p:nvCxnSpPr>
          <p:cNvPr id="1014" name="Connector 1014"/>
          <p:cNvCxnSpPr/>
          <p:nvPr/>
        </p:nvCxnSpPr>
        <p:spPr>
          <a:xfrm>
            <a:off x="8012430" y="2903220"/>
            <a:ext cx="1" cy="320040"/>
          </a:xfrm>
          <a:prstGeom prst="line">
            <a:avLst/>
          </a:prstGeom>
          <a:ln w="22225">
            <a:solidFill>
              <a:srgbClr val="6D28D9"/>
            </a:solidFill>
            <a:round/>
            <a:tailEnd type="triangle" w="med" len="med"/>
          </a:ln>
        </p:spPr>
      </p:cxnSp>
      <p:sp>
        <p:nvSpPr>
          <p:cNvPr id="1015" name="Card 1015"/>
          <p:cNvSpPr/>
          <p:nvPr/>
        </p:nvSpPr>
        <p:spPr>
          <a:xfrm>
            <a:off x="9601200" y="2194560"/>
            <a:ext cx="2811780" cy="7086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6" name="Badge 1016"/>
          <p:cNvSpPr/>
          <p:nvPr/>
        </p:nvSpPr>
        <p:spPr>
          <a:xfrm>
            <a:off x="9738360" y="232029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7" name="Text 1017"/>
          <p:cNvSpPr txBox="1"/>
          <p:nvPr/>
        </p:nvSpPr>
        <p:spPr>
          <a:xfrm>
            <a:off x="10287000" y="2240280"/>
            <a:ext cx="2080260" cy="6172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Open-Meteo + GIBS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Wind, SST, map tiles</a:t>
            </a:r>
          </a:p>
        </p:txBody>
      </p:sp>
      <p:cxnSp>
        <p:nvCxnSpPr>
          <p:cNvPr id="1018" name="Connector 1018"/>
          <p:cNvCxnSpPr/>
          <p:nvPr/>
        </p:nvCxnSpPr>
        <p:spPr>
          <a:xfrm>
            <a:off x="11007090" y="2903220"/>
            <a:ext cx="1" cy="320040"/>
          </a:xfrm>
          <a:prstGeom prst="line">
            <a:avLst/>
          </a:prstGeom>
          <a:ln w="22225">
            <a:solidFill>
              <a:srgbClr val="F28C28"/>
            </a:solidFill>
            <a:round/>
            <a:tailEnd type="triangle" w="med" len="med"/>
          </a:ln>
        </p:spPr>
      </p:cxnSp>
      <p:sp>
        <p:nvSpPr>
          <p:cNvPr id="1019" name="Group 1019"/>
          <p:cNvSpPr/>
          <p:nvPr/>
        </p:nvSpPr>
        <p:spPr>
          <a:xfrm>
            <a:off x="617220" y="3246120"/>
            <a:ext cx="5806440" cy="2240280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15875">
            <a:solidFill>
              <a:srgbClr val="0070C0"/>
            </a:solidFill>
            <a:prstDash val="dash"/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0" name="Text 1020"/>
          <p:cNvSpPr txBox="1"/>
          <p:nvPr/>
        </p:nvSpPr>
        <p:spPr>
          <a:xfrm>
            <a:off x="777240" y="3314700"/>
            <a:ext cx="5486400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15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ORACLE ALWAYS-FREE VM  ·  MUMBAI</a:t>
            </a:r>
          </a:p>
        </p:txBody>
      </p:sp>
      <p:sp>
        <p:nvSpPr>
          <p:cNvPr id="1021" name="Card 1021"/>
          <p:cNvSpPr/>
          <p:nvPr/>
        </p:nvSpPr>
        <p:spPr>
          <a:xfrm>
            <a:off x="777240" y="3634740"/>
            <a:ext cx="266319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2" name="Badge 1022"/>
          <p:cNvSpPr/>
          <p:nvPr/>
        </p:nvSpPr>
        <p:spPr>
          <a:xfrm>
            <a:off x="1857375" y="374904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3" name="Text 1023"/>
          <p:cNvSpPr txBox="1"/>
          <p:nvPr/>
        </p:nvSpPr>
        <p:spPr>
          <a:xfrm>
            <a:off x="868680" y="4320540"/>
            <a:ext cx="2480310" cy="9601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en-IN" sz="14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AI inference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FastAPI · PyTorch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YOLO-OBB · ConvLSTM + GRU</a:t>
            </a:r>
          </a:p>
        </p:txBody>
      </p:sp>
      <p:sp>
        <p:nvSpPr>
          <p:cNvPr id="1024" name="Card 1024"/>
          <p:cNvSpPr/>
          <p:nvPr/>
        </p:nvSpPr>
        <p:spPr>
          <a:xfrm>
            <a:off x="3600450" y="3634740"/>
            <a:ext cx="266319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5" name="Badge 1025"/>
          <p:cNvSpPr/>
          <p:nvPr/>
        </p:nvSpPr>
        <p:spPr>
          <a:xfrm>
            <a:off x="4680585" y="374904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6" name="Text 1026"/>
          <p:cNvSpPr txBox="1"/>
          <p:nvPr/>
        </p:nvSpPr>
        <p:spPr>
          <a:xfrm>
            <a:off x="3691890" y="4320540"/>
            <a:ext cx="2480310" cy="9601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en-IN" sz="14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Pipeline runner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Calibrate + fuse · 6-frame tensor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Physics detector</a:t>
            </a:r>
          </a:p>
        </p:txBody>
      </p:sp>
      <p:sp>
        <p:nvSpPr>
          <p:cNvPr id="1027" name="Group 1027"/>
          <p:cNvSpPr/>
          <p:nvPr/>
        </p:nvSpPr>
        <p:spPr>
          <a:xfrm>
            <a:off x="6743700" y="3246120"/>
            <a:ext cx="5806440" cy="2240280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15875">
            <a:solidFill>
              <a:srgbClr val="0E7490"/>
            </a:solidFill>
            <a:prstDash val="dash"/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8" name="Text 1028"/>
          <p:cNvSpPr txBox="1"/>
          <p:nvPr/>
        </p:nvSpPr>
        <p:spPr>
          <a:xfrm>
            <a:off x="6903720" y="3314700"/>
            <a:ext cx="5486400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150" b="1" dirty="0">
                <a:solidFill>
                  <a:srgbClr val="0E7490"/>
                </a:solidFill>
                <a:latin typeface="Arial"/>
                <a:ea typeface="Arial"/>
                <a:cs typeface="Arial"/>
              </a:rPr>
              <a:t>HOSTINGER BACKEND</a:t>
            </a:r>
          </a:p>
        </p:txBody>
      </p:sp>
      <p:sp>
        <p:nvSpPr>
          <p:cNvPr id="1029" name="Card 1029"/>
          <p:cNvSpPr/>
          <p:nvPr/>
        </p:nvSpPr>
        <p:spPr>
          <a:xfrm>
            <a:off x="6903720" y="3634740"/>
            <a:ext cx="266319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0" name="Badge 1030"/>
          <p:cNvSpPr/>
          <p:nvPr/>
        </p:nvSpPr>
        <p:spPr>
          <a:xfrm>
            <a:off x="7983855" y="3749040"/>
            <a:ext cx="502920" cy="502920"/>
          </a:xfrm>
          <a:prstGeom prst="ellipse">
            <a:avLst/>
          </a:prstGeom>
          <a:solidFill>
            <a:srgbClr val="0E749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1" name="Text 1031"/>
          <p:cNvSpPr txBox="1"/>
          <p:nvPr/>
        </p:nvSpPr>
        <p:spPr>
          <a:xfrm>
            <a:off x="6995160" y="4320540"/>
            <a:ext cx="2480310" cy="9601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en-IN" sz="14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Express API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Zod + HMAC checks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Advisories · REST</a:t>
            </a:r>
          </a:p>
        </p:txBody>
      </p:sp>
      <p:sp>
        <p:nvSpPr>
          <p:cNvPr id="1032" name="Card 1032"/>
          <p:cNvSpPr/>
          <p:nvPr/>
        </p:nvSpPr>
        <p:spPr>
          <a:xfrm>
            <a:off x="9726930" y="3634740"/>
            <a:ext cx="266319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3" name="Badge 1033"/>
          <p:cNvSpPr/>
          <p:nvPr/>
        </p:nvSpPr>
        <p:spPr>
          <a:xfrm>
            <a:off x="10807065" y="3749040"/>
            <a:ext cx="502920" cy="502920"/>
          </a:xfrm>
          <a:prstGeom prst="ellipse">
            <a:avLst/>
          </a:prstGeom>
          <a:solidFill>
            <a:srgbClr val="0E749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4" name="Text 1034"/>
          <p:cNvSpPr txBox="1"/>
          <p:nvPr/>
        </p:nvSpPr>
        <p:spPr>
          <a:xfrm>
            <a:off x="9818370" y="4320540"/>
            <a:ext cx="2480310" cy="9601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en-IN" sz="14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MySQL + workers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Official feed · wind grid</a:t>
            </a:r>
          </a:p>
          <a:p>
            <a:pPr algn="ctr">
              <a:spcBef>
                <a:spcPts val="100"/>
              </a:spcBef>
              <a:buNone/>
            </a:pPr>
            <a:r>
              <a:rPr lang="en-IN" sz="11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Health checks</a:t>
            </a:r>
          </a:p>
        </p:txBody>
      </p:sp>
      <p:cxnSp>
        <p:nvCxnSpPr>
          <p:cNvPr id="1035" name="Connector 1035"/>
          <p:cNvCxnSpPr/>
          <p:nvPr/>
        </p:nvCxnSpPr>
        <p:spPr>
          <a:xfrm>
            <a:off x="6423660" y="4366260"/>
            <a:ext cx="320040" cy="1"/>
          </a:xfrm>
          <a:prstGeom prst="line">
            <a:avLst/>
          </a:prstGeom>
          <a:ln w="25400">
            <a:solidFill>
              <a:srgbClr val="F28C28"/>
            </a:solidFill>
            <a:round/>
            <a:tailEnd type="triangle" w="med" len="med"/>
          </a:ln>
        </p:spPr>
      </p:cxnSp>
      <p:sp>
        <p:nvSpPr>
          <p:cNvPr id="1036" name="HMAC 1036"/>
          <p:cNvSpPr/>
          <p:nvPr/>
        </p:nvSpPr>
        <p:spPr>
          <a:xfrm>
            <a:off x="6355080" y="4160520"/>
            <a:ext cx="457200" cy="45720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7" name="Pill 1037"/>
          <p:cNvSpPr/>
          <p:nvPr/>
        </p:nvSpPr>
        <p:spPr>
          <a:xfrm>
            <a:off x="5257800" y="5532120"/>
            <a:ext cx="2651760" cy="228600"/>
          </a:xfrm>
          <a:prstGeom prst="roundRect">
            <a:avLst>
              <a:gd name="adj" fmla="val 50000"/>
            </a:avLst>
          </a:prstGeom>
          <a:solidFill>
            <a:srgbClr val="FEF1E4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8" name="Text 1038"/>
          <p:cNvSpPr txBox="1"/>
          <p:nvPr/>
        </p:nvSpPr>
        <p:spPr>
          <a:xfrm>
            <a:off x="5257800" y="553212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95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HMAC-SHA256 signed + gzip hop</a:t>
            </a:r>
          </a:p>
        </p:txBody>
      </p:sp>
      <p:cxnSp>
        <p:nvCxnSpPr>
          <p:cNvPr id="1039" name="Connector 1039"/>
          <p:cNvCxnSpPr/>
          <p:nvPr/>
        </p:nvCxnSpPr>
        <p:spPr>
          <a:xfrm>
            <a:off x="9646920" y="5486400"/>
            <a:ext cx="1" cy="320040"/>
          </a:xfrm>
          <a:prstGeom prst="line">
            <a:avLst/>
          </a:prstGeom>
          <a:ln w="22225">
            <a:solidFill>
              <a:srgbClr val="0A2540"/>
            </a:solidFill>
            <a:round/>
            <a:tailEnd type="triangle" w="med" len="med"/>
          </a:ln>
        </p:spPr>
      </p:cxnSp>
      <p:sp>
        <p:nvSpPr>
          <p:cNvPr id="1040" name="Shape 1040"/>
          <p:cNvSpPr/>
          <p:nvPr/>
        </p:nvSpPr>
        <p:spPr>
          <a:xfrm>
            <a:off x="6743700" y="5806440"/>
            <a:ext cx="3771900" cy="73152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1" name="Text 1041"/>
          <p:cNvSpPr txBox="1"/>
          <p:nvPr/>
        </p:nvSpPr>
        <p:spPr>
          <a:xfrm>
            <a:off x="7429500" y="5806440"/>
            <a:ext cx="299466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web app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50" dirty="0">
                <a:solidFill>
                  <a:srgbClr val="BFD3EA"/>
                </a:solidFill>
                <a:latin typeface="Arial"/>
                <a:ea typeface="Arial"/>
                <a:cs typeface="Arial"/>
              </a:rPr>
              <a:t>Map · advisories · impact · expert panel</a:t>
            </a:r>
          </a:p>
        </p:txBody>
      </p:sp>
      <p:cxnSp>
        <p:nvCxnSpPr>
          <p:cNvPr id="1042" name="Connector 1042"/>
          <p:cNvCxnSpPr/>
          <p:nvPr/>
        </p:nvCxnSpPr>
        <p:spPr>
          <a:xfrm>
            <a:off x="10515600" y="6172200"/>
            <a:ext cx="274320" cy="1"/>
          </a:xfrm>
          <a:prstGeom prst="line">
            <a:avLst/>
          </a:prstGeom>
          <a:ln w="25400">
            <a:solidFill>
              <a:srgbClr val="F28C28"/>
            </a:solidFill>
            <a:round/>
            <a:tailEnd type="triangle" w="med" len="med"/>
          </a:ln>
        </p:spPr>
      </p:cxnSp>
      <p:sp>
        <p:nvSpPr>
          <p:cNvPr id="1043" name="Shape 1043"/>
          <p:cNvSpPr/>
          <p:nvPr/>
        </p:nvSpPr>
        <p:spPr>
          <a:xfrm>
            <a:off x="10789920" y="5806440"/>
            <a:ext cx="1760220" cy="731520"/>
          </a:xfrm>
          <a:prstGeom prst="roundRect">
            <a:avLst>
              <a:gd name="adj" fmla="val 14000"/>
            </a:avLst>
          </a:prstGeom>
          <a:solidFill>
            <a:srgbClr val="F28C28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4" name="Text 1044"/>
          <p:cNvSpPr txBox="1"/>
          <p:nvPr/>
        </p:nvSpPr>
        <p:spPr>
          <a:xfrm>
            <a:off x="11269980" y="58064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Citizens, fishers,</a:t>
            </a:r>
          </a:p>
          <a:p>
            <a:pPr algn="l">
              <a:buNone/>
            </a:pPr>
            <a:r>
              <a:rPr lang="en-IN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disaster officials</a:t>
            </a:r>
          </a:p>
        </p:txBody>
      </p:sp>
      <p:sp>
        <p:nvSpPr>
          <p:cNvPr id="1045" name="Shape 1045"/>
          <p:cNvSpPr/>
          <p:nvPr/>
        </p:nvSpPr>
        <p:spPr>
          <a:xfrm>
            <a:off x="617220" y="5806440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6" name="Text 1046"/>
          <p:cNvSpPr txBox="1"/>
          <p:nvPr/>
        </p:nvSpPr>
        <p:spPr>
          <a:xfrm>
            <a:off x="754380" y="5806440"/>
            <a:ext cx="68580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3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47" name="Text 1047"/>
          <p:cNvSpPr txBox="1"/>
          <p:nvPr/>
        </p:nvSpPr>
        <p:spPr>
          <a:xfrm>
            <a:off x="1280160" y="580644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data sources</a:t>
            </a:r>
          </a:p>
        </p:txBody>
      </p:sp>
      <p:sp>
        <p:nvSpPr>
          <p:cNvPr id="1048" name="Shape 1048"/>
          <p:cNvSpPr/>
          <p:nvPr/>
        </p:nvSpPr>
        <p:spPr>
          <a:xfrm>
            <a:off x="2583180" y="5806440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9" name="Text 1049"/>
          <p:cNvSpPr txBox="1"/>
          <p:nvPr/>
        </p:nvSpPr>
        <p:spPr>
          <a:xfrm>
            <a:off x="2720340" y="5806440"/>
            <a:ext cx="68580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3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50" name="Text 1050"/>
          <p:cNvSpPr txBox="1"/>
          <p:nvPr/>
        </p:nvSpPr>
        <p:spPr>
          <a:xfrm>
            <a:off x="3246120" y="580644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servers</a:t>
            </a:r>
          </a:p>
        </p:txBody>
      </p:sp>
      <p:sp>
        <p:nvSpPr>
          <p:cNvPr id="1051" name="Shape 1051"/>
          <p:cNvSpPr/>
          <p:nvPr/>
        </p:nvSpPr>
        <p:spPr>
          <a:xfrm>
            <a:off x="4549140" y="5806440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2" name="Text 1052"/>
          <p:cNvSpPr txBox="1"/>
          <p:nvPr/>
        </p:nvSpPr>
        <p:spPr>
          <a:xfrm>
            <a:off x="4686300" y="5806440"/>
            <a:ext cx="68580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3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53" name="Text 1053"/>
          <p:cNvSpPr txBox="1"/>
          <p:nvPr/>
        </p:nvSpPr>
        <p:spPr>
          <a:xfrm>
            <a:off x="5212080" y="580644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web app</a:t>
            </a:r>
          </a:p>
        </p:txBody>
      </p:sp>
      <p:sp>
        <p:nvSpPr>
          <p:cNvPr id="1054" name="Card 1054"/>
          <p:cNvSpPr/>
          <p:nvPr/>
        </p:nvSpPr>
        <p:spPr>
          <a:xfrm>
            <a:off x="12801600" y="1714500"/>
            <a:ext cx="4914900" cy="48234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79400" dist="50800" dir="5400000" algn="t" rotWithShape="0">
              <a:srgbClr val="0A2540">
                <a:alpha val="14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5" name="Shape 1055"/>
          <p:cNvSpPr/>
          <p:nvPr/>
        </p:nvSpPr>
        <p:spPr>
          <a:xfrm>
            <a:off x="12801600" y="1714500"/>
            <a:ext cx="4914900" cy="61722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6" name="Shape 1056"/>
          <p:cNvSpPr/>
          <p:nvPr/>
        </p:nvSpPr>
        <p:spPr>
          <a:xfrm>
            <a:off x="12801600" y="2057400"/>
            <a:ext cx="4914900" cy="2743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7" name="Text 1057"/>
          <p:cNvSpPr txBox="1"/>
          <p:nvPr/>
        </p:nvSpPr>
        <p:spPr>
          <a:xfrm>
            <a:off x="13418820" y="1714500"/>
            <a:ext cx="4114800" cy="6172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1058" name="Badge 1058"/>
          <p:cNvSpPr/>
          <p:nvPr/>
        </p:nvSpPr>
        <p:spPr>
          <a:xfrm>
            <a:off x="12961620" y="25374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9" name="Text 1059"/>
          <p:cNvSpPr txBox="1"/>
          <p:nvPr/>
        </p:nvSpPr>
        <p:spPr>
          <a:xfrm>
            <a:off x="13464540" y="25603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060" name="Pill 1060"/>
          <p:cNvSpPr/>
          <p:nvPr/>
        </p:nvSpPr>
        <p:spPr>
          <a:xfrm>
            <a:off x="13464540" y="2926080"/>
            <a:ext cx="571500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1" name="Text 1061"/>
          <p:cNvSpPr txBox="1"/>
          <p:nvPr/>
        </p:nvSpPr>
        <p:spPr>
          <a:xfrm>
            <a:off x="13464540" y="2926080"/>
            <a:ext cx="571500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1062" name="Pill 1062"/>
          <p:cNvSpPr/>
          <p:nvPr/>
        </p:nvSpPr>
        <p:spPr>
          <a:xfrm>
            <a:off x="14104620" y="2926080"/>
            <a:ext cx="489203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3" name="Text 1063"/>
          <p:cNvSpPr txBox="1"/>
          <p:nvPr/>
        </p:nvSpPr>
        <p:spPr>
          <a:xfrm>
            <a:off x="14104620" y="2926080"/>
            <a:ext cx="489203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Vite</a:t>
            </a:r>
          </a:p>
        </p:txBody>
      </p:sp>
      <p:sp>
        <p:nvSpPr>
          <p:cNvPr id="1064" name="Pill 1064"/>
          <p:cNvSpPr/>
          <p:nvPr/>
        </p:nvSpPr>
        <p:spPr>
          <a:xfrm>
            <a:off x="14662404" y="2926080"/>
            <a:ext cx="1065276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5" name="Text 1065"/>
          <p:cNvSpPr txBox="1"/>
          <p:nvPr/>
        </p:nvSpPr>
        <p:spPr>
          <a:xfrm>
            <a:off x="14662404" y="2926080"/>
            <a:ext cx="1065276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MapLibre GL</a:t>
            </a:r>
          </a:p>
        </p:txBody>
      </p:sp>
      <p:sp>
        <p:nvSpPr>
          <p:cNvPr id="1066" name="Badge 1066"/>
          <p:cNvSpPr/>
          <p:nvPr/>
        </p:nvSpPr>
        <p:spPr>
          <a:xfrm>
            <a:off x="12961620" y="3337560"/>
            <a:ext cx="411480" cy="411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7" name="Text 1067"/>
          <p:cNvSpPr txBox="1"/>
          <p:nvPr/>
        </p:nvSpPr>
        <p:spPr>
          <a:xfrm>
            <a:off x="13464540" y="33604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068" name="Pill 1068"/>
          <p:cNvSpPr/>
          <p:nvPr/>
        </p:nvSpPr>
        <p:spPr>
          <a:xfrm>
            <a:off x="13464540" y="3726180"/>
            <a:ext cx="736092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9" name="Text 1069"/>
          <p:cNvSpPr txBox="1"/>
          <p:nvPr/>
        </p:nvSpPr>
        <p:spPr>
          <a:xfrm>
            <a:off x="13464540" y="3726180"/>
            <a:ext cx="736092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0E7490"/>
                </a:solidFill>
                <a:latin typeface="Arial"/>
                <a:ea typeface="Arial"/>
                <a:cs typeface="Arial"/>
              </a:rPr>
              <a:t>Node.js</a:t>
            </a:r>
          </a:p>
        </p:txBody>
      </p:sp>
      <p:sp>
        <p:nvSpPr>
          <p:cNvPr id="1070" name="Pill 1070"/>
          <p:cNvSpPr/>
          <p:nvPr/>
        </p:nvSpPr>
        <p:spPr>
          <a:xfrm>
            <a:off x="14269212" y="3726180"/>
            <a:ext cx="736092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1" name="Text 1071"/>
          <p:cNvSpPr txBox="1"/>
          <p:nvPr/>
        </p:nvSpPr>
        <p:spPr>
          <a:xfrm>
            <a:off x="14269212" y="3726180"/>
            <a:ext cx="736092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0E7490"/>
                </a:solidFill>
                <a:latin typeface="Arial"/>
                <a:ea typeface="Arial"/>
                <a:cs typeface="Arial"/>
              </a:rPr>
              <a:t>Express</a:t>
            </a:r>
          </a:p>
        </p:txBody>
      </p:sp>
      <p:sp>
        <p:nvSpPr>
          <p:cNvPr id="1072" name="Pill 1072"/>
          <p:cNvSpPr/>
          <p:nvPr/>
        </p:nvSpPr>
        <p:spPr>
          <a:xfrm>
            <a:off x="15073884" y="3726180"/>
            <a:ext cx="571500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3" name="Text 1073"/>
          <p:cNvSpPr txBox="1"/>
          <p:nvPr/>
        </p:nvSpPr>
        <p:spPr>
          <a:xfrm>
            <a:off x="15073884" y="3726180"/>
            <a:ext cx="571500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0E7490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074" name="Badge 1074"/>
          <p:cNvSpPr/>
          <p:nvPr/>
        </p:nvSpPr>
        <p:spPr>
          <a:xfrm>
            <a:off x="12961620" y="4137660"/>
            <a:ext cx="411480" cy="4114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5" name="Text 1075"/>
          <p:cNvSpPr txBox="1"/>
          <p:nvPr/>
        </p:nvSpPr>
        <p:spPr>
          <a:xfrm>
            <a:off x="13464540" y="41605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AI / ML</a:t>
            </a:r>
          </a:p>
        </p:txBody>
      </p:sp>
      <p:sp>
        <p:nvSpPr>
          <p:cNvPr id="1076" name="Pill 1076"/>
          <p:cNvSpPr/>
          <p:nvPr/>
        </p:nvSpPr>
        <p:spPr>
          <a:xfrm>
            <a:off x="13464540" y="4526280"/>
            <a:ext cx="736092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7" name="Text 1077"/>
          <p:cNvSpPr txBox="1"/>
          <p:nvPr/>
        </p:nvSpPr>
        <p:spPr>
          <a:xfrm>
            <a:off x="13464540" y="4526280"/>
            <a:ext cx="736092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PyTorch</a:t>
            </a:r>
          </a:p>
        </p:txBody>
      </p:sp>
      <p:sp>
        <p:nvSpPr>
          <p:cNvPr id="1078" name="Pill 1078"/>
          <p:cNvSpPr/>
          <p:nvPr/>
        </p:nvSpPr>
        <p:spPr>
          <a:xfrm>
            <a:off x="14269212" y="4526280"/>
            <a:ext cx="818387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9" name="Text 1079"/>
          <p:cNvSpPr txBox="1"/>
          <p:nvPr/>
        </p:nvSpPr>
        <p:spPr>
          <a:xfrm>
            <a:off x="14269212" y="4526280"/>
            <a:ext cx="818387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YOLO-OBB</a:t>
            </a:r>
          </a:p>
        </p:txBody>
      </p:sp>
      <p:sp>
        <p:nvSpPr>
          <p:cNvPr id="1080" name="Pill 1080"/>
          <p:cNvSpPr/>
          <p:nvPr/>
        </p:nvSpPr>
        <p:spPr>
          <a:xfrm>
            <a:off x="15156180" y="4526280"/>
            <a:ext cx="818387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1" name="Text 1081"/>
          <p:cNvSpPr txBox="1"/>
          <p:nvPr/>
        </p:nvSpPr>
        <p:spPr>
          <a:xfrm>
            <a:off x="15156180" y="4526280"/>
            <a:ext cx="818387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ConvLSTM</a:t>
            </a:r>
          </a:p>
        </p:txBody>
      </p:sp>
      <p:sp>
        <p:nvSpPr>
          <p:cNvPr id="1082" name="Pill 1082"/>
          <p:cNvSpPr/>
          <p:nvPr/>
        </p:nvSpPr>
        <p:spPr>
          <a:xfrm>
            <a:off x="16043147" y="4526280"/>
            <a:ext cx="736092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3" name="Text 1083"/>
          <p:cNvSpPr txBox="1"/>
          <p:nvPr/>
        </p:nvSpPr>
        <p:spPr>
          <a:xfrm>
            <a:off x="16043147" y="4526280"/>
            <a:ext cx="736092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084" name="Badge 1084"/>
          <p:cNvSpPr/>
          <p:nvPr/>
        </p:nvSpPr>
        <p:spPr>
          <a:xfrm>
            <a:off x="12961620" y="4937760"/>
            <a:ext cx="411480" cy="41148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5" name="Text 1085"/>
          <p:cNvSpPr txBox="1"/>
          <p:nvPr/>
        </p:nvSpPr>
        <p:spPr>
          <a:xfrm>
            <a:off x="13464540" y="49606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086" name="Pill 1086"/>
          <p:cNvSpPr/>
          <p:nvPr/>
        </p:nvSpPr>
        <p:spPr>
          <a:xfrm>
            <a:off x="13464540" y="5326380"/>
            <a:ext cx="900684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7" name="Text 1087"/>
          <p:cNvSpPr txBox="1"/>
          <p:nvPr/>
        </p:nvSpPr>
        <p:spPr>
          <a:xfrm>
            <a:off x="13464540" y="5326380"/>
            <a:ext cx="900684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INSAT-3DS</a:t>
            </a:r>
          </a:p>
        </p:txBody>
      </p:sp>
      <p:sp>
        <p:nvSpPr>
          <p:cNvPr id="1088" name="Pill 1088"/>
          <p:cNvSpPr/>
          <p:nvPr/>
        </p:nvSpPr>
        <p:spPr>
          <a:xfrm>
            <a:off x="14433804" y="5326380"/>
            <a:ext cx="900684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9" name="Text 1089"/>
          <p:cNvSpPr txBox="1"/>
          <p:nvPr/>
        </p:nvSpPr>
        <p:spPr>
          <a:xfrm>
            <a:off x="14433804" y="5326380"/>
            <a:ext cx="900684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GPM IMERG</a:t>
            </a:r>
          </a:p>
        </p:txBody>
      </p:sp>
      <p:sp>
        <p:nvSpPr>
          <p:cNvPr id="1090" name="Pill 1090"/>
          <p:cNvSpPr/>
          <p:nvPr/>
        </p:nvSpPr>
        <p:spPr>
          <a:xfrm>
            <a:off x="15403067" y="5326380"/>
            <a:ext cx="489203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91" name="Text 1091"/>
          <p:cNvSpPr txBox="1"/>
          <p:nvPr/>
        </p:nvSpPr>
        <p:spPr>
          <a:xfrm>
            <a:off x="15403067" y="5326380"/>
            <a:ext cx="489203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JTWC</a:t>
            </a:r>
          </a:p>
        </p:txBody>
      </p:sp>
      <p:sp>
        <p:nvSpPr>
          <p:cNvPr id="1092" name="Pill 1092"/>
          <p:cNvSpPr/>
          <p:nvPr/>
        </p:nvSpPr>
        <p:spPr>
          <a:xfrm>
            <a:off x="15960851" y="5326380"/>
            <a:ext cx="736092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93" name="Text 1093"/>
          <p:cNvSpPr txBox="1"/>
          <p:nvPr/>
        </p:nvSpPr>
        <p:spPr>
          <a:xfrm>
            <a:off x="15960851" y="5326380"/>
            <a:ext cx="736092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IBTrACS</a:t>
            </a:r>
          </a:p>
        </p:txBody>
      </p:sp>
      <p:sp>
        <p:nvSpPr>
          <p:cNvPr id="1094" name="Badge 1094"/>
          <p:cNvSpPr/>
          <p:nvPr/>
        </p:nvSpPr>
        <p:spPr>
          <a:xfrm>
            <a:off x="12961620" y="5737860"/>
            <a:ext cx="411480" cy="41148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95" name="Text 1095"/>
          <p:cNvSpPr txBox="1"/>
          <p:nvPr/>
        </p:nvSpPr>
        <p:spPr>
          <a:xfrm>
            <a:off x="13464540" y="57607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1096" name="Pill 1096"/>
          <p:cNvSpPr/>
          <p:nvPr/>
        </p:nvSpPr>
        <p:spPr>
          <a:xfrm>
            <a:off x="13464540" y="6126480"/>
            <a:ext cx="1147572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97" name="Text 1097"/>
          <p:cNvSpPr txBox="1"/>
          <p:nvPr/>
        </p:nvSpPr>
        <p:spPr>
          <a:xfrm>
            <a:off x="13464540" y="6126480"/>
            <a:ext cx="1147572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Oracle Cloud</a:t>
            </a:r>
          </a:p>
        </p:txBody>
      </p:sp>
      <p:sp>
        <p:nvSpPr>
          <p:cNvPr id="1098" name="Pill 1098"/>
          <p:cNvSpPr/>
          <p:nvPr/>
        </p:nvSpPr>
        <p:spPr>
          <a:xfrm>
            <a:off x="14680692" y="6126480"/>
            <a:ext cx="900684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99" name="Text 1099"/>
          <p:cNvSpPr txBox="1"/>
          <p:nvPr/>
        </p:nvSpPr>
        <p:spPr>
          <a:xfrm>
            <a:off x="14680692" y="6126480"/>
            <a:ext cx="900684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Hostinger</a:t>
            </a:r>
          </a:p>
        </p:txBody>
      </p:sp>
      <p:sp>
        <p:nvSpPr>
          <p:cNvPr id="1100" name="Pill 1100"/>
          <p:cNvSpPr/>
          <p:nvPr/>
        </p:nvSpPr>
        <p:spPr>
          <a:xfrm>
            <a:off x="15649956" y="6126480"/>
            <a:ext cx="653796" cy="25146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1" name="Text 1101"/>
          <p:cNvSpPr txBox="1"/>
          <p:nvPr/>
        </p:nvSpPr>
        <p:spPr>
          <a:xfrm>
            <a:off x="15649956" y="6126480"/>
            <a:ext cx="653796" cy="2514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1102" name="Badge 1102"/>
          <p:cNvSpPr/>
          <p:nvPr/>
        </p:nvSpPr>
        <p:spPr>
          <a:xfrm>
            <a:off x="617220" y="6789420"/>
            <a:ext cx="342900" cy="3429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3" name="Heading 1103"/>
          <p:cNvSpPr txBox="1"/>
          <p:nvPr/>
        </p:nvSpPr>
        <p:spPr>
          <a:xfrm>
            <a:off x="1074420" y="6766560"/>
            <a:ext cx="15544800" cy="3886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9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Methodology and process for implementation: flow chart</a:t>
            </a:r>
          </a:p>
        </p:txBody>
      </p:sp>
      <p:sp>
        <p:nvSpPr>
          <p:cNvPr id="1104" name="Flow 1104"/>
          <p:cNvSpPr/>
          <p:nvPr/>
        </p:nvSpPr>
        <p:spPr>
          <a:xfrm>
            <a:off x="617220" y="7246620"/>
            <a:ext cx="3566160" cy="1005840"/>
          </a:xfrm>
          <a:prstGeom prst="homePlate">
            <a:avLst>
              <a:gd name="adj" fmla="val 26000"/>
            </a:avLst>
          </a:prstGeom>
          <a:solidFill>
            <a:srgbClr val="0070C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5" name="Badge 1105"/>
          <p:cNvSpPr/>
          <p:nvPr/>
        </p:nvSpPr>
        <p:spPr>
          <a:xfrm>
            <a:off x="891540" y="75209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6" name="Text 1106"/>
          <p:cNvSpPr txBox="1"/>
          <p:nvPr/>
        </p:nvSpPr>
        <p:spPr>
          <a:xfrm>
            <a:off x="1440180" y="7315200"/>
            <a:ext cx="2148840" cy="8686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Fetch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30 min</a:t>
            </a:r>
          </a:p>
        </p:txBody>
      </p:sp>
      <p:sp>
        <p:nvSpPr>
          <p:cNvPr id="1107" name="Text 1107"/>
          <p:cNvSpPr txBox="1"/>
          <p:nvPr/>
        </p:nvSpPr>
        <p:spPr>
          <a:xfrm>
            <a:off x="731520" y="8321040"/>
            <a:ext cx="329184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50" b="1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INSAT-3DS + GPM IMERG</a:t>
            </a:r>
          </a:p>
        </p:txBody>
      </p:sp>
      <p:sp>
        <p:nvSpPr>
          <p:cNvPr id="1108" name="Flow 1108"/>
          <p:cNvSpPr/>
          <p:nvPr/>
        </p:nvSpPr>
        <p:spPr>
          <a:xfrm>
            <a:off x="4023360" y="7246620"/>
            <a:ext cx="3566160" cy="1005840"/>
          </a:xfrm>
          <a:prstGeom prst="chevron">
            <a:avLst>
              <a:gd name="adj" fmla="val 26000"/>
            </a:avLst>
          </a:prstGeom>
          <a:solidFill>
            <a:srgbClr val="0E749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09" name="Badge 1109"/>
          <p:cNvSpPr/>
          <p:nvPr/>
        </p:nvSpPr>
        <p:spPr>
          <a:xfrm>
            <a:off x="4549140" y="75209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10" name="Text 1110"/>
          <p:cNvSpPr txBox="1"/>
          <p:nvPr/>
        </p:nvSpPr>
        <p:spPr>
          <a:xfrm>
            <a:off x="5097780" y="7315200"/>
            <a:ext cx="2148840" cy="8686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Merge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frames · 15 h window</a:t>
            </a:r>
          </a:p>
        </p:txBody>
      </p:sp>
      <p:sp>
        <p:nvSpPr>
          <p:cNvPr id="1111" name="Text 1111"/>
          <p:cNvSpPr txBox="1"/>
          <p:nvPr/>
        </p:nvSpPr>
        <p:spPr>
          <a:xfrm>
            <a:off x="4137660" y="8321040"/>
            <a:ext cx="329184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50" b="1" dirty="0">
                <a:solidFill>
                  <a:srgbClr val="0E7490"/>
                </a:solidFill>
                <a:latin typeface="Consolas"/>
                <a:ea typeface="Consolas"/>
                <a:cs typeface="Consolas"/>
              </a:rPr>
              <a:t>[4×1024×1024] tensor</a:t>
            </a:r>
          </a:p>
        </p:txBody>
      </p:sp>
      <p:sp>
        <p:nvSpPr>
          <p:cNvPr id="1112" name="Flow 1112"/>
          <p:cNvSpPr/>
          <p:nvPr/>
        </p:nvSpPr>
        <p:spPr>
          <a:xfrm>
            <a:off x="7429500" y="7246620"/>
            <a:ext cx="3566160" cy="1005840"/>
          </a:xfrm>
          <a:prstGeom prst="chevron">
            <a:avLst>
              <a:gd name="adj" fmla="val 26000"/>
            </a:avLst>
          </a:prstGeom>
          <a:solidFill>
            <a:srgbClr val="F28C28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13" name="Badge 1113"/>
          <p:cNvSpPr/>
          <p:nvPr/>
        </p:nvSpPr>
        <p:spPr>
          <a:xfrm>
            <a:off x="7955280" y="75209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14" name="Text 1114"/>
          <p:cNvSpPr txBox="1"/>
          <p:nvPr/>
        </p:nvSpPr>
        <p:spPr>
          <a:xfrm>
            <a:off x="8503920" y="7315200"/>
            <a:ext cx="2148840" cy="8686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AI inference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 · classify · forecast</a:t>
            </a:r>
          </a:p>
        </p:txBody>
      </p:sp>
      <p:sp>
        <p:nvSpPr>
          <p:cNvPr id="1115" name="Text 1115"/>
          <p:cNvSpPr txBox="1"/>
          <p:nvPr/>
        </p:nvSpPr>
        <p:spPr>
          <a:xfrm>
            <a:off x="7543800" y="8321040"/>
            <a:ext cx="329184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50" b="1" dirty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YOLO-OBB → ConvLSTM</a:t>
            </a:r>
          </a:p>
        </p:txBody>
      </p:sp>
      <p:sp>
        <p:nvSpPr>
          <p:cNvPr id="1116" name="Flow 1116"/>
          <p:cNvSpPr/>
          <p:nvPr/>
        </p:nvSpPr>
        <p:spPr>
          <a:xfrm>
            <a:off x="10835640" y="7246620"/>
            <a:ext cx="3566160" cy="1005840"/>
          </a:xfrm>
          <a:prstGeom prst="chevron">
            <a:avLst>
              <a:gd name="adj" fmla="val 26000"/>
            </a:avLst>
          </a:prstGeom>
          <a:solidFill>
            <a:srgbClr val="6D28D9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17" name="Badge 1117"/>
          <p:cNvSpPr/>
          <p:nvPr/>
        </p:nvSpPr>
        <p:spPr>
          <a:xfrm>
            <a:off x="11361420" y="75209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18" name="Text 1118"/>
          <p:cNvSpPr txBox="1"/>
          <p:nvPr/>
        </p:nvSpPr>
        <p:spPr>
          <a:xfrm>
            <a:off x="11910060" y="7315200"/>
            <a:ext cx="2148840" cy="8686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 Match + alert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official tracks first</a:t>
            </a:r>
          </a:p>
        </p:txBody>
      </p:sp>
      <p:sp>
        <p:nvSpPr>
          <p:cNvPr id="1119" name="Text 1119"/>
          <p:cNvSpPr txBox="1"/>
          <p:nvPr/>
        </p:nvSpPr>
        <p:spPr>
          <a:xfrm>
            <a:off x="10949940" y="8321040"/>
            <a:ext cx="329184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50" b="1" dirty="0">
                <a:solidFill>
                  <a:srgbClr val="6D28D9"/>
                </a:solidFill>
                <a:latin typeface="Consolas"/>
                <a:ea typeface="Consolas"/>
                <a:cs typeface="Consolas"/>
              </a:rPr>
              <a:t>JTWC / IBTrACS check</a:t>
            </a:r>
          </a:p>
        </p:txBody>
      </p:sp>
      <p:sp>
        <p:nvSpPr>
          <p:cNvPr id="1120" name="Flow 1120"/>
          <p:cNvSpPr/>
          <p:nvPr/>
        </p:nvSpPr>
        <p:spPr>
          <a:xfrm>
            <a:off x="14241780" y="7246620"/>
            <a:ext cx="3566160" cy="1005840"/>
          </a:xfrm>
          <a:prstGeom prst="chevron">
            <a:avLst>
              <a:gd name="adj" fmla="val 26000"/>
            </a:avLst>
          </a:prstGeom>
          <a:solidFill>
            <a:srgbClr val="15803D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21" name="Badge 1121"/>
          <p:cNvSpPr/>
          <p:nvPr/>
        </p:nvSpPr>
        <p:spPr>
          <a:xfrm>
            <a:off x="14767560" y="75209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22" name="Text 1122"/>
          <p:cNvSpPr txBox="1"/>
          <p:nvPr/>
        </p:nvSpPr>
        <p:spPr>
          <a:xfrm>
            <a:off x="15316200" y="7315200"/>
            <a:ext cx="2148840" cy="8686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Publish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map · advisories</a:t>
            </a:r>
          </a:p>
        </p:txBody>
      </p:sp>
      <p:sp>
        <p:nvSpPr>
          <p:cNvPr id="1123" name="Text 1123"/>
          <p:cNvSpPr txBox="1"/>
          <p:nvPr/>
        </p:nvSpPr>
        <p:spPr>
          <a:xfrm>
            <a:off x="14356080" y="8321040"/>
            <a:ext cx="329184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50" b="1" dirty="0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REST API → React map</a:t>
            </a:r>
          </a:p>
        </p:txBody>
      </p:sp>
      <p:sp>
        <p:nvSpPr>
          <p:cNvPr id="1124" name="Shape 1124"/>
          <p:cNvSpPr/>
          <p:nvPr/>
        </p:nvSpPr>
        <p:spPr>
          <a:xfrm>
            <a:off x="617220" y="8755380"/>
            <a:ext cx="17099280" cy="571500"/>
          </a:xfrm>
          <a:prstGeom prst="roundRect">
            <a:avLst>
              <a:gd name="adj" fmla="val 3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25" name="Text 1125"/>
          <p:cNvSpPr txBox="1"/>
          <p:nvPr/>
        </p:nvSpPr>
        <p:spPr>
          <a:xfrm>
            <a:off x="1211580" y="8755380"/>
            <a:ext cx="16230600" cy="5715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50" i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 xml:space="preserve">Every hop is signed (HMAC-SHA256), validated (Zod + tensor checks) and health-monitored — </a:t>
            </a:r>
            <a:r>
              <a:rPr lang="en-IN" sz="1350"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from satellite pixel to citizen.</a:t>
            </a:r>
          </a:p>
        </p:txBody>
      </p:sp>
      <p:sp>
        <p:nvSpPr>
          <p:cNvPr id="1126" name="Footer tagline 1126"/>
          <p:cNvSpPr txBox="1"/>
          <p:nvPr/>
        </p:nvSpPr>
        <p:spPr>
          <a:xfrm>
            <a:off x="1165860" y="9555480"/>
            <a:ext cx="11430000" cy="6629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CYCLO-NEXUS</a:t>
            </a:r>
            <a:r>
              <a:rPr lang="en-IN" sz="1300" dirty="0">
                <a:solidFill>
                  <a:srgbClr val="A9CDEE"/>
                </a:solidFill>
                <a:latin typeface="Arial"/>
                <a:ea typeface="Arial"/>
                <a:cs typeface="Arial"/>
              </a:rPr>
              <a:t xml:space="preserve">   |   </a:t>
            </a:r>
            <a:r>
              <a:rPr lang="en-IN" sz="13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signed, monitored path from satellite pixel to citizen.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50" dirty="0">
                <a:solidFill>
                  <a:srgbClr val="CFE3F7"/>
                </a:solidFill>
                <a:latin typeface="Arial"/>
                <a:ea typeface="Arial"/>
                <a:cs typeface="Arial"/>
              </a:rPr>
              <a:t>Team Tikka Techies  ·  SIH26070  ·  Ministry of Earth Sciences  ·  Disaster Management</a:t>
            </a:r>
          </a:p>
        </p:txBody>
      </p:sp>
      <p:pic>
        <p:nvPicPr>
          <p:cNvPr id="1127" name="Picture 1127" descr="icon"/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699516" y="1819655"/>
            <a:ext cx="178308" cy="178308"/>
          </a:xfrm>
          <a:prstGeom prst="rect">
            <a:avLst/>
          </a:prstGeom>
          <a:ln>
            <a:noFill/>
          </a:ln>
        </p:spPr>
      </p:pic>
      <p:pic>
        <p:nvPicPr>
          <p:cNvPr id="1128" name="Picture 1128" descr="icon"/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864107" y="243001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129" name="Picture 1129" descr="icon"/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3858768" y="243001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130" name="Picture 1130" descr="icon"/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6853428" y="243001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131" name="Picture 1131" descr="icon"/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9848088" y="243001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132" name="Picture 1132" descr="icon"/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978075" y="386974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133" name="Picture 1133" descr="icon"/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4801285" y="386974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134" name="Picture 1134" descr="icon"/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8104555" y="386974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135" name="Picture 1135" descr="icon"/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10927765" y="386974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136" name="Picture 1136" descr="icon"/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6469380" y="4274820"/>
            <a:ext cx="228600" cy="228600"/>
          </a:xfrm>
          <a:prstGeom prst="rect">
            <a:avLst/>
          </a:prstGeom>
          <a:ln>
            <a:noFill/>
          </a:ln>
        </p:spPr>
      </p:pic>
      <p:pic>
        <p:nvPicPr>
          <p:cNvPr id="1137" name="Picture 1137" descr="icon"/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949440" y="5989320"/>
            <a:ext cx="365760" cy="365760"/>
          </a:xfrm>
          <a:prstGeom prst="rect">
            <a:avLst/>
          </a:prstGeom>
          <a:ln>
            <a:noFill/>
          </a:ln>
        </p:spPr>
      </p:pic>
      <p:pic>
        <p:nvPicPr>
          <p:cNvPr id="1138" name="Picture 1138" descr="icon"/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10927080" y="6035040"/>
            <a:ext cx="274320" cy="274320"/>
          </a:xfrm>
          <a:prstGeom prst="rect">
            <a:avLst/>
          </a:prstGeom>
          <a:ln>
            <a:noFill/>
          </a:ln>
        </p:spPr>
      </p:pic>
      <p:pic>
        <p:nvPicPr>
          <p:cNvPr id="1139" name="Picture 1139" descr="icon"/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13007340" y="1874520"/>
            <a:ext cx="297180" cy="297180"/>
          </a:xfrm>
          <a:prstGeom prst="rect">
            <a:avLst/>
          </a:prstGeom>
          <a:ln>
            <a:noFill/>
          </a:ln>
        </p:spPr>
      </p:pic>
      <p:pic>
        <p:nvPicPr>
          <p:cNvPr id="1140" name="Picture 1140" descr="icon"/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13060375" y="2636215"/>
            <a:ext cx="213969" cy="213969"/>
          </a:xfrm>
          <a:prstGeom prst="rect">
            <a:avLst/>
          </a:prstGeom>
          <a:ln>
            <a:noFill/>
          </a:ln>
        </p:spPr>
      </p:pic>
      <p:pic>
        <p:nvPicPr>
          <p:cNvPr id="1141" name="Picture 1141" descr="icon"/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13060375" y="3436315"/>
            <a:ext cx="213969" cy="213969"/>
          </a:xfrm>
          <a:prstGeom prst="rect">
            <a:avLst/>
          </a:prstGeom>
          <a:ln>
            <a:noFill/>
          </a:ln>
        </p:spPr>
      </p:pic>
      <p:pic>
        <p:nvPicPr>
          <p:cNvPr id="1142" name="Picture 1142" descr="icon"/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3060375" y="4236415"/>
            <a:ext cx="213969" cy="213969"/>
          </a:xfrm>
          <a:prstGeom prst="rect">
            <a:avLst/>
          </a:prstGeom>
          <a:ln>
            <a:noFill/>
          </a:ln>
        </p:spPr>
      </p:pic>
      <p:pic>
        <p:nvPicPr>
          <p:cNvPr id="1143" name="Picture 1143" descr="icon"/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13060375" y="5036515"/>
            <a:ext cx="213969" cy="213969"/>
          </a:xfrm>
          <a:prstGeom prst="rect">
            <a:avLst/>
          </a:prstGeom>
          <a:ln>
            <a:noFill/>
          </a:ln>
        </p:spPr>
      </p:pic>
      <p:pic>
        <p:nvPicPr>
          <p:cNvPr id="1144" name="Picture 1144" descr="icon"/>
          <p:cNvPicPr>
            <a:picLocks noChangeAspect="1"/>
          </p:cNvPicPr>
          <p:nvPr/>
        </p:nvPicPr>
        <p:blipFill>
          <a:blip r:embed="rId129"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13060375" y="5836615"/>
            <a:ext cx="213969" cy="213969"/>
          </a:xfrm>
          <a:prstGeom prst="rect">
            <a:avLst/>
          </a:prstGeom>
          <a:ln>
            <a:noFill/>
          </a:ln>
        </p:spPr>
      </p:pic>
      <p:pic>
        <p:nvPicPr>
          <p:cNvPr id="1145" name="Picture 1145" descr="icon"/>
          <p:cNvPicPr>
            <a:picLocks noChangeAspect="1"/>
          </p:cNvPicPr>
          <p:nvPr/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699516" y="6871716"/>
            <a:ext cx="178308" cy="178308"/>
          </a:xfrm>
          <a:prstGeom prst="rect">
            <a:avLst/>
          </a:prstGeom>
          <a:ln>
            <a:noFill/>
          </a:ln>
        </p:spPr>
      </p:pic>
      <p:pic>
        <p:nvPicPr>
          <p:cNvPr id="1146" name="Picture 1146" descr="icon"/>
          <p:cNvPicPr>
            <a:picLocks noChangeAspect="1"/>
          </p:cNvPicPr>
          <p:nvPr/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1001267" y="763066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147" name="Picture 1147" descr="icon"/>
          <p:cNvPicPr>
            <a:picLocks noChangeAspect="1"/>
          </p:cNvPicPr>
          <p:nvPr/>
        </p:nvPicPr>
        <p:blipFill>
          <a:blip r:embed="rId135"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4658868" y="763066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148" name="Picture 1148" descr="icon"/>
          <p:cNvPicPr>
            <a:picLocks noChangeAspect="1"/>
          </p:cNvPicPr>
          <p:nvPr/>
        </p:nvPicPr>
        <p:blipFill>
          <a:blip r:embed="rId137"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8065008" y="763066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149" name="Picture 1149" descr="icon"/>
          <p:cNvPicPr>
            <a:picLocks noChangeAspect="1"/>
          </p:cNvPicPr>
          <p:nvPr/>
        </p:nvPicPr>
        <p:blipFill>
          <a:blip r:embed="rId139"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11471148" y="763066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150" name="Picture 1150" descr="icon"/>
          <p:cNvPicPr>
            <a:picLocks noChangeAspect="1"/>
          </p:cNvPicPr>
          <p:nvPr/>
        </p:nvPicPr>
        <p:blipFill>
          <a:blip r:embed="rId141"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14877287" y="763066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151" name="Picture 1151" descr="icon"/>
          <p:cNvPicPr>
            <a:picLocks noChangeAspect="1"/>
          </p:cNvPicPr>
          <p:nvPr/>
        </p:nvPicPr>
        <p:blipFill>
          <a:blip r:embed="rId143"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822960" y="8903970"/>
            <a:ext cx="274320" cy="274320"/>
          </a:xfrm>
          <a:prstGeom prst="rect">
            <a:avLst/>
          </a:prstGeom>
          <a:ln>
            <a:noFill/>
          </a:ln>
        </p:spPr>
      </p:pic>
      <p:pic>
        <p:nvPicPr>
          <p:cNvPr id="1152" name="Picture 1152" descr="icon"/>
          <p:cNvPicPr>
            <a:picLocks noChangeAspect="1"/>
          </p:cNvPicPr>
          <p:nvPr/>
        </p:nvPicPr>
        <p:blipFill>
          <a:blip r:embed="rId145"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617220" y="9669780"/>
            <a:ext cx="434340" cy="4343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219" y="-71276"/>
            <a:ext cx="16458124" cy="1713424"/>
            <a:chOff x="0" y="0"/>
            <a:chExt cx="21944165" cy="2284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160" cy="2284560"/>
            </a:xfrm>
            <a:custGeom>
              <a:avLst/>
              <a:gdLst/>
              <a:ahLst/>
              <a:cxnLst/>
              <a:rect r="r" b="b" t="t" l="l"/>
              <a:pathLst>
                <a:path h="2284560" w="21944160">
                  <a:moveTo>
                    <a:pt x="0" y="0"/>
                  </a:moveTo>
                  <a:lnTo>
                    <a:pt x="21944160" y="0"/>
                  </a:lnTo>
                  <a:lnTo>
                    <a:pt x="21944160" y="2284560"/>
                  </a:lnTo>
                  <a:lnTo>
                    <a:pt x="0" y="228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61" r="0" b="-1371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4165" cy="2313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sp>
        <p:nvSpPr>
          <p:cNvPr id="1001" name="Badge 1001"/>
          <p:cNvSpPr/>
          <p:nvPr/>
        </p:nvSpPr>
        <p:spPr>
          <a:xfrm>
            <a:off x="617220" y="1737360"/>
            <a:ext cx="342900" cy="3429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2" name="Heading 1002"/>
          <p:cNvSpPr txBox="1"/>
          <p:nvPr/>
        </p:nvSpPr>
        <p:spPr>
          <a:xfrm>
            <a:off x="1074420" y="1714500"/>
            <a:ext cx="10972800" cy="3886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9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Analysis of the feasibility of the idea</a:t>
            </a:r>
          </a:p>
        </p:txBody>
      </p:sp>
      <p:sp>
        <p:nvSpPr>
          <p:cNvPr id="1003" name="Card 1003"/>
          <p:cNvSpPr/>
          <p:nvPr/>
        </p:nvSpPr>
        <p:spPr>
          <a:xfrm>
            <a:off x="617220" y="2194560"/>
            <a:ext cx="368046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4" name="Badge 1004"/>
          <p:cNvSpPr/>
          <p:nvPr/>
        </p:nvSpPr>
        <p:spPr>
          <a:xfrm>
            <a:off x="788670" y="2366010"/>
            <a:ext cx="617220" cy="617220"/>
          </a:xfrm>
          <a:prstGeom prst="ellipse">
            <a:avLst/>
          </a:prstGeom>
          <a:solidFill>
            <a:srgbClr val="15803D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5" name="Text 1005"/>
          <p:cNvSpPr txBox="1"/>
          <p:nvPr/>
        </p:nvSpPr>
        <p:spPr>
          <a:xfrm>
            <a:off x="1531620" y="2308860"/>
            <a:ext cx="262890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7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Feasible</a:t>
            </a:r>
          </a:p>
        </p:txBody>
      </p:sp>
      <p:sp>
        <p:nvSpPr>
          <p:cNvPr id="1006" name="Text 1006"/>
          <p:cNvSpPr txBox="1"/>
          <p:nvPr/>
        </p:nvSpPr>
        <p:spPr>
          <a:xfrm>
            <a:off x="1531620" y="2674620"/>
            <a:ext cx="2628900" cy="4800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28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 xml:space="preserve">4 </a:t>
            </a:r>
            <a:r>
              <a:rPr lang="en-IN" sz="1250" b="1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free public data sources</a:t>
            </a:r>
          </a:p>
        </p:txBody>
      </p:sp>
      <p:sp>
        <p:nvSpPr>
          <p:cNvPr id="1007" name="Text 1007"/>
          <p:cNvSpPr txBox="1"/>
          <p:nvPr/>
        </p:nvSpPr>
        <p:spPr>
          <a:xfrm>
            <a:off x="845820" y="3223260"/>
            <a:ext cx="331470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1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ISRO, NASA, JTWC and NOAA — no paid feeds</a:t>
            </a:r>
          </a:p>
        </p:txBody>
      </p:sp>
      <p:sp>
        <p:nvSpPr>
          <p:cNvPr id="1008" name="Card 1008"/>
          <p:cNvSpPr/>
          <p:nvPr/>
        </p:nvSpPr>
        <p:spPr>
          <a:xfrm>
            <a:off x="4457700" y="2194560"/>
            <a:ext cx="368046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9" name="Badge 1009"/>
          <p:cNvSpPr/>
          <p:nvPr/>
        </p:nvSpPr>
        <p:spPr>
          <a:xfrm>
            <a:off x="4629150" y="2366010"/>
            <a:ext cx="617220" cy="61722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0" name="Text 1010"/>
          <p:cNvSpPr txBox="1"/>
          <p:nvPr/>
        </p:nvSpPr>
        <p:spPr>
          <a:xfrm>
            <a:off x="5372100" y="2308860"/>
            <a:ext cx="262890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7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Low cost</a:t>
            </a:r>
          </a:p>
        </p:txBody>
      </p:sp>
      <p:sp>
        <p:nvSpPr>
          <p:cNvPr id="1011" name="Text 1011"/>
          <p:cNvSpPr txBox="1"/>
          <p:nvPr/>
        </p:nvSpPr>
        <p:spPr>
          <a:xfrm>
            <a:off x="5372100" y="2674620"/>
            <a:ext cx="2628900" cy="4800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28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 xml:space="preserve">₹0 </a:t>
            </a:r>
            <a:r>
              <a:rPr lang="en-IN" sz="1250" b="1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licence cost</a:t>
            </a:r>
          </a:p>
        </p:txBody>
      </p:sp>
      <p:sp>
        <p:nvSpPr>
          <p:cNvPr id="1012" name="Text 1012"/>
          <p:cNvSpPr txBox="1"/>
          <p:nvPr/>
        </p:nvSpPr>
        <p:spPr>
          <a:xfrm>
            <a:off x="4686300" y="3223260"/>
            <a:ext cx="331470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1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Open-source stack on free cloud tiers</a:t>
            </a:r>
          </a:p>
        </p:txBody>
      </p:sp>
      <p:sp>
        <p:nvSpPr>
          <p:cNvPr id="1013" name="Card 1013"/>
          <p:cNvSpPr/>
          <p:nvPr/>
        </p:nvSpPr>
        <p:spPr>
          <a:xfrm>
            <a:off x="8298180" y="2194560"/>
            <a:ext cx="368046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4" name="Badge 1014"/>
          <p:cNvSpPr/>
          <p:nvPr/>
        </p:nvSpPr>
        <p:spPr>
          <a:xfrm>
            <a:off x="8469630" y="2366010"/>
            <a:ext cx="617220" cy="61722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5" name="Text 1015"/>
          <p:cNvSpPr txBox="1"/>
          <p:nvPr/>
        </p:nvSpPr>
        <p:spPr>
          <a:xfrm>
            <a:off x="9212580" y="2308860"/>
            <a:ext cx="262890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7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Scalable</a:t>
            </a:r>
          </a:p>
        </p:txBody>
      </p:sp>
      <p:sp>
        <p:nvSpPr>
          <p:cNvPr id="1016" name="Text 1016"/>
          <p:cNvSpPr txBox="1"/>
          <p:nvPr/>
        </p:nvSpPr>
        <p:spPr>
          <a:xfrm>
            <a:off x="9212580" y="2674620"/>
            <a:ext cx="2628900" cy="4800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2800" b="1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 xml:space="preserve">Any </a:t>
            </a:r>
            <a:r>
              <a:rPr lang="en-IN" sz="1250" b="1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phone or browser</a:t>
            </a:r>
          </a:p>
        </p:txBody>
      </p:sp>
      <p:sp>
        <p:nvSpPr>
          <p:cNvPr id="1017" name="Text 1017"/>
          <p:cNvSpPr txBox="1"/>
          <p:nvPr/>
        </p:nvSpPr>
        <p:spPr>
          <a:xfrm>
            <a:off x="8526780" y="3223260"/>
            <a:ext cx="331470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1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Cloud-hosted web app; 15 MB per AI cycle</a:t>
            </a:r>
          </a:p>
        </p:txBody>
      </p:sp>
      <p:sp>
        <p:nvSpPr>
          <p:cNvPr id="1018" name="Card 1018"/>
          <p:cNvSpPr/>
          <p:nvPr/>
        </p:nvSpPr>
        <p:spPr>
          <a:xfrm>
            <a:off x="12230100" y="2194560"/>
            <a:ext cx="5486400" cy="1508760"/>
          </a:xfrm>
          <a:prstGeom prst="roundRect">
            <a:avLst>
              <a:gd name="adj" fmla="val 9000"/>
            </a:avLst>
          </a:prstGeom>
          <a:solidFill>
            <a:srgbClr val="0A2540"/>
          </a:solidFill>
          <a:ln>
            <a:noFill/>
          </a:ln>
          <a:effectLst>
            <a:outerShdw blurRad="279400" dist="50800" dir="5400000" algn="t" rotWithShape="0">
              <a:srgbClr val="0A2540">
                <a:alpha val="14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9" name="Text 1019"/>
          <p:cNvSpPr txBox="1"/>
          <p:nvPr/>
        </p:nvSpPr>
        <p:spPr>
          <a:xfrm>
            <a:off x="12801600" y="2286000"/>
            <a:ext cx="4800600" cy="3429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on real satellite data</a:t>
            </a:r>
          </a:p>
        </p:txBody>
      </p:sp>
      <p:sp>
        <p:nvSpPr>
          <p:cNvPr id="1020" name="Text 1020"/>
          <p:cNvSpPr txBox="1"/>
          <p:nvPr/>
        </p:nvSpPr>
        <p:spPr>
          <a:xfrm>
            <a:off x="12435840" y="2697480"/>
            <a:ext cx="171450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2400" b="1" dirty="0">
                <a:solidFill>
                  <a:srgbClr val="FDBA7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21" name="Text 1021"/>
          <p:cNvSpPr txBox="1"/>
          <p:nvPr/>
        </p:nvSpPr>
        <p:spPr>
          <a:xfrm>
            <a:off x="12435840" y="3177540"/>
            <a:ext cx="17145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50" dirty="0">
                <a:solidFill>
                  <a:srgbClr val="C7D6EA"/>
                </a:solidFill>
                <a:latin typeface="Arial"/>
                <a:ea typeface="Arial"/>
                <a:cs typeface="Arial"/>
              </a:rPr>
              <a:t>real INSAT-3DS +</a:t>
            </a:r>
          </a:p>
          <a:p>
            <a:pPr algn="l">
              <a:buNone/>
            </a:pPr>
            <a:r>
              <a:rPr lang="en-IN" sz="1050" dirty="0">
                <a:solidFill>
                  <a:srgbClr val="C7D6EA"/>
                </a:solidFill>
                <a:latin typeface="Arial"/>
                <a:ea typeface="Arial"/>
                <a:cs typeface="Arial"/>
              </a:rPr>
              <a:t>IMERG cases</a:t>
            </a:r>
          </a:p>
        </p:txBody>
      </p:sp>
      <p:sp>
        <p:nvSpPr>
          <p:cNvPr id="1022" name="Text 1022"/>
          <p:cNvSpPr txBox="1"/>
          <p:nvPr/>
        </p:nvSpPr>
        <p:spPr>
          <a:xfrm>
            <a:off x="14196060" y="2697480"/>
            <a:ext cx="171450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2400" b="1" dirty="0">
                <a:solidFill>
                  <a:srgbClr val="FDBA74"/>
                </a:solidFill>
                <a:latin typeface="Arial"/>
                <a:ea typeface="Arial"/>
                <a:cs typeface="Arial"/>
              </a:rPr>
              <a:t>0 / 6</a:t>
            </a:r>
          </a:p>
        </p:txBody>
      </p:sp>
      <p:sp>
        <p:nvSpPr>
          <p:cNvPr id="1023" name="Text 1023"/>
          <p:cNvSpPr txBox="1"/>
          <p:nvPr/>
        </p:nvSpPr>
        <p:spPr>
          <a:xfrm>
            <a:off x="14196060" y="3177540"/>
            <a:ext cx="17145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50" dirty="0">
                <a:solidFill>
                  <a:srgbClr val="C7D6EA"/>
                </a:solidFill>
                <a:latin typeface="Arial"/>
                <a:ea typeface="Arial"/>
                <a:cs typeface="Arial"/>
              </a:rPr>
              <a:t>false-alarm days</a:t>
            </a:r>
          </a:p>
          <a:p>
            <a:pPr algn="l">
              <a:buNone/>
            </a:pPr>
            <a:r>
              <a:rPr lang="en-IN" sz="1050" dirty="0">
                <a:solidFill>
                  <a:srgbClr val="C7D6EA"/>
                </a:solidFill>
                <a:latin typeface="Arial"/>
                <a:ea typeface="Arial"/>
                <a:cs typeface="Arial"/>
              </a:rPr>
              <a:t>(threshold 0.95)</a:t>
            </a:r>
          </a:p>
        </p:txBody>
      </p:sp>
      <p:sp>
        <p:nvSpPr>
          <p:cNvPr id="1024" name="Text 1024"/>
          <p:cNvSpPr txBox="1"/>
          <p:nvPr/>
        </p:nvSpPr>
        <p:spPr>
          <a:xfrm>
            <a:off x="15956280" y="2697480"/>
            <a:ext cx="171450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2400" b="1" dirty="0">
                <a:solidFill>
                  <a:srgbClr val="FDBA74"/>
                </a:solidFill>
                <a:latin typeface="Arial"/>
                <a:ea typeface="Arial"/>
                <a:cs typeface="Arial"/>
              </a:rPr>
              <a:t>83→15</a:t>
            </a:r>
          </a:p>
        </p:txBody>
      </p:sp>
      <p:sp>
        <p:nvSpPr>
          <p:cNvPr id="1025" name="Text 1025"/>
          <p:cNvSpPr txBox="1"/>
          <p:nvPr/>
        </p:nvSpPr>
        <p:spPr>
          <a:xfrm>
            <a:off x="15956280" y="3177540"/>
            <a:ext cx="17145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50" dirty="0">
                <a:solidFill>
                  <a:srgbClr val="C7D6EA"/>
                </a:solidFill>
                <a:latin typeface="Arial"/>
                <a:ea typeface="Arial"/>
                <a:cs typeface="Arial"/>
              </a:rPr>
              <a:t>MB per 6-frame</a:t>
            </a:r>
          </a:p>
          <a:p>
            <a:pPr algn="l">
              <a:buNone/>
            </a:pPr>
            <a:r>
              <a:rPr lang="en-IN" sz="1050" dirty="0">
                <a:solidFill>
                  <a:srgbClr val="C7D6EA"/>
                </a:solidFill>
                <a:latin typeface="Arial"/>
                <a:ea typeface="Arial"/>
                <a:cs typeface="Arial"/>
              </a:rPr>
              <a:t>AI window</a:t>
            </a:r>
          </a:p>
        </p:txBody>
      </p:sp>
      <p:sp>
        <p:nvSpPr>
          <p:cNvPr id="1026" name="Shape 1026"/>
          <p:cNvSpPr/>
          <p:nvPr/>
        </p:nvSpPr>
        <p:spPr>
          <a:xfrm>
            <a:off x="617220" y="3954780"/>
            <a:ext cx="11407140" cy="50292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7" name="Text 1027"/>
          <p:cNvSpPr txBox="1"/>
          <p:nvPr/>
        </p:nvSpPr>
        <p:spPr>
          <a:xfrm>
            <a:off x="777240" y="3954780"/>
            <a:ext cx="354330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</p:txBody>
      </p:sp>
      <p:sp>
        <p:nvSpPr>
          <p:cNvPr id="1028" name="Text 1028"/>
          <p:cNvSpPr txBox="1"/>
          <p:nvPr/>
        </p:nvSpPr>
        <p:spPr>
          <a:xfrm>
            <a:off x="4549140" y="3954780"/>
            <a:ext cx="98298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1029" name="Text 1029"/>
          <p:cNvSpPr txBox="1"/>
          <p:nvPr/>
        </p:nvSpPr>
        <p:spPr>
          <a:xfrm>
            <a:off x="5760720" y="3954780"/>
            <a:ext cx="98298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030" name="Text 1030"/>
          <p:cNvSpPr txBox="1"/>
          <p:nvPr/>
        </p:nvSpPr>
        <p:spPr>
          <a:xfrm>
            <a:off x="6972300" y="395478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Strategies for overcoming these challenges</a:t>
            </a:r>
          </a:p>
        </p:txBody>
      </p:sp>
      <p:sp>
        <p:nvSpPr>
          <p:cNvPr id="1031" name="Shape 1031"/>
          <p:cNvSpPr/>
          <p:nvPr/>
        </p:nvSpPr>
        <p:spPr>
          <a:xfrm>
            <a:off x="617220" y="4549140"/>
            <a:ext cx="11407140" cy="73152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2" name="Badge 1032"/>
          <p:cNvSpPr/>
          <p:nvPr/>
        </p:nvSpPr>
        <p:spPr>
          <a:xfrm>
            <a:off x="731520" y="4732020"/>
            <a:ext cx="365760" cy="36576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3" name="Text 1033"/>
          <p:cNvSpPr txBox="1"/>
          <p:nvPr/>
        </p:nvSpPr>
        <p:spPr>
          <a:xfrm>
            <a:off x="1188720" y="454914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Large satellite files (~24 MB each)</a:t>
            </a:r>
          </a:p>
        </p:txBody>
      </p:sp>
      <p:sp>
        <p:nvSpPr>
          <p:cNvPr id="1034" name="Pill 1034"/>
          <p:cNvSpPr/>
          <p:nvPr/>
        </p:nvSpPr>
        <p:spPr>
          <a:xfrm>
            <a:off x="4526280" y="476631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5" name="Text 1035"/>
          <p:cNvSpPr txBox="1"/>
          <p:nvPr/>
        </p:nvSpPr>
        <p:spPr>
          <a:xfrm>
            <a:off x="4526280" y="476631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036" name="Pill 1036"/>
          <p:cNvSpPr/>
          <p:nvPr/>
        </p:nvSpPr>
        <p:spPr>
          <a:xfrm>
            <a:off x="5737860" y="476631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7" name="Text 1037"/>
          <p:cNvSpPr txBox="1"/>
          <p:nvPr/>
        </p:nvSpPr>
        <p:spPr>
          <a:xfrm>
            <a:off x="5737860" y="476631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038" name="Text 1038"/>
          <p:cNvSpPr txBox="1"/>
          <p:nvPr/>
        </p:nvSpPr>
        <p:spPr>
          <a:xfrm>
            <a:off x="7200900" y="4549140"/>
            <a:ext cx="47320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uint8 transport, compression and frame caching</a:t>
            </a:r>
          </a:p>
        </p:txBody>
      </p:sp>
      <p:sp>
        <p:nvSpPr>
          <p:cNvPr id="1039" name="Shape 1039"/>
          <p:cNvSpPr/>
          <p:nvPr/>
        </p:nvSpPr>
        <p:spPr>
          <a:xfrm>
            <a:off x="617220" y="5372100"/>
            <a:ext cx="114071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0" name="Badge 1040"/>
          <p:cNvSpPr/>
          <p:nvPr/>
        </p:nvSpPr>
        <p:spPr>
          <a:xfrm>
            <a:off x="731520" y="5554980"/>
            <a:ext cx="365760" cy="36576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1" name="Text 1041"/>
          <p:cNvSpPr txBox="1"/>
          <p:nvPr/>
        </p:nvSpPr>
        <p:spPr>
          <a:xfrm>
            <a:off x="1188720" y="537210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Cloud imagery hides the cyclone centre</a:t>
            </a:r>
          </a:p>
        </p:txBody>
      </p:sp>
      <p:sp>
        <p:nvSpPr>
          <p:cNvPr id="1042" name="Pill 1042"/>
          <p:cNvSpPr/>
          <p:nvPr/>
        </p:nvSpPr>
        <p:spPr>
          <a:xfrm>
            <a:off x="4526280" y="558927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FEF6E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3" name="Text 1043"/>
          <p:cNvSpPr txBox="1"/>
          <p:nvPr/>
        </p:nvSpPr>
        <p:spPr>
          <a:xfrm>
            <a:off x="4526280" y="558927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044" name="Pill 1044"/>
          <p:cNvSpPr/>
          <p:nvPr/>
        </p:nvSpPr>
        <p:spPr>
          <a:xfrm>
            <a:off x="5737860" y="558927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5" name="Text 1045"/>
          <p:cNvSpPr txBox="1"/>
          <p:nvPr/>
        </p:nvSpPr>
        <p:spPr>
          <a:xfrm>
            <a:off x="5737860" y="558927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046" name="Text 1046"/>
          <p:cNvSpPr txBox="1"/>
          <p:nvPr/>
        </p:nvSpPr>
        <p:spPr>
          <a:xfrm>
            <a:off x="7200900" y="5372100"/>
            <a:ext cx="47320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Official tracks first; add rainfall (IMERG) data</a:t>
            </a:r>
          </a:p>
        </p:txBody>
      </p:sp>
      <p:sp>
        <p:nvSpPr>
          <p:cNvPr id="1047" name="Shape 1047"/>
          <p:cNvSpPr/>
          <p:nvPr/>
        </p:nvSpPr>
        <p:spPr>
          <a:xfrm>
            <a:off x="617220" y="6195060"/>
            <a:ext cx="11407140" cy="73152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8" name="Badge 1048"/>
          <p:cNvSpPr/>
          <p:nvPr/>
        </p:nvSpPr>
        <p:spPr>
          <a:xfrm>
            <a:off x="731520" y="6377940"/>
            <a:ext cx="365760" cy="36576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9" name="Text 1049"/>
          <p:cNvSpPr txBox="1"/>
          <p:nvPr/>
        </p:nvSpPr>
        <p:spPr>
          <a:xfrm>
            <a:off x="1188720" y="619506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False alarms from monsoon clouds</a:t>
            </a:r>
          </a:p>
        </p:txBody>
      </p:sp>
      <p:sp>
        <p:nvSpPr>
          <p:cNvPr id="1050" name="Pill 1050"/>
          <p:cNvSpPr/>
          <p:nvPr/>
        </p:nvSpPr>
        <p:spPr>
          <a:xfrm>
            <a:off x="4526280" y="641223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FEF6E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1" name="Text 1051"/>
          <p:cNvSpPr txBox="1"/>
          <p:nvPr/>
        </p:nvSpPr>
        <p:spPr>
          <a:xfrm>
            <a:off x="4526280" y="641223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052" name="Pill 1052"/>
          <p:cNvSpPr/>
          <p:nvPr/>
        </p:nvSpPr>
        <p:spPr>
          <a:xfrm>
            <a:off x="5737860" y="641223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FEF6E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3" name="Text 1053"/>
          <p:cNvSpPr txBox="1"/>
          <p:nvPr/>
        </p:nvSpPr>
        <p:spPr>
          <a:xfrm>
            <a:off x="5737860" y="641223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054" name="Text 1054"/>
          <p:cNvSpPr txBox="1"/>
          <p:nvPr/>
        </p:nvSpPr>
        <p:spPr>
          <a:xfrm>
            <a:off x="7200900" y="6195060"/>
            <a:ext cx="47320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Persistence, sea-temperature and organisation checks</a:t>
            </a:r>
          </a:p>
        </p:txBody>
      </p:sp>
      <p:sp>
        <p:nvSpPr>
          <p:cNvPr id="1055" name="Shape 1055"/>
          <p:cNvSpPr/>
          <p:nvPr/>
        </p:nvSpPr>
        <p:spPr>
          <a:xfrm>
            <a:off x="617220" y="7018020"/>
            <a:ext cx="114071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6" name="Badge 1056"/>
          <p:cNvSpPr/>
          <p:nvPr/>
        </p:nvSpPr>
        <p:spPr>
          <a:xfrm>
            <a:off x="731520" y="7200900"/>
            <a:ext cx="365760" cy="36576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7" name="Text 1057"/>
          <p:cNvSpPr txBox="1"/>
          <p:nvPr/>
        </p:nvSpPr>
        <p:spPr>
          <a:xfrm>
            <a:off x="1188720" y="701802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Delayed data</a:t>
            </a:r>
          </a:p>
        </p:txBody>
      </p:sp>
      <p:sp>
        <p:nvSpPr>
          <p:cNvPr id="1058" name="Pill 1058"/>
          <p:cNvSpPr/>
          <p:nvPr/>
        </p:nvSpPr>
        <p:spPr>
          <a:xfrm>
            <a:off x="4526280" y="723519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9" name="Text 1059"/>
          <p:cNvSpPr txBox="1"/>
          <p:nvPr/>
        </p:nvSpPr>
        <p:spPr>
          <a:xfrm>
            <a:off x="4526280" y="723519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060" name="Pill 1060"/>
          <p:cNvSpPr/>
          <p:nvPr/>
        </p:nvSpPr>
        <p:spPr>
          <a:xfrm>
            <a:off x="5737860" y="723519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FEF6E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1" name="Text 1061"/>
          <p:cNvSpPr txBox="1"/>
          <p:nvPr/>
        </p:nvSpPr>
        <p:spPr>
          <a:xfrm>
            <a:off x="5737860" y="723519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062" name="Text 1062"/>
          <p:cNvSpPr txBox="1"/>
          <p:nvPr/>
        </p:nvSpPr>
        <p:spPr>
          <a:xfrm>
            <a:off x="7200900" y="7018020"/>
            <a:ext cx="47320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Live health checks and a "data delayed" banner</a:t>
            </a:r>
          </a:p>
        </p:txBody>
      </p:sp>
      <p:sp>
        <p:nvSpPr>
          <p:cNvPr id="1063" name="Shape 1063"/>
          <p:cNvSpPr/>
          <p:nvPr/>
        </p:nvSpPr>
        <p:spPr>
          <a:xfrm>
            <a:off x="617220" y="7840980"/>
            <a:ext cx="11407140" cy="73152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4" name="Badge 1064"/>
          <p:cNvSpPr/>
          <p:nvPr/>
        </p:nvSpPr>
        <p:spPr>
          <a:xfrm>
            <a:off x="731520" y="8023860"/>
            <a:ext cx="365760" cy="36576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5" name="Text 1065"/>
          <p:cNvSpPr txBox="1"/>
          <p:nvPr/>
        </p:nvSpPr>
        <p:spPr>
          <a:xfrm>
            <a:off x="1188720" y="784098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Misinformation</a:t>
            </a:r>
          </a:p>
        </p:txBody>
      </p:sp>
      <p:sp>
        <p:nvSpPr>
          <p:cNvPr id="1066" name="Pill 1066"/>
          <p:cNvSpPr/>
          <p:nvPr/>
        </p:nvSpPr>
        <p:spPr>
          <a:xfrm>
            <a:off x="4526280" y="805815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7" name="Text 1067"/>
          <p:cNvSpPr txBox="1"/>
          <p:nvPr/>
        </p:nvSpPr>
        <p:spPr>
          <a:xfrm>
            <a:off x="4526280" y="805815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068" name="Pill 1068"/>
          <p:cNvSpPr/>
          <p:nvPr/>
        </p:nvSpPr>
        <p:spPr>
          <a:xfrm>
            <a:off x="5737860" y="8058150"/>
            <a:ext cx="960120" cy="29718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9" name="Text 1069"/>
          <p:cNvSpPr txBox="1"/>
          <p:nvPr/>
        </p:nvSpPr>
        <p:spPr>
          <a:xfrm>
            <a:off x="5737860" y="8058150"/>
            <a:ext cx="96012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070" name="Text 1070"/>
          <p:cNvSpPr txBox="1"/>
          <p:nvPr/>
        </p:nvSpPr>
        <p:spPr>
          <a:xfrm>
            <a:off x="7200900" y="7840980"/>
            <a:ext cx="47320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Official vs AI labels; users directed to IMD</a:t>
            </a:r>
          </a:p>
        </p:txBody>
      </p:sp>
      <p:sp>
        <p:nvSpPr>
          <p:cNvPr id="1071" name="Card 1071"/>
          <p:cNvSpPr/>
          <p:nvPr/>
        </p:nvSpPr>
        <p:spPr>
          <a:xfrm>
            <a:off x="12230100" y="3954780"/>
            <a:ext cx="5486400" cy="4617720"/>
          </a:xfrm>
          <a:prstGeom prst="roundRect">
            <a:avLst>
              <a:gd name="adj" fmla="val 9000"/>
            </a:avLst>
          </a:prstGeom>
          <a:solidFill>
            <a:srgbClr val="F6F9FD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72" name="Text 1072"/>
          <p:cNvSpPr txBox="1"/>
          <p:nvPr/>
        </p:nvSpPr>
        <p:spPr>
          <a:xfrm>
            <a:off x="12458700" y="4046220"/>
            <a:ext cx="5029200" cy="3429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Hard-fail data quality gate</a:t>
            </a:r>
          </a:p>
        </p:txBody>
      </p:sp>
      <p:sp>
        <p:nvSpPr>
          <p:cNvPr id="1073" name="Shape 1073"/>
          <p:cNvSpPr/>
          <p:nvPr/>
        </p:nvSpPr>
        <p:spPr>
          <a:xfrm>
            <a:off x="13030200" y="4480560"/>
            <a:ext cx="38862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0C0"/>
            </a:solidFill>
            <a:round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Raw satellite tensor · 4×1024×1024</a:t>
            </a:r>
          </a:p>
        </p:txBody>
      </p:sp>
      <p:cxnSp>
        <p:nvCxnSpPr>
          <p:cNvPr id="1074" name="Connector 1074"/>
          <p:cNvCxnSpPr/>
          <p:nvPr/>
        </p:nvCxnSpPr>
        <p:spPr>
          <a:xfrm>
            <a:off x="14973300" y="5029200"/>
            <a:ext cx="1" cy="251460"/>
          </a:xfrm>
          <a:prstGeom prst="line">
            <a:avLst/>
          </a:prstGeom>
          <a:ln w="22225">
            <a:solidFill>
              <a:srgbClr val="0070C0"/>
            </a:solidFill>
            <a:round/>
            <a:tailEnd type="triangle" w="med" len="med"/>
          </a:ln>
        </p:spPr>
      </p:cxnSp>
      <p:sp>
        <p:nvSpPr>
          <p:cNvPr id="1075" name="Shape 1075"/>
          <p:cNvSpPr/>
          <p:nvPr/>
        </p:nvSpPr>
        <p:spPr>
          <a:xfrm>
            <a:off x="13030200" y="5280660"/>
            <a:ext cx="38862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0C0"/>
            </a:solidFill>
            <a:round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2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Normalise 0–1 + variance check</a:t>
            </a:r>
          </a:p>
        </p:txBody>
      </p:sp>
      <p:cxnSp>
        <p:nvCxnSpPr>
          <p:cNvPr id="1076" name="Connector 1076"/>
          <p:cNvCxnSpPr/>
          <p:nvPr/>
        </p:nvCxnSpPr>
        <p:spPr>
          <a:xfrm>
            <a:off x="14973300" y="5829300"/>
            <a:ext cx="1" cy="228600"/>
          </a:xfrm>
          <a:prstGeom prst="line">
            <a:avLst/>
          </a:prstGeom>
          <a:ln w="22225">
            <a:solidFill>
              <a:srgbClr val="0070C0"/>
            </a:solidFill>
            <a:round/>
            <a:tailEnd type="triangle" w="med" len="med"/>
          </a:ln>
        </p:spPr>
      </p:cxnSp>
      <p:sp>
        <p:nvSpPr>
          <p:cNvPr id="1077" name="Shape 1077"/>
          <p:cNvSpPr/>
          <p:nvPr/>
        </p:nvSpPr>
        <p:spPr>
          <a:xfrm>
            <a:off x="13944600" y="6057900"/>
            <a:ext cx="2057400" cy="1097280"/>
          </a:xfrm>
          <a:prstGeom prst="diamond">
            <a:avLst/>
          </a:prstGeom>
          <a:solidFill>
            <a:srgbClr val="0070C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σ &gt; 0.02 ?</a:t>
            </a:r>
          </a:p>
        </p:txBody>
      </p:sp>
      <p:cxnSp>
        <p:nvCxnSpPr>
          <p:cNvPr id="1078" name="Connector 1078"/>
          <p:cNvCxnSpPr/>
          <p:nvPr/>
        </p:nvCxnSpPr>
        <p:spPr>
          <a:xfrm flipH="1">
            <a:off x="13258800" y="6606540"/>
            <a:ext cx="685800" cy="1"/>
          </a:xfrm>
          <a:prstGeom prst="line">
            <a:avLst/>
          </a:prstGeom>
          <a:ln w="25400">
            <a:solidFill>
              <a:srgbClr val="C62828"/>
            </a:solidFill>
            <a:round/>
          </a:ln>
        </p:spPr>
      </p:cxnSp>
      <p:cxnSp>
        <p:nvCxnSpPr>
          <p:cNvPr id="1079" name="Connector 1079"/>
          <p:cNvCxnSpPr/>
          <p:nvPr/>
        </p:nvCxnSpPr>
        <p:spPr>
          <a:xfrm>
            <a:off x="13258800" y="6606540"/>
            <a:ext cx="1" cy="800100"/>
          </a:xfrm>
          <a:prstGeom prst="line">
            <a:avLst/>
          </a:prstGeom>
          <a:ln w="25400">
            <a:solidFill>
              <a:srgbClr val="C62828"/>
            </a:solidFill>
            <a:round/>
            <a:tailEnd type="triangle" w="med" len="med"/>
          </a:ln>
        </p:spPr>
      </p:cxnSp>
      <p:cxnSp>
        <p:nvCxnSpPr>
          <p:cNvPr id="1080" name="Connector 1080"/>
          <p:cNvCxnSpPr/>
          <p:nvPr/>
        </p:nvCxnSpPr>
        <p:spPr>
          <a:xfrm>
            <a:off x="16002000" y="6606540"/>
            <a:ext cx="685800" cy="1"/>
          </a:xfrm>
          <a:prstGeom prst="line">
            <a:avLst/>
          </a:prstGeom>
          <a:ln w="25400">
            <a:solidFill>
              <a:srgbClr val="15803D"/>
            </a:solidFill>
            <a:round/>
          </a:ln>
        </p:spPr>
      </p:cxnSp>
      <p:cxnSp>
        <p:nvCxnSpPr>
          <p:cNvPr id="1081" name="Connector 1081"/>
          <p:cNvCxnSpPr/>
          <p:nvPr/>
        </p:nvCxnSpPr>
        <p:spPr>
          <a:xfrm>
            <a:off x="16687800" y="6606540"/>
            <a:ext cx="1" cy="800100"/>
          </a:xfrm>
          <a:prstGeom prst="line">
            <a:avLst/>
          </a:prstGeom>
          <a:ln w="25400">
            <a:solidFill>
              <a:srgbClr val="15803D"/>
            </a:solidFill>
            <a:round/>
            <a:tailEnd type="triangle" w="med" len="med"/>
          </a:ln>
        </p:spPr>
      </p:cxnSp>
      <p:sp>
        <p:nvSpPr>
          <p:cNvPr id="1082" name="Text 1082"/>
          <p:cNvSpPr txBox="1"/>
          <p:nvPr/>
        </p:nvSpPr>
        <p:spPr>
          <a:xfrm>
            <a:off x="13304520" y="6309360"/>
            <a:ext cx="571500" cy="2514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10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083" name="Text 1083"/>
          <p:cNvSpPr txBox="1"/>
          <p:nvPr/>
        </p:nvSpPr>
        <p:spPr>
          <a:xfrm>
            <a:off x="16116300" y="6309360"/>
            <a:ext cx="571500" cy="2514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1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084" name="Shape 1084"/>
          <p:cNvSpPr/>
          <p:nvPr/>
        </p:nvSpPr>
        <p:spPr>
          <a:xfrm>
            <a:off x="12458700" y="7406640"/>
            <a:ext cx="2263140" cy="960120"/>
          </a:xfrm>
          <a:prstGeom prst="roundRect">
            <a:avLst>
              <a:gd name="adj" fmla="val 14000"/>
            </a:avLst>
          </a:prstGeom>
          <a:solidFill>
            <a:srgbClr val="FDECEC"/>
          </a:solidFill>
          <a:ln w="19050">
            <a:solidFill>
              <a:srgbClr val="C62828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5" name="Text 1085"/>
          <p:cNvSpPr txBox="1"/>
          <p:nvPr/>
        </p:nvSpPr>
        <p:spPr>
          <a:xfrm>
            <a:off x="13121640" y="7406640"/>
            <a:ext cx="1554480" cy="9601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600" b="1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BLOCK</a:t>
            </a:r>
          </a:p>
          <a:p>
            <a:pPr algn="l">
              <a:buNone/>
            </a:pPr>
            <a:r>
              <a:rPr lang="en-IN" sz="1150" dirty="0">
                <a:solidFill>
                  <a:srgbClr val="C62828"/>
                </a:solidFill>
                <a:latin typeface="Arial"/>
                <a:ea typeface="Arial"/>
                <a:cs typeface="Arial"/>
              </a:rPr>
              <a:t>log + alert</a:t>
            </a:r>
          </a:p>
        </p:txBody>
      </p:sp>
      <p:sp>
        <p:nvSpPr>
          <p:cNvPr id="1086" name="Shape 1086"/>
          <p:cNvSpPr/>
          <p:nvPr/>
        </p:nvSpPr>
        <p:spPr>
          <a:xfrm>
            <a:off x="15224760" y="7406640"/>
            <a:ext cx="2263140" cy="960120"/>
          </a:xfrm>
          <a:prstGeom prst="roundRect">
            <a:avLst>
              <a:gd name="adj" fmla="val 14000"/>
            </a:avLst>
          </a:prstGeom>
          <a:solidFill>
            <a:srgbClr val="E7F6EC"/>
          </a:solidFill>
          <a:ln w="19050">
            <a:solidFill>
              <a:srgbClr val="15803D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7" name="Text 1087"/>
          <p:cNvSpPr txBox="1"/>
          <p:nvPr/>
        </p:nvSpPr>
        <p:spPr>
          <a:xfrm>
            <a:off x="15887700" y="7406640"/>
            <a:ext cx="1554480" cy="9601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6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PASS</a:t>
            </a:r>
          </a:p>
          <a:p>
            <a:pPr algn="l">
              <a:buNone/>
            </a:pPr>
            <a:r>
              <a:rPr lang="en-IN" sz="1150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to AI inference</a:t>
            </a:r>
          </a:p>
        </p:txBody>
      </p:sp>
      <p:sp>
        <p:nvSpPr>
          <p:cNvPr id="1088" name="Shape 1088"/>
          <p:cNvSpPr/>
          <p:nvPr/>
        </p:nvSpPr>
        <p:spPr>
          <a:xfrm>
            <a:off x="617220" y="8755380"/>
            <a:ext cx="17099280" cy="571500"/>
          </a:xfrm>
          <a:prstGeom prst="roundRect">
            <a:avLst>
              <a:gd name="adj" fmla="val 30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89" name="Text 1089"/>
          <p:cNvSpPr txBox="1"/>
          <p:nvPr/>
        </p:nvSpPr>
        <p:spPr>
          <a:xfrm>
            <a:off x="1211580" y="8755380"/>
            <a:ext cx="16230600" cy="5715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50" i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 xml:space="preserve">The architecture anticipates data failure, model-input failure, mobile performance limits and API limits — </a:t>
            </a:r>
            <a:r>
              <a:rPr lang="en-IN" sz="1350"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and says so on screen.</a:t>
            </a:r>
          </a:p>
        </p:txBody>
      </p:sp>
      <p:sp>
        <p:nvSpPr>
          <p:cNvPr id="1090" name="Footer tagline 1090"/>
          <p:cNvSpPr txBox="1"/>
          <p:nvPr/>
        </p:nvSpPr>
        <p:spPr>
          <a:xfrm>
            <a:off x="1165860" y="9555480"/>
            <a:ext cx="11430000" cy="6629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CYCLO-NEXUS</a:t>
            </a:r>
            <a:r>
              <a:rPr lang="en-IN" sz="1300" dirty="0">
                <a:solidFill>
                  <a:srgbClr val="A9CDEE"/>
                </a:solidFill>
                <a:latin typeface="Arial"/>
                <a:ea typeface="Arial"/>
                <a:cs typeface="Arial"/>
              </a:rPr>
              <a:t xml:space="preserve">   |   </a:t>
            </a:r>
            <a:r>
              <a:rPr lang="en-IN" sz="13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 on free public data, open source and free cloud tiers.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50" dirty="0">
                <a:solidFill>
                  <a:srgbClr val="CFE3F7"/>
                </a:solidFill>
                <a:latin typeface="Arial"/>
                <a:ea typeface="Arial"/>
                <a:cs typeface="Arial"/>
              </a:rPr>
              <a:t>Team Tikka Techies  ·  SIH26070  ·  Ministry of Earth Sciences  ·  Disaster Management</a:t>
            </a:r>
          </a:p>
        </p:txBody>
      </p:sp>
      <p:pic>
        <p:nvPicPr>
          <p:cNvPr id="1091" name="Picture 1091" descr="icon"/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699516" y="1819655"/>
            <a:ext cx="178308" cy="178308"/>
          </a:xfrm>
          <a:prstGeom prst="rect">
            <a:avLst/>
          </a:prstGeom>
          <a:ln>
            <a:noFill/>
          </a:ln>
        </p:spPr>
      </p:pic>
      <p:pic>
        <p:nvPicPr>
          <p:cNvPr id="1092" name="Picture 1092" descr="icon"/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936802" y="2514142"/>
            <a:ext cx="320954" cy="320954"/>
          </a:xfrm>
          <a:prstGeom prst="rect">
            <a:avLst/>
          </a:prstGeom>
          <a:ln>
            <a:noFill/>
          </a:ln>
        </p:spPr>
      </p:pic>
      <p:pic>
        <p:nvPicPr>
          <p:cNvPr id="1093" name="Picture 1093" descr="icon"/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4777282" y="2514142"/>
            <a:ext cx="320954" cy="320954"/>
          </a:xfrm>
          <a:prstGeom prst="rect">
            <a:avLst/>
          </a:prstGeom>
          <a:ln>
            <a:noFill/>
          </a:ln>
        </p:spPr>
      </p:pic>
      <p:pic>
        <p:nvPicPr>
          <p:cNvPr id="1094" name="Picture 1094" descr="icon"/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8617762" y="2514142"/>
            <a:ext cx="320954" cy="320954"/>
          </a:xfrm>
          <a:prstGeom prst="rect">
            <a:avLst/>
          </a:prstGeom>
          <a:ln>
            <a:noFill/>
          </a:ln>
        </p:spPr>
      </p:pic>
      <p:pic>
        <p:nvPicPr>
          <p:cNvPr id="1095" name="Picture 1095" descr="icon"/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2435840" y="2354580"/>
            <a:ext cx="274320" cy="274320"/>
          </a:xfrm>
          <a:prstGeom prst="rect">
            <a:avLst/>
          </a:prstGeom>
          <a:ln>
            <a:noFill/>
          </a:ln>
        </p:spPr>
      </p:pic>
      <p:pic>
        <p:nvPicPr>
          <p:cNvPr id="1096" name="Picture 1096" descr="icon"/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819302" y="4819802"/>
            <a:ext cx="190195" cy="190195"/>
          </a:xfrm>
          <a:prstGeom prst="rect">
            <a:avLst/>
          </a:prstGeom>
          <a:ln>
            <a:noFill/>
          </a:ln>
        </p:spPr>
      </p:pic>
      <p:pic>
        <p:nvPicPr>
          <p:cNvPr id="1097" name="Picture 1097" descr="icon"/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6926580" y="4812030"/>
            <a:ext cx="205740" cy="205740"/>
          </a:xfrm>
          <a:prstGeom prst="rect">
            <a:avLst/>
          </a:prstGeom>
          <a:ln>
            <a:noFill/>
          </a:ln>
        </p:spPr>
      </p:pic>
      <p:pic>
        <p:nvPicPr>
          <p:cNvPr id="1098" name="Picture 1098" descr="icon"/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819302" y="5642762"/>
            <a:ext cx="190195" cy="190195"/>
          </a:xfrm>
          <a:prstGeom prst="rect">
            <a:avLst/>
          </a:prstGeom>
          <a:ln>
            <a:noFill/>
          </a:ln>
        </p:spPr>
      </p:pic>
      <p:pic>
        <p:nvPicPr>
          <p:cNvPr id="1099" name="Picture 1099" descr="icon"/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6926580" y="5634990"/>
            <a:ext cx="205740" cy="205740"/>
          </a:xfrm>
          <a:prstGeom prst="rect">
            <a:avLst/>
          </a:prstGeom>
          <a:ln>
            <a:noFill/>
          </a:ln>
        </p:spPr>
      </p:pic>
      <p:pic>
        <p:nvPicPr>
          <p:cNvPr id="1100" name="Picture 1100" descr="icon"/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819302" y="6465722"/>
            <a:ext cx="190195" cy="190195"/>
          </a:xfrm>
          <a:prstGeom prst="rect">
            <a:avLst/>
          </a:prstGeom>
          <a:ln>
            <a:noFill/>
          </a:ln>
        </p:spPr>
      </p:pic>
      <p:pic>
        <p:nvPicPr>
          <p:cNvPr id="1101" name="Picture 1101" descr="icon"/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6926580" y="6457950"/>
            <a:ext cx="205740" cy="205740"/>
          </a:xfrm>
          <a:prstGeom prst="rect">
            <a:avLst/>
          </a:prstGeom>
          <a:ln>
            <a:noFill/>
          </a:ln>
        </p:spPr>
      </p:pic>
      <p:pic>
        <p:nvPicPr>
          <p:cNvPr id="1102" name="Picture 1102" descr="icon"/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819302" y="7288682"/>
            <a:ext cx="190195" cy="190195"/>
          </a:xfrm>
          <a:prstGeom prst="rect">
            <a:avLst/>
          </a:prstGeom>
          <a:ln>
            <a:noFill/>
          </a:ln>
        </p:spPr>
      </p:pic>
      <p:pic>
        <p:nvPicPr>
          <p:cNvPr id="1103" name="Picture 1103" descr="icon"/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6926580" y="7280910"/>
            <a:ext cx="205740" cy="205740"/>
          </a:xfrm>
          <a:prstGeom prst="rect">
            <a:avLst/>
          </a:prstGeom>
          <a:ln>
            <a:noFill/>
          </a:ln>
        </p:spPr>
      </p:pic>
      <p:pic>
        <p:nvPicPr>
          <p:cNvPr id="1104" name="Picture 1104" descr="icon"/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819302" y="8111642"/>
            <a:ext cx="190195" cy="190195"/>
          </a:xfrm>
          <a:prstGeom prst="rect">
            <a:avLst/>
          </a:prstGeom>
          <a:ln>
            <a:noFill/>
          </a:ln>
        </p:spPr>
      </p:pic>
      <p:pic>
        <p:nvPicPr>
          <p:cNvPr id="1105" name="Picture 1105" descr="icon"/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6926580" y="8103870"/>
            <a:ext cx="205740" cy="205740"/>
          </a:xfrm>
          <a:prstGeom prst="rect">
            <a:avLst/>
          </a:prstGeom>
          <a:ln>
            <a:noFill/>
          </a:ln>
        </p:spPr>
      </p:pic>
      <p:pic>
        <p:nvPicPr>
          <p:cNvPr id="1106" name="Picture 1106" descr="icon"/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12641580" y="7680960"/>
            <a:ext cx="388620" cy="388620"/>
          </a:xfrm>
          <a:prstGeom prst="rect">
            <a:avLst/>
          </a:prstGeom>
          <a:ln>
            <a:noFill/>
          </a:ln>
        </p:spPr>
      </p:pic>
      <p:pic>
        <p:nvPicPr>
          <p:cNvPr id="1107" name="Picture 1107" descr="icon"/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15407640" y="7680960"/>
            <a:ext cx="388620" cy="388620"/>
          </a:xfrm>
          <a:prstGeom prst="rect">
            <a:avLst/>
          </a:prstGeom>
          <a:ln>
            <a:noFill/>
          </a:ln>
        </p:spPr>
      </p:pic>
      <p:pic>
        <p:nvPicPr>
          <p:cNvPr id="1108" name="Picture 1108" descr="icon"/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822960" y="8903970"/>
            <a:ext cx="274320" cy="274320"/>
          </a:xfrm>
          <a:prstGeom prst="rect">
            <a:avLst/>
          </a:prstGeom>
          <a:ln>
            <a:noFill/>
          </a:ln>
        </p:spPr>
      </p:pic>
      <p:pic>
        <p:nvPicPr>
          <p:cNvPr id="1109" name="Picture 1109" descr="icon"/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617220" y="9669780"/>
            <a:ext cx="434340" cy="4343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219" y="-71276"/>
            <a:ext cx="16458124" cy="1713424"/>
            <a:chOff x="0" y="0"/>
            <a:chExt cx="21944165" cy="2284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160" cy="2284560"/>
            </a:xfrm>
            <a:custGeom>
              <a:avLst/>
              <a:gdLst/>
              <a:ahLst/>
              <a:cxnLst/>
              <a:rect r="r" b="b" t="t" l="l"/>
              <a:pathLst>
                <a:path h="2284560" w="21944160">
                  <a:moveTo>
                    <a:pt x="0" y="0"/>
                  </a:moveTo>
                  <a:lnTo>
                    <a:pt x="21944160" y="0"/>
                  </a:lnTo>
                  <a:lnTo>
                    <a:pt x="21944160" y="2284560"/>
                  </a:lnTo>
                  <a:lnTo>
                    <a:pt x="0" y="228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61" r="0" b="-1371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4165" cy="2313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sp>
        <p:nvSpPr>
          <p:cNvPr id="1001" name="Badge 1001"/>
          <p:cNvSpPr/>
          <p:nvPr/>
        </p:nvSpPr>
        <p:spPr>
          <a:xfrm>
            <a:off x="617220" y="1737360"/>
            <a:ext cx="342900" cy="3429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2" name="Heading 1002"/>
          <p:cNvSpPr txBox="1"/>
          <p:nvPr/>
        </p:nvSpPr>
        <p:spPr>
          <a:xfrm>
            <a:off x="1074420" y="1714500"/>
            <a:ext cx="10972800" cy="3886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9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</p:txBody>
      </p:sp>
      <p:sp>
        <p:nvSpPr>
          <p:cNvPr id="1003" name="Card 1003"/>
          <p:cNvSpPr/>
          <p:nvPr/>
        </p:nvSpPr>
        <p:spPr>
          <a:xfrm>
            <a:off x="617220" y="2194560"/>
            <a:ext cx="41605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4" name="Badge 1004"/>
          <p:cNvSpPr/>
          <p:nvPr/>
        </p:nvSpPr>
        <p:spPr>
          <a:xfrm>
            <a:off x="800100" y="2491740"/>
            <a:ext cx="640080" cy="64008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5" name="Text 1005"/>
          <p:cNvSpPr txBox="1"/>
          <p:nvPr/>
        </p:nvSpPr>
        <p:spPr>
          <a:xfrm>
            <a:off x="1577340" y="22860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3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11,098 km</a:t>
            </a:r>
          </a:p>
        </p:txBody>
      </p:sp>
      <p:sp>
        <p:nvSpPr>
          <p:cNvPr id="1006" name="Text 1006"/>
          <p:cNvSpPr txBox="1"/>
          <p:nvPr/>
        </p:nvSpPr>
        <p:spPr>
          <a:xfrm>
            <a:off x="1577340" y="2903220"/>
            <a:ext cx="310896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India's coastline</a:t>
            </a:r>
          </a:p>
        </p:txBody>
      </p:sp>
      <p:sp>
        <p:nvSpPr>
          <p:cNvPr id="1007" name="Text 1007"/>
          <p:cNvSpPr txBox="1"/>
          <p:nvPr/>
        </p:nvSpPr>
        <p:spPr>
          <a:xfrm>
            <a:off x="1577340" y="32004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050" i="1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MoPSW revision, Apr 2025</a:t>
            </a:r>
          </a:p>
        </p:txBody>
      </p:sp>
      <p:sp>
        <p:nvSpPr>
          <p:cNvPr id="1008" name="Card 1008"/>
          <p:cNvSpPr/>
          <p:nvPr/>
        </p:nvSpPr>
        <p:spPr>
          <a:xfrm>
            <a:off x="4937760" y="2194560"/>
            <a:ext cx="41605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9" name="Badge 1009"/>
          <p:cNvSpPr/>
          <p:nvPr/>
        </p:nvSpPr>
        <p:spPr>
          <a:xfrm>
            <a:off x="5120640" y="2491740"/>
            <a:ext cx="640080" cy="640080"/>
          </a:xfrm>
          <a:prstGeom prst="ellipse">
            <a:avLst/>
          </a:prstGeom>
          <a:solidFill>
            <a:srgbClr val="0E7490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0" name="Text 1010"/>
          <p:cNvSpPr txBox="1"/>
          <p:nvPr/>
        </p:nvSpPr>
        <p:spPr>
          <a:xfrm>
            <a:off x="5897880" y="22860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3000" b="1" dirty="0">
                <a:solidFill>
                  <a:srgbClr val="0E7490"/>
                </a:solidFill>
                <a:latin typeface="Arial"/>
                <a:ea typeface="Arial"/>
                <a:cs typeface="Arial"/>
              </a:rPr>
              <a:t>3.77 million</a:t>
            </a:r>
          </a:p>
        </p:txBody>
      </p:sp>
      <p:sp>
        <p:nvSpPr>
          <p:cNvPr id="1011" name="Text 1011"/>
          <p:cNvSpPr txBox="1"/>
          <p:nvPr/>
        </p:nvSpPr>
        <p:spPr>
          <a:xfrm>
            <a:off x="5897880" y="2903220"/>
            <a:ext cx="310896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marine fisherfolk</a:t>
            </a:r>
          </a:p>
        </p:txBody>
      </p:sp>
      <p:sp>
        <p:nvSpPr>
          <p:cNvPr id="1012" name="Text 1012"/>
          <p:cNvSpPr txBox="1"/>
          <p:nvPr/>
        </p:nvSpPr>
        <p:spPr>
          <a:xfrm>
            <a:off x="5897880" y="32004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050" i="1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CMFRI census 2016</a:t>
            </a:r>
          </a:p>
        </p:txBody>
      </p:sp>
      <p:sp>
        <p:nvSpPr>
          <p:cNvPr id="1013" name="Card 1013"/>
          <p:cNvSpPr/>
          <p:nvPr/>
        </p:nvSpPr>
        <p:spPr>
          <a:xfrm>
            <a:off x="9258300" y="2194560"/>
            <a:ext cx="41605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4" name="Badge 1014"/>
          <p:cNvSpPr/>
          <p:nvPr/>
        </p:nvSpPr>
        <p:spPr>
          <a:xfrm>
            <a:off x="9441180" y="24917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5" name="Text 1015"/>
          <p:cNvSpPr txBox="1"/>
          <p:nvPr/>
        </p:nvSpPr>
        <p:spPr>
          <a:xfrm>
            <a:off x="10218420" y="22860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30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~30%</a:t>
            </a:r>
          </a:p>
        </p:txBody>
      </p:sp>
      <p:sp>
        <p:nvSpPr>
          <p:cNvPr id="1016" name="Text 1016"/>
          <p:cNvSpPr txBox="1"/>
          <p:nvPr/>
        </p:nvSpPr>
        <p:spPr>
          <a:xfrm>
            <a:off x="10218420" y="2903220"/>
            <a:ext cx="310896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less damage with a 24 h warning</a:t>
            </a:r>
          </a:p>
        </p:txBody>
      </p:sp>
      <p:sp>
        <p:nvSpPr>
          <p:cNvPr id="1017" name="Text 1017"/>
          <p:cNvSpPr txBox="1"/>
          <p:nvPr/>
        </p:nvSpPr>
        <p:spPr>
          <a:xfrm>
            <a:off x="10218420" y="32004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050" i="1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Global Commission on Adaptation</a:t>
            </a:r>
          </a:p>
        </p:txBody>
      </p:sp>
      <p:sp>
        <p:nvSpPr>
          <p:cNvPr id="1018" name="Card 1018"/>
          <p:cNvSpPr/>
          <p:nvPr/>
        </p:nvSpPr>
        <p:spPr>
          <a:xfrm>
            <a:off x="13578840" y="2194560"/>
            <a:ext cx="41605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9" name="Badge 1019"/>
          <p:cNvSpPr/>
          <p:nvPr/>
        </p:nvSpPr>
        <p:spPr>
          <a:xfrm>
            <a:off x="13761720" y="2491740"/>
            <a:ext cx="640080" cy="640080"/>
          </a:xfrm>
          <a:prstGeom prst="ellipse">
            <a:avLst/>
          </a:prstGeom>
          <a:solidFill>
            <a:srgbClr val="15803D"/>
          </a:solidFill>
          <a:ln>
            <a:noFill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0" name="Text 1020"/>
          <p:cNvSpPr txBox="1"/>
          <p:nvPr/>
        </p:nvSpPr>
        <p:spPr>
          <a:xfrm>
            <a:off x="14538960" y="22860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30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~1 million</a:t>
            </a:r>
          </a:p>
        </p:txBody>
      </p:sp>
      <p:sp>
        <p:nvSpPr>
          <p:cNvPr id="1021" name="Text 1021"/>
          <p:cNvSpPr txBox="1"/>
          <p:nvPr/>
        </p:nvSpPr>
        <p:spPr>
          <a:xfrm>
            <a:off x="14538960" y="2903220"/>
            <a:ext cx="3108960" cy="2971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3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evacuated for Cyclone Phailin</a:t>
            </a:r>
          </a:p>
        </p:txBody>
      </p:sp>
      <p:sp>
        <p:nvSpPr>
          <p:cNvPr id="1022" name="Text 1022"/>
          <p:cNvSpPr txBox="1"/>
          <p:nvPr/>
        </p:nvSpPr>
        <p:spPr>
          <a:xfrm>
            <a:off x="14538960" y="32004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050" i="1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Odisha, 2013 (World Bank)</a:t>
            </a:r>
          </a:p>
        </p:txBody>
      </p:sp>
      <p:sp>
        <p:nvSpPr>
          <p:cNvPr id="1023" name="Text 1023"/>
          <p:cNvSpPr txBox="1"/>
          <p:nvPr/>
        </p:nvSpPr>
        <p:spPr>
          <a:xfrm>
            <a:off x="617220" y="379476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4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Target users:</a:t>
            </a:r>
          </a:p>
        </p:txBody>
      </p:sp>
      <p:sp>
        <p:nvSpPr>
          <p:cNvPr id="1024" name="Pill 1024"/>
          <p:cNvSpPr/>
          <p:nvPr/>
        </p:nvSpPr>
        <p:spPr>
          <a:xfrm>
            <a:off x="2171700" y="3794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5" name="Text 1025"/>
          <p:cNvSpPr txBox="1"/>
          <p:nvPr/>
        </p:nvSpPr>
        <p:spPr>
          <a:xfrm>
            <a:off x="2514600" y="379476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Coastal residents</a:t>
            </a:r>
          </a:p>
        </p:txBody>
      </p:sp>
      <p:sp>
        <p:nvSpPr>
          <p:cNvPr id="1026" name="Pill 1026"/>
          <p:cNvSpPr/>
          <p:nvPr/>
        </p:nvSpPr>
        <p:spPr>
          <a:xfrm>
            <a:off x="4594860" y="3794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7" name="Text 1027"/>
          <p:cNvSpPr txBox="1"/>
          <p:nvPr/>
        </p:nvSpPr>
        <p:spPr>
          <a:xfrm>
            <a:off x="4937760" y="379476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Fisherfolk</a:t>
            </a:r>
          </a:p>
        </p:txBody>
      </p:sp>
      <p:sp>
        <p:nvSpPr>
          <p:cNvPr id="1028" name="Pill 1028"/>
          <p:cNvSpPr/>
          <p:nvPr/>
        </p:nvSpPr>
        <p:spPr>
          <a:xfrm>
            <a:off x="7018020" y="3794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9" name="Text 1029"/>
          <p:cNvSpPr txBox="1"/>
          <p:nvPr/>
        </p:nvSpPr>
        <p:spPr>
          <a:xfrm>
            <a:off x="7360920" y="379476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Disaster officials</a:t>
            </a:r>
          </a:p>
        </p:txBody>
      </p:sp>
      <p:sp>
        <p:nvSpPr>
          <p:cNvPr id="1030" name="Pill 1030"/>
          <p:cNvSpPr/>
          <p:nvPr/>
        </p:nvSpPr>
        <p:spPr>
          <a:xfrm>
            <a:off x="9441180" y="3794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EF5FC"/>
          </a:solidFill>
          <a:ln w="12700">
            <a:solidFill>
              <a:srgbClr val="D5E2F1"/>
            </a:solidFill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1" name="Text 1031"/>
          <p:cNvSpPr txBox="1"/>
          <p:nvPr/>
        </p:nvSpPr>
        <p:spPr>
          <a:xfrm>
            <a:off x="9784080" y="379476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Researchers</a:t>
            </a:r>
          </a:p>
        </p:txBody>
      </p:sp>
      <p:sp>
        <p:nvSpPr>
          <p:cNvPr id="1032" name="Badge 1032"/>
          <p:cNvSpPr/>
          <p:nvPr/>
        </p:nvSpPr>
        <p:spPr>
          <a:xfrm>
            <a:off x="617220" y="4434840"/>
            <a:ext cx="342900" cy="3429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3" name="Heading 1033"/>
          <p:cNvSpPr txBox="1"/>
          <p:nvPr/>
        </p:nvSpPr>
        <p:spPr>
          <a:xfrm>
            <a:off x="1074420" y="4411980"/>
            <a:ext cx="10972800" cy="3886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9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1034" name="Card 1034"/>
          <p:cNvSpPr/>
          <p:nvPr/>
        </p:nvSpPr>
        <p:spPr>
          <a:xfrm>
            <a:off x="617220" y="4892040"/>
            <a:ext cx="3817620" cy="3794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5" name="Shape 1035"/>
          <p:cNvSpPr/>
          <p:nvPr/>
        </p:nvSpPr>
        <p:spPr>
          <a:xfrm>
            <a:off x="617220" y="4892040"/>
            <a:ext cx="3817620" cy="80010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6" name="Shape 1036"/>
          <p:cNvSpPr/>
          <p:nvPr/>
        </p:nvSpPr>
        <p:spPr>
          <a:xfrm>
            <a:off x="617220" y="5372100"/>
            <a:ext cx="381762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7" name="Badge 1037"/>
          <p:cNvSpPr/>
          <p:nvPr/>
        </p:nvSpPr>
        <p:spPr>
          <a:xfrm>
            <a:off x="800100" y="504063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8" name="Text 1038"/>
          <p:cNvSpPr txBox="1"/>
          <p:nvPr/>
        </p:nvSpPr>
        <p:spPr>
          <a:xfrm>
            <a:off x="1417320" y="4892040"/>
            <a:ext cx="2926080" cy="8001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Social</a:t>
            </a:r>
          </a:p>
        </p:txBody>
      </p:sp>
      <p:sp>
        <p:nvSpPr>
          <p:cNvPr id="1039" name="Text 1039"/>
          <p:cNvSpPr txBox="1"/>
          <p:nvPr/>
        </p:nvSpPr>
        <p:spPr>
          <a:xfrm>
            <a:off x="868680" y="5852160"/>
            <a:ext cx="3383280" cy="18288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 marL="160020" indent="-160020">
              <a:spcAft>
                <a:spcPts val="800"/>
              </a:spcAft>
              <a:buClr>
                <a:srgbClr val="0070C0"/>
              </a:buClr>
              <a:buFont typeface="Arial"/>
              <a:buChar char="•"/>
            </a:pPr>
            <a:r>
              <a:rPr lang="en-IN" sz="13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Earlier warnings in local language save lives</a:t>
            </a:r>
          </a:p>
          <a:p>
            <a:pPr algn="l" marL="160020" indent="-160020">
              <a:spcAft>
                <a:spcPts val="800"/>
              </a:spcAft>
              <a:buClr>
                <a:srgbClr val="0070C0"/>
              </a:buClr>
              <a:buFont typeface="Arial"/>
              <a:buChar char="•"/>
            </a:pPr>
            <a:r>
              <a:rPr lang="en-IN" sz="13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Phailin (2013): ~1 million evacuated; deaths far below the ~10,000 of 1999</a:t>
            </a:r>
          </a:p>
          <a:p>
            <a:pPr algn="l" marL="160020" indent="-160020">
              <a:spcAft>
                <a:spcPts val="800"/>
              </a:spcAft>
              <a:buClr>
                <a:srgbClr val="0070C0"/>
              </a:buClr>
              <a:buFont typeface="Arial"/>
              <a:buChar char="•"/>
            </a:pPr>
            <a:r>
              <a:rPr lang="en-IN" sz="13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Alerts reach any phone or browser</a:t>
            </a:r>
          </a:p>
        </p:txBody>
      </p:sp>
      <p:sp>
        <p:nvSpPr>
          <p:cNvPr id="1040" name="Shape 1040"/>
          <p:cNvSpPr/>
          <p:nvPr/>
        </p:nvSpPr>
        <p:spPr>
          <a:xfrm>
            <a:off x="822960" y="7680960"/>
            <a:ext cx="3406140" cy="845820"/>
          </a:xfrm>
          <a:prstGeom prst="roundRect">
            <a:avLst>
              <a:gd name="adj" fmla="val 16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1" name="Text 1041"/>
          <p:cNvSpPr txBox="1"/>
          <p:nvPr/>
        </p:nvSpPr>
        <p:spPr>
          <a:xfrm>
            <a:off x="982980" y="7680960"/>
            <a:ext cx="3108960" cy="8458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20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~1 million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people evacuated before Cyclone Phailin (2013)</a:t>
            </a:r>
          </a:p>
        </p:txBody>
      </p:sp>
      <p:sp>
        <p:nvSpPr>
          <p:cNvPr id="1042" name="Card 1042"/>
          <p:cNvSpPr/>
          <p:nvPr/>
        </p:nvSpPr>
        <p:spPr>
          <a:xfrm>
            <a:off x="4572000" y="4892040"/>
            <a:ext cx="3817620" cy="3794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3" name="Shape 1043"/>
          <p:cNvSpPr/>
          <p:nvPr/>
        </p:nvSpPr>
        <p:spPr>
          <a:xfrm>
            <a:off x="4572000" y="4892040"/>
            <a:ext cx="3817620" cy="800100"/>
          </a:xfrm>
          <a:prstGeom prst="roundRect">
            <a:avLst>
              <a:gd name="adj" fmla="val 14000"/>
            </a:avLst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4" name="Shape 1044"/>
          <p:cNvSpPr/>
          <p:nvPr/>
        </p:nvSpPr>
        <p:spPr>
          <a:xfrm>
            <a:off x="4572000" y="5372100"/>
            <a:ext cx="3817620" cy="3200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5" name="Badge 1045"/>
          <p:cNvSpPr/>
          <p:nvPr/>
        </p:nvSpPr>
        <p:spPr>
          <a:xfrm>
            <a:off x="4754880" y="504063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6" name="Text 1046"/>
          <p:cNvSpPr txBox="1"/>
          <p:nvPr/>
        </p:nvSpPr>
        <p:spPr>
          <a:xfrm>
            <a:off x="5372100" y="4892040"/>
            <a:ext cx="2926080" cy="8001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Economic and livelihood</a:t>
            </a:r>
          </a:p>
        </p:txBody>
      </p:sp>
      <p:sp>
        <p:nvSpPr>
          <p:cNvPr id="1047" name="Text 1047"/>
          <p:cNvSpPr txBox="1"/>
          <p:nvPr/>
        </p:nvSpPr>
        <p:spPr>
          <a:xfrm>
            <a:off x="4823460" y="5852160"/>
            <a:ext cx="3383280" cy="18288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 marL="160020" indent="-160020">
              <a:spcAft>
                <a:spcPts val="800"/>
              </a:spcAft>
              <a:buClr>
                <a:srgbClr val="F28C28"/>
              </a:buClr>
              <a:buFont typeface="Arial"/>
              <a:buChar char="•"/>
            </a:pPr>
            <a:r>
              <a:rPr lang="en-IN" sz="13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 24 h warning can cut damage by ~30%</a:t>
            </a:r>
          </a:p>
          <a:p>
            <a:pPr algn="l" marL="160020" indent="-160020">
              <a:spcAft>
                <a:spcPts val="800"/>
              </a:spcAft>
              <a:buClr>
                <a:srgbClr val="F28C28"/>
              </a:buClr>
              <a:buFont typeface="Arial"/>
              <a:buChar char="•"/>
            </a:pPr>
            <a:r>
              <a:rPr lang="en-IN" sz="13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Amphan (2020): ~US$14 billion (≈ ₹1 lakh crore) losses in India</a:t>
            </a:r>
          </a:p>
          <a:p>
            <a:pPr algn="l" marL="160020" indent="-160020">
              <a:spcAft>
                <a:spcPts val="800"/>
              </a:spcAft>
              <a:buClr>
                <a:srgbClr val="F28C28"/>
              </a:buClr>
              <a:buFont typeface="Arial"/>
              <a:buChar char="•"/>
            </a:pPr>
            <a:r>
              <a:rPr lang="en-IN" sz="13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"Do not go to sea" alerts protect boats and nets</a:t>
            </a:r>
          </a:p>
        </p:txBody>
      </p:sp>
      <p:sp>
        <p:nvSpPr>
          <p:cNvPr id="1048" name="Shape 1048"/>
          <p:cNvSpPr/>
          <p:nvPr/>
        </p:nvSpPr>
        <p:spPr>
          <a:xfrm>
            <a:off x="4777740" y="7680960"/>
            <a:ext cx="3406140" cy="845820"/>
          </a:xfrm>
          <a:prstGeom prst="roundRect">
            <a:avLst>
              <a:gd name="adj" fmla="val 16000"/>
            </a:avLst>
          </a:prstGeom>
          <a:solidFill>
            <a:srgbClr val="FEF1E4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49" name="Text 1049"/>
          <p:cNvSpPr txBox="1"/>
          <p:nvPr/>
        </p:nvSpPr>
        <p:spPr>
          <a:xfrm>
            <a:off x="4937760" y="7680960"/>
            <a:ext cx="3108960" cy="8458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20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~US$14 billion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Amphan (2020) losses in India — WMO 2020</a:t>
            </a:r>
          </a:p>
        </p:txBody>
      </p:sp>
      <p:sp>
        <p:nvSpPr>
          <p:cNvPr id="1050" name="Card 1050"/>
          <p:cNvSpPr/>
          <p:nvPr/>
        </p:nvSpPr>
        <p:spPr>
          <a:xfrm>
            <a:off x="8526780" y="4892040"/>
            <a:ext cx="3817620" cy="3794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1" name="Shape 1051"/>
          <p:cNvSpPr/>
          <p:nvPr/>
        </p:nvSpPr>
        <p:spPr>
          <a:xfrm>
            <a:off x="8526780" y="4892040"/>
            <a:ext cx="3817620" cy="800100"/>
          </a:xfrm>
          <a:prstGeom prst="roundRect">
            <a:avLst>
              <a:gd name="adj" fmla="val 14000"/>
            </a:avLst>
          </a:prstGeom>
          <a:solidFill>
            <a:srgbClr val="15803D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2" name="Shape 1052"/>
          <p:cNvSpPr/>
          <p:nvPr/>
        </p:nvSpPr>
        <p:spPr>
          <a:xfrm>
            <a:off x="8526780" y="5372100"/>
            <a:ext cx="3817620" cy="320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3" name="Badge 1053"/>
          <p:cNvSpPr/>
          <p:nvPr/>
        </p:nvSpPr>
        <p:spPr>
          <a:xfrm>
            <a:off x="8709660" y="504063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4" name="Text 1054"/>
          <p:cNvSpPr txBox="1"/>
          <p:nvPr/>
        </p:nvSpPr>
        <p:spPr>
          <a:xfrm>
            <a:off x="9326880" y="4892040"/>
            <a:ext cx="2926080" cy="8001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Environmental</a:t>
            </a:r>
          </a:p>
        </p:txBody>
      </p:sp>
      <p:sp>
        <p:nvSpPr>
          <p:cNvPr id="1055" name="Text 1055"/>
          <p:cNvSpPr txBox="1"/>
          <p:nvPr/>
        </p:nvSpPr>
        <p:spPr>
          <a:xfrm>
            <a:off x="8778240" y="5852160"/>
            <a:ext cx="3383280" cy="18288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 marL="160020" indent="-160020">
              <a:spcAft>
                <a:spcPts val="800"/>
              </a:spcAft>
              <a:buClr>
                <a:srgbClr val="15803D"/>
              </a:buClr>
              <a:buFont typeface="Arial"/>
              <a:buChar char="•"/>
            </a:pPr>
            <a:r>
              <a:rPr lang="en-IN" sz="13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Rainfall hot-spot tracking supports flood preparedness</a:t>
            </a:r>
          </a:p>
          <a:p>
            <a:pPr algn="l" marL="160020" indent="-160020">
              <a:spcAft>
                <a:spcPts val="800"/>
              </a:spcAft>
              <a:buClr>
                <a:srgbClr val="15803D"/>
              </a:buClr>
              <a:buFont typeface="Arial"/>
              <a:buChar char="•"/>
            </a:pPr>
            <a:r>
              <a:rPr lang="en-IN" sz="13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People-in-path estimates guide evacuation and relief</a:t>
            </a:r>
          </a:p>
          <a:p>
            <a:pPr algn="l" marL="160020" indent="-160020">
              <a:spcAft>
                <a:spcPts val="800"/>
              </a:spcAft>
              <a:buClr>
                <a:srgbClr val="15803D"/>
              </a:buClr>
              <a:buFont typeface="Arial"/>
              <a:buChar char="•"/>
            </a:pPr>
            <a:r>
              <a:rPr lang="en-IN" sz="13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Open data supports climate research</a:t>
            </a:r>
          </a:p>
        </p:txBody>
      </p:sp>
      <p:sp>
        <p:nvSpPr>
          <p:cNvPr id="1056" name="Shape 1056"/>
          <p:cNvSpPr/>
          <p:nvPr/>
        </p:nvSpPr>
        <p:spPr>
          <a:xfrm>
            <a:off x="8732520" y="7680960"/>
            <a:ext cx="3406140" cy="845820"/>
          </a:xfrm>
          <a:prstGeom prst="roundRect">
            <a:avLst>
              <a:gd name="adj" fmla="val 16000"/>
            </a:avLst>
          </a:prstGeom>
          <a:solidFill>
            <a:srgbClr val="E7F6E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7" name="Text 1057"/>
          <p:cNvSpPr txBox="1"/>
          <p:nvPr/>
        </p:nvSpPr>
        <p:spPr>
          <a:xfrm>
            <a:off x="8892540" y="7680960"/>
            <a:ext cx="3108960" cy="8458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2000" b="1" dirty="0">
                <a:solidFill>
                  <a:srgbClr val="15803D"/>
                </a:solidFill>
                <a:latin typeface="Arial"/>
                <a:ea typeface="Arial"/>
                <a:cs typeface="Arial"/>
              </a:rPr>
              <a:t>Every 30 min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rainfall hot-spots refreshed from NASA IMERG</a:t>
            </a:r>
          </a:p>
        </p:txBody>
      </p:sp>
      <p:sp>
        <p:nvSpPr>
          <p:cNvPr id="1058" name="Phone 1058"/>
          <p:cNvSpPr/>
          <p:nvPr/>
        </p:nvSpPr>
        <p:spPr>
          <a:xfrm>
            <a:off x="12687300" y="4480560"/>
            <a:ext cx="2148840" cy="43434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>
            <a:outerShdw blurRad="355600" dist="76200" dir="5400000" algn="t" rotWithShape="0">
              <a:srgbClr val="0A2540">
                <a:alpha val="2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059" name="Picture 1059" descr="Cyclo-Nexus safety alert in Hindi"/>
          <p:cNvPicPr>
            <a:picLocks noChangeAspect="1"/>
          </p:cNvPicPr>
          <p:nvPr/>
        </p:nvPicPr>
        <p:blipFill>
          <a:blip r:embed="rId101"/>
          <a:srcRect l="0" t="0" r="0" b="12000"/>
          <a:stretch>
            <a:fillRect/>
          </a:stretch>
        </p:blipFill>
        <p:spPr>
          <a:xfrm>
            <a:off x="12790170" y="4617720"/>
            <a:ext cx="1943100" cy="4069080"/>
          </a:xfrm>
          <a:prstGeom prst="roundRect">
            <a:avLst>
              <a:gd name="adj" fmla="val 9000"/>
            </a:avLst>
          </a:prstGeom>
          <a:ln>
            <a:noFill/>
          </a:ln>
        </p:spPr>
      </p:pic>
      <p:sp>
        <p:nvSpPr>
          <p:cNvPr id="1060" name="Text 1060"/>
          <p:cNvSpPr txBox="1"/>
          <p:nvPr/>
        </p:nvSpPr>
        <p:spPr>
          <a:xfrm>
            <a:off x="12573000" y="8869680"/>
            <a:ext cx="2377440" cy="2514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en-IN" sz="1000" i="1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Real app screen · Hindi advisory</a:t>
            </a:r>
          </a:p>
        </p:txBody>
      </p:sp>
      <p:sp>
        <p:nvSpPr>
          <p:cNvPr id="1061" name="Badge 1061"/>
          <p:cNvSpPr/>
          <p:nvPr/>
        </p:nvSpPr>
        <p:spPr>
          <a:xfrm>
            <a:off x="15087600" y="4869180"/>
            <a:ext cx="457200" cy="4572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2" name="Text 1062"/>
          <p:cNvSpPr txBox="1"/>
          <p:nvPr/>
        </p:nvSpPr>
        <p:spPr>
          <a:xfrm>
            <a:off x="15613380" y="48463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RED / ORANGE / YELLOW</a:t>
            </a:r>
          </a:p>
          <a:p>
            <a:pPr algn="l">
              <a:buNone/>
            </a:pPr>
            <a:r>
              <a:rPr lang="en-IN" sz="10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IMD-aligned alert levels</a:t>
            </a:r>
          </a:p>
        </p:txBody>
      </p:sp>
      <p:sp>
        <p:nvSpPr>
          <p:cNvPr id="1063" name="Badge 1063"/>
          <p:cNvSpPr/>
          <p:nvPr/>
        </p:nvSpPr>
        <p:spPr>
          <a:xfrm>
            <a:off x="15087600" y="582930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4" name="Text 1064"/>
          <p:cNvSpPr txBox="1"/>
          <p:nvPr/>
        </p:nvSpPr>
        <p:spPr>
          <a:xfrm>
            <a:off x="15613380" y="58064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A2540"/>
                </a:solidFill>
                <a:latin typeface="Arial"/>
                <a:ea typeface="Arial"/>
                <a:cs typeface="Nirmala UI"/>
              </a:rPr>
              <a:t>हिंदी + English</a:t>
            </a:r>
          </a:p>
          <a:p>
            <a:pPr algn="l">
              <a:buNone/>
            </a:pPr>
            <a:r>
              <a:rPr lang="en-IN" sz="10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advisories for every audience</a:t>
            </a:r>
          </a:p>
        </p:txBody>
      </p:sp>
      <p:sp>
        <p:nvSpPr>
          <p:cNvPr id="1065" name="Badge 1065"/>
          <p:cNvSpPr/>
          <p:nvPr/>
        </p:nvSpPr>
        <p:spPr>
          <a:xfrm>
            <a:off x="15087600" y="678942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6" name="Text 1066"/>
          <p:cNvSpPr txBox="1"/>
          <p:nvPr/>
        </p:nvSpPr>
        <p:spPr>
          <a:xfrm>
            <a:off x="15613380" y="676656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People in path</a:t>
            </a:r>
          </a:p>
          <a:p>
            <a:pPr algn="l">
              <a:buNone/>
            </a:pPr>
            <a:r>
              <a:rPr lang="en-IN" sz="10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towns and population exposed</a:t>
            </a:r>
          </a:p>
        </p:txBody>
      </p:sp>
      <p:sp>
        <p:nvSpPr>
          <p:cNvPr id="1067" name="Badge 1067"/>
          <p:cNvSpPr/>
          <p:nvPr/>
        </p:nvSpPr>
        <p:spPr>
          <a:xfrm>
            <a:off x="15087600" y="7749540"/>
            <a:ext cx="457200" cy="4572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8" name="Text 1068"/>
          <p:cNvSpPr txBox="1"/>
          <p:nvPr/>
        </p:nvSpPr>
        <p:spPr>
          <a:xfrm>
            <a:off x="15613380" y="77266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25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Official + AI</a:t>
            </a:r>
          </a:p>
          <a:p>
            <a:pPr algn="l">
              <a:buNone/>
            </a:pPr>
            <a:r>
              <a:rPr lang="en-IN" sz="105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always labelled</a:t>
            </a:r>
          </a:p>
        </p:txBody>
      </p:sp>
      <p:sp>
        <p:nvSpPr>
          <p:cNvPr id="1069" name="Text 1069"/>
          <p:cNvSpPr txBox="1"/>
          <p:nvPr/>
        </p:nvSpPr>
        <p:spPr>
          <a:xfrm>
            <a:off x="15087600" y="8663940"/>
            <a:ext cx="2628900" cy="2514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50" b="1" i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Turning satellite data into early action that protects lives.</a:t>
            </a:r>
          </a:p>
        </p:txBody>
      </p:sp>
      <p:sp>
        <p:nvSpPr>
          <p:cNvPr id="1070" name="Footer tagline 1070"/>
          <p:cNvSpPr txBox="1"/>
          <p:nvPr/>
        </p:nvSpPr>
        <p:spPr>
          <a:xfrm>
            <a:off x="1165860" y="9555480"/>
            <a:ext cx="11430000" cy="6629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CYCLO-NEXUS</a:t>
            </a:r>
            <a:r>
              <a:rPr lang="en-IN" sz="1300" dirty="0">
                <a:solidFill>
                  <a:srgbClr val="A9CDEE"/>
                </a:solidFill>
                <a:latin typeface="Arial"/>
                <a:ea typeface="Arial"/>
                <a:cs typeface="Arial"/>
              </a:rPr>
              <a:t xml:space="preserve">   |   </a:t>
            </a:r>
            <a:r>
              <a:rPr lang="en-IN" sz="13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Turning satellite data into early action that protects lives.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50" dirty="0">
                <a:solidFill>
                  <a:srgbClr val="CFE3F7"/>
                </a:solidFill>
                <a:latin typeface="Arial"/>
                <a:ea typeface="Arial"/>
                <a:cs typeface="Arial"/>
              </a:rPr>
              <a:t>Team Tikka Techies  ·  SIH26070  ·  Ministry of Earth Sciences  ·  Disaster Management</a:t>
            </a:r>
          </a:p>
        </p:txBody>
      </p:sp>
      <p:pic>
        <p:nvPicPr>
          <p:cNvPr id="1071" name="Picture 1071" descr="icon"/>
          <p:cNvPicPr>
            <a:picLocks noChangeAspect="1"/>
          </p:cNvPicPr>
          <p:nvPr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699516" y="1819655"/>
            <a:ext cx="178308" cy="178308"/>
          </a:xfrm>
          <a:prstGeom prst="rect">
            <a:avLst/>
          </a:prstGeom>
          <a:ln>
            <a:noFill/>
          </a:ln>
        </p:spPr>
      </p:pic>
      <p:pic>
        <p:nvPicPr>
          <p:cNvPr id="1072" name="Picture 1072" descr="icon"/>
          <p:cNvPicPr>
            <a:picLocks noChangeAspect="1"/>
          </p:cNvPicPr>
          <p:nvPr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953719" y="2645359"/>
            <a:ext cx="332841" cy="332841"/>
          </a:xfrm>
          <a:prstGeom prst="rect">
            <a:avLst/>
          </a:prstGeom>
          <a:ln>
            <a:noFill/>
          </a:ln>
        </p:spPr>
      </p:pic>
      <p:pic>
        <p:nvPicPr>
          <p:cNvPr id="1073" name="Picture 1073" descr="icon"/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5274259" y="2645359"/>
            <a:ext cx="332841" cy="332841"/>
          </a:xfrm>
          <a:prstGeom prst="rect">
            <a:avLst/>
          </a:prstGeom>
          <a:ln>
            <a:noFill/>
          </a:ln>
        </p:spPr>
      </p:pic>
      <p:pic>
        <p:nvPicPr>
          <p:cNvPr id="1074" name="Picture 1074" descr="icon"/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9594799" y="2645359"/>
            <a:ext cx="332841" cy="332841"/>
          </a:xfrm>
          <a:prstGeom prst="rect">
            <a:avLst/>
          </a:prstGeom>
          <a:ln>
            <a:noFill/>
          </a:ln>
        </p:spPr>
      </p:pic>
      <p:pic>
        <p:nvPicPr>
          <p:cNvPr id="1075" name="Picture 1075" descr="icon"/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13915339" y="2645359"/>
            <a:ext cx="332841" cy="332841"/>
          </a:xfrm>
          <a:prstGeom prst="rect">
            <a:avLst/>
          </a:prstGeom>
          <a:ln>
            <a:noFill/>
          </a:ln>
        </p:spPr>
      </p:pic>
      <p:pic>
        <p:nvPicPr>
          <p:cNvPr id="1076" name="Picture 1076" descr="icon"/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2286000" y="3909060"/>
            <a:ext cx="182880" cy="182880"/>
          </a:xfrm>
          <a:prstGeom prst="rect">
            <a:avLst/>
          </a:prstGeom>
          <a:ln>
            <a:noFill/>
          </a:ln>
        </p:spPr>
      </p:pic>
      <p:pic>
        <p:nvPicPr>
          <p:cNvPr id="1077" name="Picture 1077" descr="icon"/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4709160" y="3909060"/>
            <a:ext cx="182880" cy="182880"/>
          </a:xfrm>
          <a:prstGeom prst="rect">
            <a:avLst/>
          </a:prstGeom>
          <a:ln>
            <a:noFill/>
          </a:ln>
        </p:spPr>
      </p:pic>
      <p:pic>
        <p:nvPicPr>
          <p:cNvPr id="1078" name="Picture 1078" descr="icon"/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7132320" y="3909060"/>
            <a:ext cx="182880" cy="182880"/>
          </a:xfrm>
          <a:prstGeom prst="rect">
            <a:avLst/>
          </a:prstGeom>
          <a:ln>
            <a:noFill/>
          </a:ln>
        </p:spPr>
      </p:pic>
      <p:pic>
        <p:nvPicPr>
          <p:cNvPr id="1079" name="Picture 1079" descr="icon"/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9555480" y="3909060"/>
            <a:ext cx="182880" cy="182880"/>
          </a:xfrm>
          <a:prstGeom prst="rect">
            <a:avLst/>
          </a:prstGeom>
          <a:ln>
            <a:noFill/>
          </a:ln>
        </p:spPr>
      </p:pic>
      <p:pic>
        <p:nvPicPr>
          <p:cNvPr id="1080" name="Picture 1080" descr="icon"/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699516" y="4517136"/>
            <a:ext cx="178308" cy="178308"/>
          </a:xfrm>
          <a:prstGeom prst="rect">
            <a:avLst/>
          </a:prstGeom>
          <a:ln>
            <a:noFill/>
          </a:ln>
        </p:spPr>
      </p:pic>
      <p:pic>
        <p:nvPicPr>
          <p:cNvPr id="1081" name="Picture 1081" descr="icon"/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920800" y="516133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082" name="Picture 1082" descr="icon"/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4875580" y="516133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083" name="Picture 1083" descr="icon"/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8830360" y="516133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084" name="Picture 1084" descr="icon"/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15197327" y="497890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085" name="Picture 1085" descr="icon"/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15197327" y="593902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086" name="Picture 1086" descr="icon"/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15197327" y="689914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087" name="Picture 1087" descr="icon"/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15197327" y="7859268"/>
            <a:ext cx="237744" cy="237744"/>
          </a:xfrm>
          <a:prstGeom prst="rect">
            <a:avLst/>
          </a:prstGeom>
          <a:ln>
            <a:noFill/>
          </a:ln>
        </p:spPr>
      </p:pic>
      <p:pic>
        <p:nvPicPr>
          <p:cNvPr id="1088" name="Picture 1088" descr="icon"/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617220" y="9669780"/>
            <a:ext cx="434340" cy="4343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219" y="-71276"/>
            <a:ext cx="16458124" cy="1713424"/>
            <a:chOff x="0" y="0"/>
            <a:chExt cx="21944165" cy="2284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160" cy="2284560"/>
            </a:xfrm>
            <a:custGeom>
              <a:avLst/>
              <a:gdLst/>
              <a:ahLst/>
              <a:cxnLst/>
              <a:rect r="r" b="b" t="t" l="l"/>
              <a:pathLst>
                <a:path h="2284560" w="21944160">
                  <a:moveTo>
                    <a:pt x="0" y="0"/>
                  </a:moveTo>
                  <a:lnTo>
                    <a:pt x="21944160" y="0"/>
                  </a:lnTo>
                  <a:lnTo>
                    <a:pt x="21944160" y="2284560"/>
                  </a:lnTo>
                  <a:lnTo>
                    <a:pt x="0" y="228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61" r="0" b="-1371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4165" cy="2313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sp>
        <p:nvSpPr>
          <p:cNvPr id="1001" name="Badge 1001"/>
          <p:cNvSpPr/>
          <p:nvPr/>
        </p:nvSpPr>
        <p:spPr>
          <a:xfrm>
            <a:off x="617220" y="1737360"/>
            <a:ext cx="342900" cy="3429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2" name="Heading 1002"/>
          <p:cNvSpPr txBox="1"/>
          <p:nvPr/>
        </p:nvSpPr>
        <p:spPr>
          <a:xfrm>
            <a:off x="1074420" y="1714500"/>
            <a:ext cx="10972800" cy="3886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9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Details / Links of the reference and research work</a:t>
            </a:r>
          </a:p>
        </p:txBody>
      </p:sp>
      <p:sp>
        <p:nvSpPr>
          <p:cNvPr id="1003" name="Card 1003"/>
          <p:cNvSpPr/>
          <p:nvPr/>
        </p:nvSpPr>
        <p:spPr>
          <a:xfrm>
            <a:off x="617220" y="2194560"/>
            <a:ext cx="5577840" cy="54635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4" name="Shape 1004"/>
          <p:cNvSpPr/>
          <p:nvPr/>
        </p:nvSpPr>
        <p:spPr>
          <a:xfrm>
            <a:off x="617220" y="2194560"/>
            <a:ext cx="5577840" cy="59436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5" name="Shape 1005"/>
          <p:cNvSpPr/>
          <p:nvPr/>
        </p:nvSpPr>
        <p:spPr>
          <a:xfrm>
            <a:off x="617220" y="2537460"/>
            <a:ext cx="5577840" cy="2514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6" name="Text 1006"/>
          <p:cNvSpPr txBox="1"/>
          <p:nvPr/>
        </p:nvSpPr>
        <p:spPr>
          <a:xfrm>
            <a:off x="1257300" y="2194560"/>
            <a:ext cx="4777740" cy="5943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sources</a:t>
            </a:r>
          </a:p>
        </p:txBody>
      </p:sp>
      <p:sp>
        <p:nvSpPr>
          <p:cNvPr id="1007" name="Shape 1007"/>
          <p:cNvSpPr/>
          <p:nvPr/>
        </p:nvSpPr>
        <p:spPr>
          <a:xfrm>
            <a:off x="800100" y="299466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08" name="Text 1008"/>
          <p:cNvSpPr txBox="1"/>
          <p:nvPr/>
        </p:nvSpPr>
        <p:spPr>
          <a:xfrm>
            <a:off x="1188720" y="292608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ISRO MOSDAC — INSAT-3DS Imager L1C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01"/>
              </a:rPr>
              <a:t>mosdac.gov.in</a:t>
            </a:r>
          </a:p>
        </p:txBody>
      </p:sp>
      <p:sp>
        <p:nvSpPr>
          <p:cNvPr id="1009" name="Shape 1009"/>
          <p:cNvSpPr/>
          <p:nvPr/>
        </p:nvSpPr>
        <p:spPr>
          <a:xfrm>
            <a:off x="800100" y="378333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10" name="Text 1010"/>
          <p:cNvSpPr txBox="1"/>
          <p:nvPr/>
        </p:nvSpPr>
        <p:spPr>
          <a:xfrm>
            <a:off x="1188720" y="371475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NASA GPM IMERG (via GES DISC)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02"/>
              </a:rPr>
              <a:t>gpm.nasa.gov/data/imerg</a:t>
            </a:r>
          </a:p>
        </p:txBody>
      </p:sp>
      <p:sp>
        <p:nvSpPr>
          <p:cNvPr id="1011" name="Shape 1011"/>
          <p:cNvSpPr/>
          <p:nvPr/>
        </p:nvSpPr>
        <p:spPr>
          <a:xfrm>
            <a:off x="800100" y="457200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12" name="Text 1012"/>
          <p:cNvSpPr txBox="1"/>
          <p:nvPr/>
        </p:nvSpPr>
        <p:spPr>
          <a:xfrm>
            <a:off x="1188720" y="450342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JTWC — warnings and forecast tracks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03"/>
              </a:rPr>
              <a:t>metoc.navy.mil/jtwc</a:t>
            </a:r>
          </a:p>
        </p:txBody>
      </p:sp>
      <p:sp>
        <p:nvSpPr>
          <p:cNvPr id="1013" name="Shape 1013"/>
          <p:cNvSpPr/>
          <p:nvPr/>
        </p:nvSpPr>
        <p:spPr>
          <a:xfrm>
            <a:off x="800100" y="536067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14" name="Text 1014"/>
          <p:cNvSpPr txBox="1"/>
          <p:nvPr/>
        </p:nvSpPr>
        <p:spPr>
          <a:xfrm>
            <a:off x="1188720" y="529209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NOAA NCEI IBTrACS v04 best tracks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04"/>
              </a:rPr>
              <a:t>ncei.noaa.gov/products/…best-track-archive</a:t>
            </a:r>
          </a:p>
        </p:txBody>
      </p:sp>
      <p:sp>
        <p:nvSpPr>
          <p:cNvPr id="1015" name="Shape 1015"/>
          <p:cNvSpPr/>
          <p:nvPr/>
        </p:nvSpPr>
        <p:spPr>
          <a:xfrm>
            <a:off x="800100" y="614934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16" name="Text 1016"/>
          <p:cNvSpPr txBox="1"/>
          <p:nvPr/>
        </p:nvSpPr>
        <p:spPr>
          <a:xfrm>
            <a:off x="1188720" y="608076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IMD — RSMC New Delhi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05"/>
              </a:rPr>
              <a:t>mausam.imd.gov.in</a:t>
            </a:r>
          </a:p>
        </p:txBody>
      </p:sp>
      <p:sp>
        <p:nvSpPr>
          <p:cNvPr id="1017" name="Shape 1017"/>
          <p:cNvSpPr/>
          <p:nvPr/>
        </p:nvSpPr>
        <p:spPr>
          <a:xfrm>
            <a:off x="800100" y="693801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18" name="Text 1018"/>
          <p:cNvSpPr txBox="1"/>
          <p:nvPr/>
        </p:nvSpPr>
        <p:spPr>
          <a:xfrm>
            <a:off x="1188720" y="686943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Open-Meteo · NASA GIBS · GeoNames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06"/>
              </a:rPr>
              <a:t>open-meteo.com · geonames.org</a:t>
            </a:r>
          </a:p>
        </p:txBody>
      </p:sp>
      <p:sp>
        <p:nvSpPr>
          <p:cNvPr id="1019" name="Card 1019"/>
          <p:cNvSpPr/>
          <p:nvPr/>
        </p:nvSpPr>
        <p:spPr>
          <a:xfrm>
            <a:off x="6377940" y="2194560"/>
            <a:ext cx="5577840" cy="54635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0" name="Shape 1020"/>
          <p:cNvSpPr/>
          <p:nvPr/>
        </p:nvSpPr>
        <p:spPr>
          <a:xfrm>
            <a:off x="6377940" y="2194560"/>
            <a:ext cx="5577840" cy="59436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1" name="Shape 1021"/>
          <p:cNvSpPr/>
          <p:nvPr/>
        </p:nvSpPr>
        <p:spPr>
          <a:xfrm>
            <a:off x="6377940" y="2537460"/>
            <a:ext cx="5577840" cy="2514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2" name="Text 1022"/>
          <p:cNvSpPr txBox="1"/>
          <p:nvPr/>
        </p:nvSpPr>
        <p:spPr>
          <a:xfrm>
            <a:off x="7018020" y="2194560"/>
            <a:ext cx="4777740" cy="5943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papers</a:t>
            </a:r>
          </a:p>
        </p:txBody>
      </p:sp>
      <p:sp>
        <p:nvSpPr>
          <p:cNvPr id="1023" name="Shape 1023"/>
          <p:cNvSpPr/>
          <p:nvPr/>
        </p:nvSpPr>
        <p:spPr>
          <a:xfrm>
            <a:off x="6560820" y="299466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24" name="Text 1024"/>
          <p:cNvSpPr txBox="1"/>
          <p:nvPr/>
        </p:nvSpPr>
        <p:spPr>
          <a:xfrm>
            <a:off x="6949440" y="292608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Shi et al. (2015) Convolutional LSTM Network — NeurIPS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07"/>
              </a:rPr>
              <a:t>arxiv.org/abs/1506.04214</a:t>
            </a:r>
          </a:p>
        </p:txBody>
      </p:sp>
      <p:sp>
        <p:nvSpPr>
          <p:cNvPr id="1025" name="Shape 1025"/>
          <p:cNvSpPr/>
          <p:nvPr/>
        </p:nvSpPr>
        <p:spPr>
          <a:xfrm>
            <a:off x="6560820" y="378333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26" name="Text 1026"/>
          <p:cNvSpPr txBox="1"/>
          <p:nvPr/>
        </p:nvSpPr>
        <p:spPr>
          <a:xfrm>
            <a:off x="6949440" y="371475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Piñeros, Ritchie &amp; Tyo (2008) Deviation-Angle Variance — IEEE TGRS 46(10)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08"/>
              </a:rPr>
              <a:t>doi.org/10.1109/TGRS.2008.2000819</a:t>
            </a:r>
          </a:p>
        </p:txBody>
      </p:sp>
      <p:sp>
        <p:nvSpPr>
          <p:cNvPr id="1027" name="Shape 1027"/>
          <p:cNvSpPr/>
          <p:nvPr/>
        </p:nvSpPr>
        <p:spPr>
          <a:xfrm>
            <a:off x="6560820" y="457200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28" name="Text 1028"/>
          <p:cNvSpPr txBox="1"/>
          <p:nvPr/>
        </p:nvSpPr>
        <p:spPr>
          <a:xfrm>
            <a:off x="6949440" y="450342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Dvorak (1975) TC intensity from satellite imagery — Mon. Wea. Rev.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09"/>
              </a:rPr>
              <a:t>doi.org/10.1175/1520-0493(1975)103…</a:t>
            </a:r>
          </a:p>
        </p:txBody>
      </p:sp>
      <p:sp>
        <p:nvSpPr>
          <p:cNvPr id="1029" name="Shape 1029"/>
          <p:cNvSpPr/>
          <p:nvPr/>
        </p:nvSpPr>
        <p:spPr>
          <a:xfrm>
            <a:off x="6560820" y="536067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30" name="Text 1030"/>
          <p:cNvSpPr txBox="1"/>
          <p:nvPr/>
        </p:nvSpPr>
        <p:spPr>
          <a:xfrm>
            <a:off x="6949440" y="529209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Atkinson &amp; Holliday (1977) wind–pressure relationship — Mon. Wea. Rev.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10"/>
              </a:rPr>
              <a:t>doi.org/10.1175/1520-0493(1977)105…</a:t>
            </a:r>
          </a:p>
        </p:txBody>
      </p:sp>
      <p:sp>
        <p:nvSpPr>
          <p:cNvPr id="1031" name="Shape 1031"/>
          <p:cNvSpPr/>
          <p:nvPr/>
        </p:nvSpPr>
        <p:spPr>
          <a:xfrm>
            <a:off x="6560820" y="614934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32" name="Text 1032"/>
          <p:cNvSpPr txBox="1"/>
          <p:nvPr/>
        </p:nvSpPr>
        <p:spPr>
          <a:xfrm>
            <a:off x="6949440" y="608076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Knapp et al. (2010) IBTrACS — Bull. Amer. Meteor. Soc.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11"/>
              </a:rPr>
              <a:t>doi.org/10.1175/2009BAMS2755.1</a:t>
            </a:r>
          </a:p>
        </p:txBody>
      </p:sp>
      <p:sp>
        <p:nvSpPr>
          <p:cNvPr id="1033" name="Shape 1033"/>
          <p:cNvSpPr/>
          <p:nvPr/>
        </p:nvSpPr>
        <p:spPr>
          <a:xfrm>
            <a:off x="6560820" y="693801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34" name="Text 1034"/>
          <p:cNvSpPr txBox="1"/>
          <p:nvPr/>
        </p:nvSpPr>
        <p:spPr>
          <a:xfrm>
            <a:off x="6949440" y="686943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Mohapatra &amp; Sharma — Cyclone warning services in India, MAUSAM 70(4)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12"/>
              </a:rPr>
              <a:t>doi.org/10.54302/mausam.v70i4.204</a:t>
            </a:r>
          </a:p>
        </p:txBody>
      </p:sp>
      <p:sp>
        <p:nvSpPr>
          <p:cNvPr id="1035" name="Card 1035"/>
          <p:cNvSpPr/>
          <p:nvPr/>
        </p:nvSpPr>
        <p:spPr>
          <a:xfrm>
            <a:off x="12138660" y="2194560"/>
            <a:ext cx="5577840" cy="54635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2F1"/>
            </a:solidFill>
            <a:round/>
          </a:ln>
          <a:effectLst>
            <a:outerShdw blurRad="203200" dist="38100" dir="5400000" algn="t" rotWithShape="0">
              <a:srgbClr val="0A2540">
                <a:alpha val="12000"/>
              </a:srgbClr>
            </a:outerShdw>
          </a:effectLst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6" name="Shape 1036"/>
          <p:cNvSpPr/>
          <p:nvPr/>
        </p:nvSpPr>
        <p:spPr>
          <a:xfrm>
            <a:off x="12138660" y="2194560"/>
            <a:ext cx="5577840" cy="594360"/>
          </a:xfrm>
          <a:prstGeom prst="roundRect">
            <a:avLst>
              <a:gd name="adj" fmla="val 14000"/>
            </a:avLst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7" name="Shape 1037"/>
          <p:cNvSpPr/>
          <p:nvPr/>
        </p:nvSpPr>
        <p:spPr>
          <a:xfrm>
            <a:off x="12138660" y="2537460"/>
            <a:ext cx="5577840" cy="2514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38" name="Text 1038"/>
          <p:cNvSpPr txBox="1"/>
          <p:nvPr/>
        </p:nvSpPr>
        <p:spPr>
          <a:xfrm>
            <a:off x="12778740" y="2194560"/>
            <a:ext cx="4777740" cy="5943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evidence</a:t>
            </a:r>
          </a:p>
        </p:txBody>
      </p:sp>
      <p:sp>
        <p:nvSpPr>
          <p:cNvPr id="1039" name="Shape 1039"/>
          <p:cNvSpPr/>
          <p:nvPr/>
        </p:nvSpPr>
        <p:spPr>
          <a:xfrm>
            <a:off x="12321540" y="299466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40" name="Text 1040"/>
          <p:cNvSpPr txBox="1"/>
          <p:nvPr/>
        </p:nvSpPr>
        <p:spPr>
          <a:xfrm>
            <a:off x="12710160" y="292608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MoPSW circular (29 Apr 2025): coastline 11,098.81 km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13"/>
              </a:rPr>
              <a:t>shipmin.gov.in</a:t>
            </a:r>
          </a:p>
        </p:txBody>
      </p:sp>
      <p:sp>
        <p:nvSpPr>
          <p:cNvPr id="1041" name="Shape 1041"/>
          <p:cNvSpPr/>
          <p:nvPr/>
        </p:nvSpPr>
        <p:spPr>
          <a:xfrm>
            <a:off x="12321540" y="378333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42" name="Text 1042"/>
          <p:cNvSpPr txBox="1"/>
          <p:nvPr/>
        </p:nvSpPr>
        <p:spPr>
          <a:xfrm>
            <a:off x="12710160" y="371475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CMFRI Marine Fisheries Census 2016 — 3.77 million fisherfolk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14"/>
              </a:rPr>
              <a:t>eprints.cmfri.org.in/17490</a:t>
            </a:r>
          </a:p>
        </p:txBody>
      </p:sp>
      <p:sp>
        <p:nvSpPr>
          <p:cNvPr id="1043" name="Shape 1043"/>
          <p:cNvSpPr/>
          <p:nvPr/>
        </p:nvSpPr>
        <p:spPr>
          <a:xfrm>
            <a:off x="12321540" y="457200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44" name="Text 1044"/>
          <p:cNvSpPr txBox="1"/>
          <p:nvPr/>
        </p:nvSpPr>
        <p:spPr>
          <a:xfrm>
            <a:off x="12710160" y="450342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WMO / Global Commission on Adaptation (2019) — 24 h warning cuts damage 30%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15"/>
              </a:rPr>
              <a:t>wmo.int — Early Warnings for All</a:t>
            </a:r>
          </a:p>
        </p:txBody>
      </p:sp>
      <p:sp>
        <p:nvSpPr>
          <p:cNvPr id="1045" name="Shape 1045"/>
          <p:cNvSpPr/>
          <p:nvPr/>
        </p:nvSpPr>
        <p:spPr>
          <a:xfrm>
            <a:off x="12321540" y="536067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46" name="Text 1046"/>
          <p:cNvSpPr txBox="1"/>
          <p:nvPr/>
        </p:nvSpPr>
        <p:spPr>
          <a:xfrm>
            <a:off x="12710160" y="529209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World Bank — India averts devastation from Cyclone Phailin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16"/>
              </a:rPr>
              <a:t>worldbank.org/en/results/2014/04/10/…</a:t>
            </a:r>
          </a:p>
        </p:txBody>
      </p:sp>
      <p:sp>
        <p:nvSpPr>
          <p:cNvPr id="1047" name="Shape 1047"/>
          <p:cNvSpPr/>
          <p:nvPr/>
        </p:nvSpPr>
        <p:spPr>
          <a:xfrm>
            <a:off x="12321540" y="614934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48" name="Text 1048"/>
          <p:cNvSpPr txBox="1"/>
          <p:nvPr/>
        </p:nvSpPr>
        <p:spPr>
          <a:xfrm>
            <a:off x="12710160" y="608076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WMO State of Global Climate 2020 — Amphan ~US$14 bn loss (ThePrint)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17"/>
              </a:rPr>
              <a:t>theprint.in — UN report</a:t>
            </a:r>
          </a:p>
        </p:txBody>
      </p:sp>
      <p:sp>
        <p:nvSpPr>
          <p:cNvPr id="1049" name="Shape 1049"/>
          <p:cNvSpPr/>
          <p:nvPr/>
        </p:nvSpPr>
        <p:spPr>
          <a:xfrm>
            <a:off x="12321540" y="6938010"/>
            <a:ext cx="297180" cy="297180"/>
          </a:xfrm>
          <a:prstGeom prst="ellipse">
            <a:avLst/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100" b="1" dirty="0">
                <a:solidFill>
                  <a:srgbClr val="F28C2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50" name="Text 1050"/>
          <p:cNvSpPr txBox="1"/>
          <p:nvPr/>
        </p:nvSpPr>
        <p:spPr>
          <a:xfrm>
            <a:off x="12710160" y="6869430"/>
            <a:ext cx="4846320" cy="7543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2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Ultralytics YOLO — oriented bounding boxes (OBB)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050" u="sng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118"/>
              </a:rPr>
              <a:t>docs.ultralytics.com/tasks/obb</a:t>
            </a:r>
          </a:p>
        </p:txBody>
      </p:sp>
      <p:sp>
        <p:nvSpPr>
          <p:cNvPr id="1051" name="Shape 1051"/>
          <p:cNvSpPr/>
          <p:nvPr/>
        </p:nvSpPr>
        <p:spPr>
          <a:xfrm>
            <a:off x="617220" y="7863840"/>
            <a:ext cx="17099280" cy="146304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2" name="Shape 1052"/>
          <p:cNvSpPr/>
          <p:nvPr/>
        </p:nvSpPr>
        <p:spPr>
          <a:xfrm>
            <a:off x="845820" y="8001000"/>
            <a:ext cx="1188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DB8D8"/>
            </a:solidFill>
            <a:prstDash val="dash"/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3" name="Text 1053"/>
          <p:cNvSpPr txBox="1"/>
          <p:nvPr/>
        </p:nvSpPr>
        <p:spPr>
          <a:xfrm>
            <a:off x="845820" y="87553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9DB8D8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054" name="Badge 1054"/>
          <p:cNvSpPr/>
          <p:nvPr/>
        </p:nvSpPr>
        <p:spPr>
          <a:xfrm>
            <a:off x="2240280" y="834390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5" name="Text 1055"/>
          <p:cNvSpPr txBox="1"/>
          <p:nvPr/>
        </p:nvSpPr>
        <p:spPr>
          <a:xfrm>
            <a:off x="2857500" y="8206740"/>
            <a:ext cx="3314700" cy="8001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6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Demo video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2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Scan to watch the working prototype</a:t>
            </a:r>
          </a:p>
        </p:txBody>
      </p:sp>
      <p:sp>
        <p:nvSpPr>
          <p:cNvPr id="1056" name="Shape 1056"/>
          <p:cNvSpPr/>
          <p:nvPr/>
        </p:nvSpPr>
        <p:spPr>
          <a:xfrm>
            <a:off x="6515100" y="8001000"/>
            <a:ext cx="1188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DB8D8"/>
            </a:solidFill>
            <a:prstDash val="dash"/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7" name="Text 1057"/>
          <p:cNvSpPr txBox="1"/>
          <p:nvPr/>
        </p:nvSpPr>
        <p:spPr>
          <a:xfrm>
            <a:off x="6515100" y="87553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9DB8D8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058" name="Badge 1058"/>
          <p:cNvSpPr/>
          <p:nvPr/>
        </p:nvSpPr>
        <p:spPr>
          <a:xfrm>
            <a:off x="7909560" y="834390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9" name="Text 1059"/>
          <p:cNvSpPr txBox="1"/>
          <p:nvPr/>
        </p:nvSpPr>
        <p:spPr>
          <a:xfrm>
            <a:off x="8526780" y="8206740"/>
            <a:ext cx="3314700" cy="8001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6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GitHub repository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2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Scan to view the source code</a:t>
            </a:r>
          </a:p>
        </p:txBody>
      </p:sp>
      <p:sp>
        <p:nvSpPr>
          <p:cNvPr id="1060" name="Shape 1060"/>
          <p:cNvSpPr/>
          <p:nvPr/>
        </p:nvSpPr>
        <p:spPr>
          <a:xfrm>
            <a:off x="12184380" y="8001000"/>
            <a:ext cx="1188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DB8D8"/>
            </a:solidFill>
            <a:prstDash val="dash"/>
            <a:round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1" name="Text 1061"/>
          <p:cNvSpPr txBox="1"/>
          <p:nvPr/>
        </p:nvSpPr>
        <p:spPr>
          <a:xfrm>
            <a:off x="12184380" y="87553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en-IN" sz="1000" b="1" dirty="0">
                <a:solidFill>
                  <a:srgbClr val="9DB8D8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062" name="Badge 1062"/>
          <p:cNvSpPr/>
          <p:nvPr/>
        </p:nvSpPr>
        <p:spPr>
          <a:xfrm>
            <a:off x="13578840" y="834390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en-IN" sz="10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63" name="Text 1063"/>
          <p:cNvSpPr txBox="1"/>
          <p:nvPr/>
        </p:nvSpPr>
        <p:spPr>
          <a:xfrm>
            <a:off x="14196060" y="8206740"/>
            <a:ext cx="3314700" cy="8001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600" b="1" dirty="0">
                <a:solidFill>
                  <a:srgbClr val="0A2540"/>
                </a:solidFill>
                <a:latin typeface="Arial"/>
                <a:ea typeface="Arial"/>
                <a:cs typeface="Arial"/>
              </a:rPr>
              <a:t>Project report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200" dirty="0">
                <a:solidFill>
                  <a:srgbClr val="5B6B80"/>
                </a:solidFill>
                <a:latin typeface="Arial"/>
                <a:ea typeface="Arial"/>
                <a:cs typeface="Arial"/>
              </a:rPr>
              <a:t>Scan for the full technical report</a:t>
            </a:r>
          </a:p>
        </p:txBody>
      </p:sp>
      <p:sp>
        <p:nvSpPr>
          <p:cNvPr id="1064" name="Footer tagline 1064"/>
          <p:cNvSpPr txBox="1"/>
          <p:nvPr/>
        </p:nvSpPr>
        <p:spPr>
          <a:xfrm>
            <a:off x="1165860" y="9555480"/>
            <a:ext cx="11430000" cy="6629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en-I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CYCLO-NEXUS</a:t>
            </a:r>
            <a:r>
              <a:rPr lang="en-IN" sz="1300" dirty="0">
                <a:solidFill>
                  <a:srgbClr val="A9CDEE"/>
                </a:solidFill>
                <a:latin typeface="Arial"/>
                <a:ea typeface="Arial"/>
                <a:cs typeface="Arial"/>
              </a:rPr>
              <a:t xml:space="preserve">   |   </a:t>
            </a:r>
            <a:r>
              <a:rPr lang="en-IN" sz="13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 on open science and public satellite data.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1050" dirty="0">
                <a:solidFill>
                  <a:srgbClr val="CFE3F7"/>
                </a:solidFill>
                <a:latin typeface="Arial"/>
                <a:ea typeface="Arial"/>
                <a:cs typeface="Arial"/>
              </a:rPr>
              <a:t>Team Tikka Techies  ·  SIH26070  ·  Ministry of Earth Sciences  ·  Disaster Management</a:t>
            </a:r>
          </a:p>
        </p:txBody>
      </p:sp>
      <p:pic>
        <p:nvPicPr>
          <p:cNvPr id="1065" name="Picture 1065" descr="icon"/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699516" y="1819655"/>
            <a:ext cx="178308" cy="178308"/>
          </a:xfrm>
          <a:prstGeom prst="rect">
            <a:avLst/>
          </a:prstGeom>
          <a:ln>
            <a:noFill/>
          </a:ln>
        </p:spPr>
      </p:pic>
      <p:pic>
        <p:nvPicPr>
          <p:cNvPr id="1066" name="Picture 1066" descr="icon"/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822960" y="2331720"/>
            <a:ext cx="320040" cy="320040"/>
          </a:xfrm>
          <a:prstGeom prst="rect">
            <a:avLst/>
          </a:prstGeom>
          <a:ln>
            <a:noFill/>
          </a:ln>
        </p:spPr>
      </p:pic>
      <p:pic>
        <p:nvPicPr>
          <p:cNvPr id="1067" name="Picture 1067" descr="icon"/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6583680" y="2331720"/>
            <a:ext cx="320040" cy="320040"/>
          </a:xfrm>
          <a:prstGeom prst="rect">
            <a:avLst/>
          </a:prstGeom>
          <a:ln>
            <a:noFill/>
          </a:ln>
        </p:spPr>
      </p:pic>
      <p:pic>
        <p:nvPicPr>
          <p:cNvPr id="1068" name="Picture 1068" descr="icon"/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12344400" y="2331720"/>
            <a:ext cx="320040" cy="320040"/>
          </a:xfrm>
          <a:prstGeom prst="rect">
            <a:avLst/>
          </a:prstGeom>
          <a:ln>
            <a:noFill/>
          </a:ln>
        </p:spPr>
      </p:pic>
      <p:pic>
        <p:nvPicPr>
          <p:cNvPr id="1069" name="Picture 1069" descr="icon"/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188720" y="8206740"/>
            <a:ext cx="502920" cy="502920"/>
          </a:xfrm>
          <a:prstGeom prst="rect">
            <a:avLst/>
          </a:prstGeom>
          <a:ln>
            <a:noFill/>
          </a:ln>
        </p:spPr>
      </p:pic>
      <p:pic>
        <p:nvPicPr>
          <p:cNvPr id="1070" name="Picture 1070" descr="icon"/>
          <p:cNvPicPr>
            <a:picLocks noChangeAspect="1"/>
          </p:cNvPicPr>
          <p:nvPr/>
        </p:nvPicPr>
        <p:blipFill>
          <a:blip r:embed="rId129"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2360980" y="846460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071" name="Picture 1071" descr="icon"/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6858000" y="8206740"/>
            <a:ext cx="502920" cy="502920"/>
          </a:xfrm>
          <a:prstGeom prst="rect">
            <a:avLst/>
          </a:prstGeom>
          <a:ln>
            <a:noFill/>
          </a:ln>
        </p:spPr>
      </p:pic>
      <p:pic>
        <p:nvPicPr>
          <p:cNvPr id="1072" name="Picture 1072" descr="icon"/>
          <p:cNvPicPr>
            <a:picLocks noChangeAspect="1"/>
          </p:cNvPicPr>
          <p:nvPr/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8030260" y="846460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073" name="Picture 1073" descr="icon"/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2527280" y="8206740"/>
            <a:ext cx="502920" cy="502920"/>
          </a:xfrm>
          <a:prstGeom prst="rect">
            <a:avLst/>
          </a:prstGeom>
          <a:ln>
            <a:noFill/>
          </a:ln>
        </p:spPr>
      </p:pic>
      <p:pic>
        <p:nvPicPr>
          <p:cNvPr id="1074" name="Picture 1074" descr="icon"/>
          <p:cNvPicPr>
            <a:picLocks noChangeAspect="1"/>
          </p:cNvPicPr>
          <p:nvPr/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13699540" y="8464600"/>
            <a:ext cx="261518" cy="261518"/>
          </a:xfrm>
          <a:prstGeom prst="rect">
            <a:avLst/>
          </a:prstGeom>
          <a:ln>
            <a:noFill/>
          </a:ln>
        </p:spPr>
      </p:pic>
      <p:pic>
        <p:nvPicPr>
          <p:cNvPr id="1075" name="Picture 1075" descr="icon"/>
          <p:cNvPicPr>
            <a:picLocks noChangeAspect="1"/>
          </p:cNvPicPr>
          <p:nvPr/>
        </p:nvPicPr>
        <p:blipFill>
          <a:blip r:embed="rId135"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617220" y="9669780"/>
            <a:ext cx="434340" cy="4343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DAHWmIYCVxY</dc:identifier>
  <dcterms:modified xsi:type="dcterms:W3CDTF">2011-08-01T06:04:30Z</dcterms:modified>
  <cp:revision>1</cp:revision>
  <dc:title>SIH26070.pptx</dc:title>
</cp:coreProperties>
</file>