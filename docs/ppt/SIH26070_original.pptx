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Times New Roman Bold" charset="1" panose="02020803070505020304"/>
      <p:regular r:id="rId13"/>
    </p:embeddedFont>
    <p:embeddedFont>
      <p:font typeface="Arimo Bold" charset="1" panose="020B0704020202020204"/>
      <p:regular r:id="rId14"/>
    </p:embeddedFont>
    <p:embeddedFont>
      <p:font typeface="Calibri (MS)" charset="1" panose="020F0502020204030204"/>
      <p:regular r:id="rId15"/>
    </p:embeddedFon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  <p:embeddedFont>
      <p:font typeface="Arial Italics" charset="1" panose="020B0604020202090204"/>
      <p:regular r:id="rId18"/>
    </p:embeddedFont>
    <p:embeddedFont>
      <p:font typeface="Courier New Bold" charset="1" panose="02070609020205020404"/>
      <p:regular r:id="rId19"/>
    </p:embeddedFont>
    <p:embeddedFont>
      <p:font typeface="Calibri (MS) Bold" charset="1" panose="020F0702030404030204"/>
      <p:regular r:id="rId20"/>
    </p:embeddedFont>
    <p:embeddedFont>
      <p:font typeface="Arial Bold Italics" charset="1" panose="020B07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worldbank.org" TargetMode="External" Type="http://schemas.openxmlformats.org/officeDocument/2006/relationships/hyperlink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https://www.mosdac.gov.in" TargetMode="External" Type="http://schemas.openxmlformats.org/officeDocument/2006/relationships/hyperlink"/><Relationship Id="rId5" Target="https://gpm.nasa.gov/data/imerg" TargetMode="External" Type="http://schemas.openxmlformats.org/officeDocument/2006/relationships/hyperlink"/><Relationship Id="rId6" Target="https://www.metoc.navy.mil/jtwc" TargetMode="External" Type="http://schemas.openxmlformats.org/officeDocument/2006/relationships/hyperlink"/><Relationship Id="rId7" Target="https://www.ncei.noaa.gov" TargetMode="External" Type="http://schemas.openxmlformats.org/officeDocument/2006/relationships/hyperlink"/><Relationship Id="rId8" Target="https://mausam.imd.gov.in" TargetMode="External" Type="http://schemas.openxmlformats.org/officeDocument/2006/relationships/hyperlink"/><Relationship Id="rId9" Target="https://docs.ultralytics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9450000" y="2160003"/>
            <a:ext cx="8639461" cy="7289463"/>
          </a:xfrm>
          <a:custGeom>
            <a:avLst/>
            <a:gdLst/>
            <a:ahLst/>
            <a:cxnLst/>
            <a:rect r="r" b="b" t="t" l="l"/>
            <a:pathLst>
              <a:path h="7289463" w="8639461">
                <a:moveTo>
                  <a:pt x="0" y="0"/>
                </a:moveTo>
                <a:lnTo>
                  <a:pt x="8639461" y="0"/>
                </a:lnTo>
                <a:lnTo>
                  <a:pt x="8639461" y="7289464"/>
                </a:lnTo>
                <a:lnTo>
                  <a:pt x="0" y="72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5078" y="3779996"/>
            <a:ext cx="4804381" cy="5138099"/>
            <a:chOff x="0" y="0"/>
            <a:chExt cx="6405842" cy="6850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5880" cy="6850761"/>
            </a:xfrm>
            <a:custGeom>
              <a:avLst/>
              <a:gdLst/>
              <a:ahLst/>
              <a:cxnLst/>
              <a:rect r="r" b="b" t="t" l="l"/>
              <a:pathLst>
                <a:path h="6850761" w="6405880">
                  <a:moveTo>
                    <a:pt x="0" y="0"/>
                  </a:moveTo>
                  <a:lnTo>
                    <a:pt x="6405880" y="0"/>
                  </a:lnTo>
                  <a:lnTo>
                    <a:pt x="6405880" y="6850761"/>
                  </a:lnTo>
                  <a:lnTo>
                    <a:pt x="0" y="6850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4" b="-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557" y="-684181"/>
            <a:ext cx="15543905" cy="3113637"/>
            <a:chOff x="0" y="0"/>
            <a:chExt cx="20725206" cy="41515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5200" cy="4151520"/>
            </a:xfrm>
            <a:custGeom>
              <a:avLst/>
              <a:gdLst/>
              <a:ahLst/>
              <a:cxnLst/>
              <a:rect r="r" b="b" t="t" l="l"/>
              <a:pathLst>
                <a:path h="4151520" w="20725200">
                  <a:moveTo>
                    <a:pt x="0" y="0"/>
                  </a:moveTo>
                  <a:lnTo>
                    <a:pt x="20725200" y="0"/>
                  </a:lnTo>
                  <a:lnTo>
                    <a:pt x="20725200" y="4151520"/>
                  </a:lnTo>
                  <a:lnTo>
                    <a:pt x="0" y="415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73" r="0" b="-4727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5206" cy="4170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-6000">
            <a:off x="121278" y="2612269"/>
            <a:ext cx="12471438" cy="6870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Statement ID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 SIH26070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Problem Statement Title 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– To develop an Artificial Intelligence (AI) / Machine Learning (ML) based system for identification, classification, and prediction of different tropical cyclone patterns using multi-source satellite data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Theme 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– Disaster Management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Organization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 Ministry of Earth Sciences (MoES)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PS Category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 Software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9B2C2C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ID 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– 136905</a:t>
            </a:r>
          </a:p>
          <a:p>
            <a:pPr algn="l" marL="526439" indent="-263220" lvl="1">
              <a:lnSpc>
                <a:spcPts val="5090"/>
              </a:lnSpc>
              <a:buFont typeface="Arial"/>
              <a:buChar char="•"/>
            </a:pPr>
            <a:r>
              <a:rPr lang="en-US" b="true" sz="2908">
                <a:solidFill>
                  <a:srgbClr val="B03A2E"/>
                </a:solidFill>
                <a:latin typeface="Garamond Bold"/>
                <a:ea typeface="Garamond Bold"/>
                <a:cs typeface="Garamond Bold"/>
                <a:sym typeface="Garamond Bold"/>
              </a:rPr>
              <a:t>Team Name</a:t>
            </a:r>
            <a:r>
              <a:rPr lang="en-US" b="true" sz="2908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– Tikka Techies</a:t>
            </a:r>
          </a:p>
          <a:p>
            <a:pPr algn="l" marL="526439" indent="-263220" lvl="1">
              <a:lnSpc>
                <a:spcPts val="349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4965023" y="272158"/>
            <a:ext cx="2854442" cy="1347302"/>
            <a:chOff x="0" y="0"/>
            <a:chExt cx="3805923" cy="17964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9" r="0" b="-18"/>
              </a:stretch>
            </a:blipFill>
          </p:spPr>
        </p:sp>
      </p:grpSp>
      <p:sp>
        <p:nvSpPr>
          <p:cNvPr name="Freeform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9450000" y="2160003"/>
            <a:ext cx="8639461" cy="7289463"/>
          </a:xfrm>
          <a:custGeom>
            <a:avLst/>
            <a:gdLst/>
            <a:ahLst/>
            <a:cxnLst/>
            <a:rect r="r" b="b" t="t" l="l"/>
            <a:pathLst>
              <a:path h="7289463" w="8639461">
                <a:moveTo>
                  <a:pt x="0" y="0"/>
                </a:moveTo>
                <a:lnTo>
                  <a:pt x="8639461" y="0"/>
                </a:lnTo>
                <a:lnTo>
                  <a:pt x="8639461" y="7289464"/>
                </a:lnTo>
                <a:lnTo>
                  <a:pt x="0" y="72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9450000" y="1628632"/>
            <a:ext cx="8639461" cy="7289463"/>
          </a:xfrm>
          <a:custGeom>
            <a:avLst/>
            <a:gdLst/>
            <a:ahLst/>
            <a:cxnLst/>
            <a:rect r="r" b="b" t="t" l="l"/>
            <a:pathLst>
              <a:path h="7289463" w="8639461">
                <a:moveTo>
                  <a:pt x="0" y="0"/>
                </a:moveTo>
                <a:lnTo>
                  <a:pt x="8639461" y="0"/>
                </a:lnTo>
                <a:lnTo>
                  <a:pt x="8639461" y="7289464"/>
                </a:lnTo>
                <a:lnTo>
                  <a:pt x="0" y="72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1747" y="20574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CYCLO-NEXUS: Multi-Satellite AI Cyclone Watch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17220" y="1755648"/>
            <a:ext cx="11521440" cy="411480"/>
            <a:chOff x="0" y="0"/>
            <a:chExt cx="153619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6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361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 Solution: detailed explanation of the proposed solution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7695" y="2253615"/>
            <a:ext cx="2734818" cy="2419350"/>
            <a:chOff x="0" y="0"/>
            <a:chExt cx="3646424" cy="3225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46424" cy="3225800"/>
            </a:xfrm>
            <a:custGeom>
              <a:avLst/>
              <a:gdLst/>
              <a:ahLst/>
              <a:cxnLst/>
              <a:rect r="r" b="b" t="t" l="l"/>
              <a:pathLst>
                <a:path h="3225800" w="364642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35807" y="0"/>
                  </a:lnTo>
                  <a:cubicBezTo>
                    <a:pt x="3596894" y="0"/>
                    <a:pt x="3646424" y="49530"/>
                    <a:pt x="3646424" y="110617"/>
                  </a:cubicBezTo>
                  <a:lnTo>
                    <a:pt x="3646424" y="3115183"/>
                  </a:lnTo>
                  <a:cubicBezTo>
                    <a:pt x="3646424" y="3176270"/>
                    <a:pt x="3596894" y="3225800"/>
                    <a:pt x="3535807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17220" y="2263140"/>
            <a:ext cx="2715768" cy="493776"/>
            <a:chOff x="0" y="0"/>
            <a:chExt cx="3621024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21024" cy="658368"/>
            </a:xfrm>
            <a:custGeom>
              <a:avLst/>
              <a:gdLst/>
              <a:ahLst/>
              <a:cxnLst/>
              <a:rect r="r" b="b" t="t" l="l"/>
              <a:pathLst>
                <a:path h="658368" w="362102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1296" y="0"/>
                  </a:lnTo>
                  <a:cubicBezTo>
                    <a:pt x="3571875" y="0"/>
                    <a:pt x="3621024" y="49149"/>
                    <a:pt x="3621024" y="109728"/>
                  </a:cubicBezTo>
                  <a:lnTo>
                    <a:pt x="3621024" y="548640"/>
                  </a:lnTo>
                  <a:cubicBezTo>
                    <a:pt x="3621024" y="609219"/>
                    <a:pt x="3571875" y="658368"/>
                    <a:pt x="351129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4380" y="2359152"/>
            <a:ext cx="301752" cy="301752"/>
            <a:chOff x="0" y="0"/>
            <a:chExt cx="402336" cy="402336"/>
          </a:xfrm>
        </p:grpSpPr>
        <p:sp>
          <p:nvSpPr>
            <p:cNvPr name="Freeform 23" id="23" descr="eye_w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2263140"/>
            <a:ext cx="2057400" cy="493776"/>
            <a:chOff x="0" y="0"/>
            <a:chExt cx="2743200" cy="658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43200" cy="658368"/>
            </a:xfrm>
            <a:custGeom>
              <a:avLst/>
              <a:gdLst/>
              <a:ahLst/>
              <a:cxnLst/>
              <a:rect r="r" b="b" t="t" l="l"/>
              <a:pathLst>
                <a:path h="65836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74320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IDENTIFY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54380" y="2861310"/>
            <a:ext cx="246888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3133" indent="-151566" lvl="1">
              <a:lnSpc>
                <a:spcPts val="2009"/>
              </a:lnSpc>
              <a:buFont typeface="Arial"/>
              <a:buChar char="•"/>
            </a:pPr>
            <a:r>
              <a:rPr lang="en-US" b="true" sz="16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YOLO-OBB oriented boxes on the eye and cloud system</a:t>
            </a:r>
          </a:p>
          <a:p>
            <a:pPr algn="l" marL="303133" indent="-151566" lvl="1">
              <a:lnSpc>
                <a:spcPts val="2009"/>
              </a:lnSpc>
              <a:buFont typeface="Arial"/>
              <a:buChar char="•"/>
            </a:pPr>
            <a:r>
              <a:rPr lang="en-US" b="true" sz="16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Physics check flags developing systems early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542919" y="2253615"/>
            <a:ext cx="2734818" cy="2419350"/>
            <a:chOff x="0" y="0"/>
            <a:chExt cx="3646424" cy="3225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46424" cy="3225800"/>
            </a:xfrm>
            <a:custGeom>
              <a:avLst/>
              <a:gdLst/>
              <a:ahLst/>
              <a:cxnLst/>
              <a:rect r="r" b="b" t="t" l="l"/>
              <a:pathLst>
                <a:path h="3225800" w="364642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35807" y="0"/>
                  </a:lnTo>
                  <a:cubicBezTo>
                    <a:pt x="3596894" y="0"/>
                    <a:pt x="3646424" y="49530"/>
                    <a:pt x="3646424" y="110617"/>
                  </a:cubicBezTo>
                  <a:lnTo>
                    <a:pt x="3646424" y="3115183"/>
                  </a:lnTo>
                  <a:cubicBezTo>
                    <a:pt x="3646424" y="3176270"/>
                    <a:pt x="3596894" y="3225800"/>
                    <a:pt x="3535807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3552444" y="2263140"/>
            <a:ext cx="2715768" cy="493776"/>
            <a:chOff x="0" y="0"/>
            <a:chExt cx="3621024" cy="658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21024" cy="658368"/>
            </a:xfrm>
            <a:custGeom>
              <a:avLst/>
              <a:gdLst/>
              <a:ahLst/>
              <a:cxnLst/>
              <a:rect r="r" b="b" t="t" l="l"/>
              <a:pathLst>
                <a:path h="658368" w="362102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1296" y="0"/>
                  </a:lnTo>
                  <a:cubicBezTo>
                    <a:pt x="3571875" y="0"/>
                    <a:pt x="3621024" y="49149"/>
                    <a:pt x="3621024" y="109728"/>
                  </a:cubicBezTo>
                  <a:lnTo>
                    <a:pt x="3621024" y="548640"/>
                  </a:lnTo>
                  <a:cubicBezTo>
                    <a:pt x="3621024" y="609219"/>
                    <a:pt x="3571875" y="658368"/>
                    <a:pt x="351129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689604" y="2359152"/>
            <a:ext cx="301752" cy="301752"/>
            <a:chOff x="0" y="0"/>
            <a:chExt cx="402336" cy="402336"/>
          </a:xfrm>
        </p:grpSpPr>
        <p:sp>
          <p:nvSpPr>
            <p:cNvPr name="Freeform 33" id="33" descr="layer_w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101084" y="2263140"/>
            <a:ext cx="2057400" cy="493776"/>
            <a:chOff x="0" y="0"/>
            <a:chExt cx="2743200" cy="658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3200" cy="658368"/>
            </a:xfrm>
            <a:custGeom>
              <a:avLst/>
              <a:gdLst/>
              <a:ahLst/>
              <a:cxnLst/>
              <a:rect r="r" b="b" t="t" l="l"/>
              <a:pathLst>
                <a:path h="65836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74320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CLASSIFY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689604" y="2861310"/>
            <a:ext cx="246888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3133" indent="-151566" lvl="1">
              <a:lnSpc>
                <a:spcPts val="2009"/>
              </a:lnSpc>
              <a:buFont typeface="Arial"/>
              <a:buChar char="•"/>
            </a:pPr>
            <a:r>
              <a:rPr lang="en-US" b="true" sz="16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IMD 7-tier scale, D to Super Cyclone</a:t>
            </a:r>
          </a:p>
          <a:p>
            <a:pPr algn="l" marL="303133" indent="-151566" lvl="1">
              <a:lnSpc>
                <a:spcPts val="2009"/>
              </a:lnSpc>
              <a:buFont typeface="Arial"/>
              <a:buChar char="•"/>
            </a:pPr>
            <a:r>
              <a:rPr lang="en-US" b="true" sz="16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Yellow / Orange / Red alerts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478143" y="2253615"/>
            <a:ext cx="2734818" cy="2419350"/>
            <a:chOff x="0" y="0"/>
            <a:chExt cx="3646424" cy="3225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46424" cy="3225800"/>
            </a:xfrm>
            <a:custGeom>
              <a:avLst/>
              <a:gdLst/>
              <a:ahLst/>
              <a:cxnLst/>
              <a:rect r="r" b="b" t="t" l="l"/>
              <a:pathLst>
                <a:path h="3225800" w="364642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35807" y="0"/>
                  </a:lnTo>
                  <a:cubicBezTo>
                    <a:pt x="3596894" y="0"/>
                    <a:pt x="3646424" y="49530"/>
                    <a:pt x="3646424" y="110617"/>
                  </a:cubicBezTo>
                  <a:lnTo>
                    <a:pt x="3646424" y="3115183"/>
                  </a:lnTo>
                  <a:cubicBezTo>
                    <a:pt x="3646424" y="3176270"/>
                    <a:pt x="3596894" y="3225800"/>
                    <a:pt x="3535807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487668" y="2263140"/>
            <a:ext cx="2715768" cy="493776"/>
            <a:chOff x="0" y="0"/>
            <a:chExt cx="3621024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21024" cy="658368"/>
            </a:xfrm>
            <a:custGeom>
              <a:avLst/>
              <a:gdLst/>
              <a:ahLst/>
              <a:cxnLst/>
              <a:rect r="r" b="b" t="t" l="l"/>
              <a:pathLst>
                <a:path h="658368" w="362102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1296" y="0"/>
                  </a:lnTo>
                  <a:cubicBezTo>
                    <a:pt x="3571875" y="0"/>
                    <a:pt x="3621024" y="49149"/>
                    <a:pt x="3621024" y="109728"/>
                  </a:cubicBezTo>
                  <a:lnTo>
                    <a:pt x="3621024" y="548640"/>
                  </a:lnTo>
                  <a:cubicBezTo>
                    <a:pt x="3621024" y="609219"/>
                    <a:pt x="3571875" y="658368"/>
                    <a:pt x="351129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624828" y="2359152"/>
            <a:ext cx="301752" cy="301752"/>
            <a:chOff x="0" y="0"/>
            <a:chExt cx="402336" cy="402336"/>
          </a:xfrm>
        </p:grpSpPr>
        <p:sp>
          <p:nvSpPr>
            <p:cNvPr name="Freeform 43" id="43" descr="route_w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036308" y="2263140"/>
            <a:ext cx="2057400" cy="493776"/>
            <a:chOff x="0" y="0"/>
            <a:chExt cx="2743200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0" cy="658368"/>
            </a:xfrm>
            <a:custGeom>
              <a:avLst/>
              <a:gdLst/>
              <a:ahLst/>
              <a:cxnLst/>
              <a:rect r="r" b="b" t="t" l="l"/>
              <a:pathLst>
                <a:path h="65836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74320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PREDICT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544437" y="2823210"/>
            <a:ext cx="246888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7" indent="-169663" lvl="1">
              <a:lnSpc>
                <a:spcPts val="2249"/>
              </a:lnSpc>
              <a:buFont typeface="Arial"/>
              <a:buChar char="•"/>
            </a:pPr>
            <a:r>
              <a:rPr lang="en-US" b="true" sz="18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6 to 72 h track, wind and pressure</a:t>
            </a:r>
          </a:p>
          <a:p>
            <a:pPr algn="l" marL="339327" indent="-169663" lvl="1">
              <a:lnSpc>
                <a:spcPts val="2249"/>
              </a:lnSpc>
              <a:buFont typeface="Arial"/>
              <a:buChar char="•"/>
            </a:pPr>
            <a:r>
              <a:rPr lang="en-US" b="true" sz="18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ConvLSTM deep learning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413367" y="2253615"/>
            <a:ext cx="2734818" cy="2419350"/>
            <a:chOff x="0" y="0"/>
            <a:chExt cx="3646424" cy="3225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46424" cy="3225800"/>
            </a:xfrm>
            <a:custGeom>
              <a:avLst/>
              <a:gdLst/>
              <a:ahLst/>
              <a:cxnLst/>
              <a:rect r="r" b="b" t="t" l="l"/>
              <a:pathLst>
                <a:path h="3225800" w="364642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35807" y="0"/>
                  </a:lnTo>
                  <a:cubicBezTo>
                    <a:pt x="3596894" y="0"/>
                    <a:pt x="3646424" y="49530"/>
                    <a:pt x="3646424" y="110617"/>
                  </a:cubicBezTo>
                  <a:lnTo>
                    <a:pt x="3646424" y="3115183"/>
                  </a:lnTo>
                  <a:cubicBezTo>
                    <a:pt x="3646424" y="3176270"/>
                    <a:pt x="3596894" y="3225800"/>
                    <a:pt x="3535807" y="3225800"/>
                  </a:cubicBezTo>
                  <a:lnTo>
                    <a:pt x="110617" y="3225800"/>
                  </a:lnTo>
                  <a:cubicBezTo>
                    <a:pt x="49530" y="3225800"/>
                    <a:pt x="0" y="3176270"/>
                    <a:pt x="0" y="311518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422892" y="2263140"/>
            <a:ext cx="2715768" cy="493776"/>
            <a:chOff x="0" y="0"/>
            <a:chExt cx="3621024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21024" cy="658368"/>
            </a:xfrm>
            <a:custGeom>
              <a:avLst/>
              <a:gdLst/>
              <a:ahLst/>
              <a:cxnLst/>
              <a:rect r="r" b="b" t="t" l="l"/>
              <a:pathLst>
                <a:path h="658368" w="362102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1296" y="0"/>
                  </a:lnTo>
                  <a:cubicBezTo>
                    <a:pt x="3571875" y="0"/>
                    <a:pt x="3621024" y="49149"/>
                    <a:pt x="3621024" y="109728"/>
                  </a:cubicBezTo>
                  <a:lnTo>
                    <a:pt x="3621024" y="548640"/>
                  </a:lnTo>
                  <a:cubicBezTo>
                    <a:pt x="3621024" y="609219"/>
                    <a:pt x="3571875" y="658368"/>
                    <a:pt x="3511296" y="658368"/>
                  </a:cubicBezTo>
                  <a:lnTo>
                    <a:pt x="109728" y="658368"/>
                  </a:lnTo>
                  <a:cubicBezTo>
                    <a:pt x="49149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60052" y="2359152"/>
            <a:ext cx="301752" cy="301752"/>
            <a:chOff x="0" y="0"/>
            <a:chExt cx="402336" cy="402336"/>
          </a:xfrm>
        </p:grpSpPr>
        <p:sp>
          <p:nvSpPr>
            <p:cNvPr name="Freeform 53" id="53" descr="bell_w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971532" y="2263140"/>
            <a:ext cx="2057400" cy="493776"/>
            <a:chOff x="0" y="0"/>
            <a:chExt cx="2743200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43200" cy="658368"/>
            </a:xfrm>
            <a:custGeom>
              <a:avLst/>
              <a:gdLst/>
              <a:ahLst/>
              <a:cxnLst/>
              <a:rect r="r" b="b" t="t" l="l"/>
              <a:pathLst>
                <a:path h="658368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743200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WARN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560052" y="2851785"/>
            <a:ext cx="246888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7" indent="-169663" lvl="1">
              <a:lnSpc>
                <a:spcPts val="2249"/>
              </a:lnSpc>
              <a:buFont typeface="Arial"/>
              <a:buChar char="•"/>
            </a:pPr>
            <a:r>
              <a:rPr lang="en-US" b="true" sz="18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Auto-advisories for fishers, public and officials</a:t>
            </a:r>
          </a:p>
          <a:p>
            <a:pPr algn="l" marL="339327" indent="-169663" lvl="1">
              <a:lnSpc>
                <a:spcPts val="2249"/>
              </a:lnSpc>
              <a:buFont typeface="Arial"/>
              <a:buChar char="•"/>
            </a:pPr>
            <a:r>
              <a:rPr lang="en-US" b="true" sz="1874">
                <a:solidFill>
                  <a:srgbClr val="1B2A3A"/>
                </a:solidFill>
                <a:latin typeface="Arial Bold"/>
                <a:ea typeface="Arial Bold"/>
                <a:cs typeface="Arial Bold"/>
                <a:sym typeface="Arial Bold"/>
              </a:rPr>
              <a:t>English and Hindi and local languages 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472035" y="1773555"/>
            <a:ext cx="5203698" cy="2899410"/>
            <a:chOff x="0" y="0"/>
            <a:chExt cx="6938264" cy="38658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38264" cy="3865880"/>
            </a:xfrm>
            <a:custGeom>
              <a:avLst/>
              <a:gdLst/>
              <a:ahLst/>
              <a:cxnLst/>
              <a:rect r="r" b="b" t="t" l="l"/>
              <a:pathLst>
                <a:path h="3865880" w="693826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791071" y="0"/>
                  </a:lnTo>
                  <a:cubicBezTo>
                    <a:pt x="6872351" y="0"/>
                    <a:pt x="6938264" y="65913"/>
                    <a:pt x="6938264" y="147193"/>
                  </a:cubicBezTo>
                  <a:lnTo>
                    <a:pt x="6938264" y="3718687"/>
                  </a:lnTo>
                  <a:cubicBezTo>
                    <a:pt x="6938264" y="3799967"/>
                    <a:pt x="6872351" y="3865880"/>
                    <a:pt x="6791071" y="3865880"/>
                  </a:cubicBezTo>
                  <a:lnTo>
                    <a:pt x="147193" y="3865880"/>
                  </a:lnTo>
                  <a:cubicBezTo>
                    <a:pt x="65913" y="3865880"/>
                    <a:pt x="0" y="3799967"/>
                    <a:pt x="0" y="37186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495276" y="1796796"/>
            <a:ext cx="5157216" cy="370332"/>
            <a:chOff x="0" y="0"/>
            <a:chExt cx="6876288" cy="4937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76288" cy="493776"/>
            </a:xfrm>
            <a:custGeom>
              <a:avLst/>
              <a:gdLst/>
              <a:ahLst/>
              <a:cxnLst/>
              <a:rect r="r" b="b" t="t" l="l"/>
              <a:pathLst>
                <a:path h="493776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EAF3F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646152" y="1920240"/>
            <a:ext cx="109728" cy="109728"/>
            <a:chOff x="0" y="0"/>
            <a:chExt cx="146304" cy="1463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838176" y="1920240"/>
            <a:ext cx="109728" cy="109728"/>
            <a:chOff x="0" y="0"/>
            <a:chExt cx="146304" cy="14630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FD54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030200" y="1920240"/>
            <a:ext cx="109728" cy="109728"/>
            <a:chOff x="0" y="0"/>
            <a:chExt cx="146304" cy="14630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cubicBezTo>
                    <a:pt x="113538" y="0"/>
                    <a:pt x="146304" y="32766"/>
                    <a:pt x="146304" y="73152"/>
                  </a:cubicBezTo>
                  <a:cubicBezTo>
                    <a:pt x="146304" y="113538"/>
                    <a:pt x="113538" y="146304"/>
                    <a:pt x="73152" y="146304"/>
                  </a:cubicBez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304520" y="1837944"/>
            <a:ext cx="4155948" cy="274320"/>
            <a:chOff x="0" y="0"/>
            <a:chExt cx="5541264" cy="3657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541264" cy="365760"/>
            </a:xfrm>
            <a:custGeom>
              <a:avLst/>
              <a:gdLst/>
              <a:ahLst/>
              <a:cxnLst/>
              <a:rect r="r" b="b" t="t" l="l"/>
              <a:pathLst>
                <a:path h="36576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198" r="0" b="-24519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5541264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CYCLO-NEXUS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550140" y="2221992"/>
            <a:ext cx="3525555" cy="2372868"/>
            <a:chOff x="0" y="0"/>
            <a:chExt cx="4700740" cy="3163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00778" cy="3163824"/>
            </a:xfrm>
            <a:custGeom>
              <a:avLst/>
              <a:gdLst/>
              <a:ahLst/>
              <a:cxnLst/>
              <a:rect r="r" b="b" t="t" l="l"/>
              <a:pathLst>
                <a:path h="3163824" w="4700778">
                  <a:moveTo>
                    <a:pt x="0" y="0"/>
                  </a:moveTo>
                  <a:lnTo>
                    <a:pt x="4700778" y="0"/>
                  </a:lnTo>
                  <a:lnTo>
                    <a:pt x="4700778" y="3163824"/>
                  </a:lnTo>
                  <a:lnTo>
                    <a:pt x="0" y="3163824"/>
                  </a:lnTo>
                  <a:close/>
                </a:path>
              </a:pathLst>
            </a:custGeom>
            <a:solidFill>
              <a:srgbClr val="D6ECF8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550140" y="2221992"/>
            <a:ext cx="1939061" cy="1186434"/>
            <a:chOff x="0" y="0"/>
            <a:chExt cx="2585415" cy="1581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85466" cy="1581912"/>
            </a:xfrm>
            <a:custGeom>
              <a:avLst/>
              <a:gdLst/>
              <a:ahLst/>
              <a:cxnLst/>
              <a:rect r="r" b="b" t="t" l="l"/>
              <a:pathLst>
                <a:path h="1581912" w="2585466">
                  <a:moveTo>
                    <a:pt x="0" y="0"/>
                  </a:moveTo>
                  <a:lnTo>
                    <a:pt x="2585466" y="0"/>
                  </a:lnTo>
                  <a:lnTo>
                    <a:pt x="1974342" y="790956"/>
                  </a:lnTo>
                  <a:lnTo>
                    <a:pt x="940181" y="1328801"/>
                  </a:lnTo>
                  <a:lnTo>
                    <a:pt x="0" y="1581912"/>
                  </a:lnTo>
                  <a:close/>
                </a:path>
              </a:pathLst>
            </a:custGeom>
            <a:solidFill>
              <a:srgbClr val="E3EBDD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607806" y="2554195"/>
            <a:ext cx="2142773" cy="1138980"/>
            <a:chOff x="0" y="0"/>
            <a:chExt cx="2857030" cy="151864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856992" cy="1518666"/>
            </a:xfrm>
            <a:custGeom>
              <a:avLst/>
              <a:gdLst/>
              <a:ahLst/>
              <a:cxnLst/>
              <a:rect r="r" b="b" t="t" l="l"/>
              <a:pathLst>
                <a:path h="1518666" w="2856992">
                  <a:moveTo>
                    <a:pt x="0" y="1518666"/>
                  </a:moveTo>
                  <a:lnTo>
                    <a:pt x="2820416" y="0"/>
                  </a:lnTo>
                  <a:lnTo>
                    <a:pt x="2856992" y="1138936"/>
                  </a:lnTo>
                  <a:close/>
                </a:path>
              </a:pathLst>
            </a:custGeom>
            <a:solidFill>
              <a:srgbClr val="F28C28">
                <a:alpha val="7451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548179" y="3633540"/>
            <a:ext cx="119253" cy="119253"/>
            <a:chOff x="0" y="0"/>
            <a:chExt cx="159004" cy="1590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9004" cy="159004"/>
            </a:xfrm>
            <a:custGeom>
              <a:avLst/>
              <a:gdLst/>
              <a:ahLst/>
              <a:cxnLst/>
              <a:rect r="r" b="b" t="t" l="l"/>
              <a:pathLst>
                <a:path h="159004" w="159004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cubicBezTo>
                    <a:pt x="123444" y="0"/>
                    <a:pt x="159004" y="35560"/>
                    <a:pt x="159004" y="79502"/>
                  </a:cubicBezTo>
                  <a:cubicBezTo>
                    <a:pt x="159004" y="123444"/>
                    <a:pt x="123444" y="159004"/>
                    <a:pt x="79502" y="159004"/>
                  </a:cubicBezTo>
                  <a:cubicBezTo>
                    <a:pt x="35560" y="159004"/>
                    <a:pt x="0" y="123444"/>
                    <a:pt x="0" y="79502"/>
                  </a:cubicBezTo>
                  <a:close/>
                </a:path>
              </a:pathLst>
            </a:custGeom>
            <a:solidFill>
              <a:srgbClr val="0A25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3900737" y="3506991"/>
            <a:ext cx="119253" cy="119253"/>
            <a:chOff x="0" y="0"/>
            <a:chExt cx="159004" cy="15900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9004" cy="159004"/>
            </a:xfrm>
            <a:custGeom>
              <a:avLst/>
              <a:gdLst/>
              <a:ahLst/>
              <a:cxnLst/>
              <a:rect r="r" b="b" t="t" l="l"/>
              <a:pathLst>
                <a:path h="159004" w="159004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cubicBezTo>
                    <a:pt x="123444" y="0"/>
                    <a:pt x="159004" y="35560"/>
                    <a:pt x="159004" y="79502"/>
                  </a:cubicBezTo>
                  <a:cubicBezTo>
                    <a:pt x="159004" y="123444"/>
                    <a:pt x="123444" y="159004"/>
                    <a:pt x="79502" y="159004"/>
                  </a:cubicBezTo>
                  <a:cubicBezTo>
                    <a:pt x="35560" y="159004"/>
                    <a:pt x="0" y="123444"/>
                    <a:pt x="0" y="79502"/>
                  </a:cubicBezTo>
                  <a:close/>
                </a:path>
              </a:pathLst>
            </a:custGeom>
            <a:solidFill>
              <a:srgbClr val="0A25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4253296" y="3380442"/>
            <a:ext cx="119253" cy="119253"/>
            <a:chOff x="0" y="0"/>
            <a:chExt cx="159004" cy="15900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9004" cy="159004"/>
            </a:xfrm>
            <a:custGeom>
              <a:avLst/>
              <a:gdLst/>
              <a:ahLst/>
              <a:cxnLst/>
              <a:rect r="r" b="b" t="t" l="l"/>
              <a:pathLst>
                <a:path h="159004" w="159004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cubicBezTo>
                    <a:pt x="123444" y="0"/>
                    <a:pt x="159004" y="35560"/>
                    <a:pt x="159004" y="79502"/>
                  </a:cubicBezTo>
                  <a:cubicBezTo>
                    <a:pt x="159004" y="123444"/>
                    <a:pt x="123444" y="159004"/>
                    <a:pt x="79502" y="159004"/>
                  </a:cubicBezTo>
                  <a:cubicBezTo>
                    <a:pt x="35560" y="159004"/>
                    <a:pt x="0" y="123444"/>
                    <a:pt x="0" y="79502"/>
                  </a:cubicBezTo>
                  <a:close/>
                </a:path>
              </a:pathLst>
            </a:custGeom>
            <a:solidFill>
              <a:srgbClr val="0A25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4605854" y="3253883"/>
            <a:ext cx="119253" cy="119253"/>
            <a:chOff x="0" y="0"/>
            <a:chExt cx="159004" cy="15900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9004" cy="159004"/>
            </a:xfrm>
            <a:custGeom>
              <a:avLst/>
              <a:gdLst/>
              <a:ahLst/>
              <a:cxnLst/>
              <a:rect r="r" b="b" t="t" l="l"/>
              <a:pathLst>
                <a:path h="159004" w="159004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cubicBezTo>
                    <a:pt x="123444" y="0"/>
                    <a:pt x="159004" y="35560"/>
                    <a:pt x="159004" y="79502"/>
                  </a:cubicBezTo>
                  <a:cubicBezTo>
                    <a:pt x="159004" y="123444"/>
                    <a:pt x="123444" y="159004"/>
                    <a:pt x="79502" y="159004"/>
                  </a:cubicBezTo>
                  <a:cubicBezTo>
                    <a:pt x="35560" y="159004"/>
                    <a:pt x="0" y="123444"/>
                    <a:pt x="0" y="79502"/>
                  </a:cubicBezTo>
                  <a:close/>
                </a:path>
              </a:pathLst>
            </a:custGeom>
            <a:solidFill>
              <a:srgbClr val="F28C28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958403" y="3127334"/>
            <a:ext cx="119253" cy="119253"/>
            <a:chOff x="0" y="0"/>
            <a:chExt cx="159004" cy="15900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9004" cy="159004"/>
            </a:xfrm>
            <a:custGeom>
              <a:avLst/>
              <a:gdLst/>
              <a:ahLst/>
              <a:cxnLst/>
              <a:rect r="r" b="b" t="t" l="l"/>
              <a:pathLst>
                <a:path h="159004" w="159004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cubicBezTo>
                    <a:pt x="123444" y="0"/>
                    <a:pt x="159004" y="35560"/>
                    <a:pt x="159004" y="79502"/>
                  </a:cubicBezTo>
                  <a:cubicBezTo>
                    <a:pt x="159004" y="123444"/>
                    <a:pt x="123444" y="159004"/>
                    <a:pt x="79502" y="159004"/>
                  </a:cubicBezTo>
                  <a:cubicBezTo>
                    <a:pt x="35560" y="159004"/>
                    <a:pt x="0" y="123444"/>
                    <a:pt x="0" y="79502"/>
                  </a:cubicBezTo>
                  <a:close/>
                </a:path>
              </a:pathLst>
            </a:custGeom>
            <a:solidFill>
              <a:srgbClr val="F28C28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5310961" y="3000775"/>
            <a:ext cx="119253" cy="119253"/>
            <a:chOff x="0" y="0"/>
            <a:chExt cx="159004" cy="15900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9004" cy="159004"/>
            </a:xfrm>
            <a:custGeom>
              <a:avLst/>
              <a:gdLst/>
              <a:ahLst/>
              <a:cxnLst/>
              <a:rect r="r" b="b" t="t" l="l"/>
              <a:pathLst>
                <a:path h="159004" w="159004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cubicBezTo>
                    <a:pt x="123444" y="0"/>
                    <a:pt x="159004" y="35560"/>
                    <a:pt x="159004" y="79502"/>
                  </a:cubicBezTo>
                  <a:cubicBezTo>
                    <a:pt x="159004" y="123444"/>
                    <a:pt x="123444" y="159004"/>
                    <a:pt x="79502" y="159004"/>
                  </a:cubicBezTo>
                  <a:cubicBezTo>
                    <a:pt x="35560" y="159004"/>
                    <a:pt x="0" y="123444"/>
                    <a:pt x="0" y="79502"/>
                  </a:cubicBezTo>
                  <a:close/>
                </a:path>
              </a:pathLst>
            </a:custGeom>
            <a:solidFill>
              <a:srgbClr val="F28C28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5663520" y="2874226"/>
            <a:ext cx="119253" cy="119253"/>
            <a:chOff x="0" y="0"/>
            <a:chExt cx="159004" cy="15900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59004" cy="159004"/>
            </a:xfrm>
            <a:custGeom>
              <a:avLst/>
              <a:gdLst/>
              <a:ahLst/>
              <a:cxnLst/>
              <a:rect r="r" b="b" t="t" l="l"/>
              <a:pathLst>
                <a:path h="159004" w="159004">
                  <a:moveTo>
                    <a:pt x="0" y="79502"/>
                  </a:moveTo>
                  <a:cubicBezTo>
                    <a:pt x="0" y="35560"/>
                    <a:pt x="35560" y="0"/>
                    <a:pt x="79502" y="0"/>
                  </a:cubicBezTo>
                  <a:cubicBezTo>
                    <a:pt x="123444" y="0"/>
                    <a:pt x="159004" y="35560"/>
                    <a:pt x="159004" y="79502"/>
                  </a:cubicBezTo>
                  <a:cubicBezTo>
                    <a:pt x="159004" y="123444"/>
                    <a:pt x="123444" y="159004"/>
                    <a:pt x="79502" y="159004"/>
                  </a:cubicBezTo>
                  <a:cubicBezTo>
                    <a:pt x="35560" y="159004"/>
                    <a:pt x="0" y="123444"/>
                    <a:pt x="0" y="79502"/>
                  </a:cubicBezTo>
                  <a:close/>
                </a:path>
              </a:pathLst>
            </a:custGeom>
            <a:solidFill>
              <a:srgbClr val="F28C28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3388350" y="3473710"/>
            <a:ext cx="438912" cy="438912"/>
            <a:chOff x="0" y="0"/>
            <a:chExt cx="585216" cy="585216"/>
          </a:xfrm>
        </p:grpSpPr>
        <p:sp>
          <p:nvSpPr>
            <p:cNvPr name="Freeform 92" id="92" descr="hurricane_r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6139512" y="2217230"/>
            <a:ext cx="1462869" cy="2382393"/>
            <a:chOff x="0" y="0"/>
            <a:chExt cx="1950491" cy="317652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950466" cy="3176524"/>
            </a:xfrm>
            <a:custGeom>
              <a:avLst/>
              <a:gdLst/>
              <a:ahLst/>
              <a:cxnLst/>
              <a:rect r="r" b="b" t="t" l="l"/>
              <a:pathLst>
                <a:path h="3176524" w="1950466">
                  <a:moveTo>
                    <a:pt x="0" y="0"/>
                  </a:moveTo>
                  <a:lnTo>
                    <a:pt x="1950466" y="0"/>
                  </a:lnTo>
                  <a:lnTo>
                    <a:pt x="1950466" y="3176524"/>
                  </a:lnTo>
                  <a:lnTo>
                    <a:pt x="0" y="3176524"/>
                  </a:lnTo>
                  <a:close/>
                </a:path>
              </a:pathLst>
            </a:custGeom>
            <a:solidFill>
              <a:srgbClr val="F7FAFD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6226571" y="2331720"/>
            <a:ext cx="1288752" cy="329184"/>
            <a:chOff x="0" y="0"/>
            <a:chExt cx="1718335" cy="43891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718310" cy="438912"/>
            </a:xfrm>
            <a:custGeom>
              <a:avLst/>
              <a:gdLst/>
              <a:ahLst/>
              <a:cxnLst/>
              <a:rect r="r" b="b" t="t" l="l"/>
              <a:pathLst>
                <a:path h="438912" w="171831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626870" y="0"/>
                  </a:lnTo>
                  <a:cubicBezTo>
                    <a:pt x="1677416" y="0"/>
                    <a:pt x="1718310" y="40894"/>
                    <a:pt x="1718310" y="91440"/>
                  </a:cubicBezTo>
                  <a:lnTo>
                    <a:pt x="1718310" y="347472"/>
                  </a:lnTo>
                  <a:cubicBezTo>
                    <a:pt x="1718310" y="398018"/>
                    <a:pt x="1677416" y="438912"/>
                    <a:pt x="1626870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718335" cy="457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VSCS</a:t>
              </a:r>
            </a:p>
          </p:txBody>
        </p:sp>
      </p:grpSp>
      <p:sp>
        <p:nvSpPr>
          <p:cNvPr name="TextBox 98" id="98"/>
          <p:cNvSpPr txBox="true"/>
          <p:nvPr/>
        </p:nvSpPr>
        <p:spPr>
          <a:xfrm rot="0">
            <a:off x="16226571" y="2751582"/>
            <a:ext cx="1316184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IMD tier</a:t>
            </a: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Wind 120 km/h</a:t>
            </a:r>
          </a:p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Landfall ETA 24 h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6289846" y="4247197"/>
            <a:ext cx="1312545" cy="283845"/>
            <a:chOff x="0" y="0"/>
            <a:chExt cx="1750060" cy="3784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750060" cy="378460"/>
            </a:xfrm>
            <a:custGeom>
              <a:avLst/>
              <a:gdLst/>
              <a:ahLst/>
              <a:cxnLst/>
              <a:rect r="r" b="b" t="t" l="l"/>
              <a:pathLst>
                <a:path h="378460" w="1750060">
                  <a:moveTo>
                    <a:pt x="0" y="94615"/>
                  </a:moveTo>
                  <a:cubicBezTo>
                    <a:pt x="0" y="42418"/>
                    <a:pt x="42418" y="0"/>
                    <a:pt x="94615" y="0"/>
                  </a:cubicBezTo>
                  <a:lnTo>
                    <a:pt x="1655445" y="0"/>
                  </a:lnTo>
                  <a:cubicBezTo>
                    <a:pt x="1707642" y="0"/>
                    <a:pt x="1750060" y="42418"/>
                    <a:pt x="1750060" y="94615"/>
                  </a:cubicBezTo>
                  <a:lnTo>
                    <a:pt x="1750060" y="283845"/>
                  </a:lnTo>
                  <a:cubicBezTo>
                    <a:pt x="1750060" y="336042"/>
                    <a:pt x="1707642" y="378460"/>
                    <a:pt x="1655445" y="378460"/>
                  </a:cubicBezTo>
                  <a:lnTo>
                    <a:pt x="94615" y="378460"/>
                  </a:lnTo>
                  <a:cubicBezTo>
                    <a:pt x="42418" y="378460"/>
                    <a:pt x="0" y="336042"/>
                    <a:pt x="0" y="28384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750060" cy="387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0"/>
                </a:lnSpc>
              </a:pPr>
              <a:r>
                <a:rPr lang="en-US" sz="1125" i="true">
                  <a:solidFill>
                    <a:srgbClr val="4A5B6C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Illustrative UI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17220" y="4937760"/>
            <a:ext cx="8366760" cy="411480"/>
            <a:chOff x="0" y="0"/>
            <a:chExt cx="11155680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155680" cy="548640"/>
            </a:xfrm>
            <a:custGeom>
              <a:avLst/>
              <a:gdLst/>
              <a:ahLst/>
              <a:cxnLst/>
              <a:rect r="r" b="b" t="t" l="l"/>
              <a:pathLst>
                <a:path h="5486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111556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it addresses the problem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395460" y="4937760"/>
            <a:ext cx="8229600" cy="411480"/>
            <a:chOff x="0" y="0"/>
            <a:chExt cx="1097280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Innovation and uniqueness of the solution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617220" y="5458968"/>
            <a:ext cx="3154680" cy="795528"/>
            <a:chOff x="0" y="0"/>
            <a:chExt cx="4206240" cy="106070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2062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950976"/>
                  </a:lnTo>
                  <a:cubicBezTo>
                    <a:pt x="4206240" y="1011555"/>
                    <a:pt x="4157091" y="1060704"/>
                    <a:pt x="409651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420624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B2C2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Fragmented data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Many agencies, many formats</a:t>
              </a:r>
            </a:p>
          </p:txBody>
        </p:sp>
      </p:grpSp>
      <p:sp>
        <p:nvSpPr>
          <p:cNvPr name="AutoShape 111" id="111"/>
          <p:cNvSpPr/>
          <p:nvPr/>
        </p:nvSpPr>
        <p:spPr>
          <a:xfrm rot="290640">
            <a:off x="3820620" y="5847207"/>
            <a:ext cx="451190" cy="0"/>
          </a:xfrm>
          <a:prstGeom prst="line">
            <a:avLst/>
          </a:prstGeom>
          <a:ln cap="rnd" w="190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2" id="112"/>
          <p:cNvGrpSpPr/>
          <p:nvPr/>
        </p:nvGrpSpPr>
        <p:grpSpPr>
          <a:xfrm rot="0">
            <a:off x="4320540" y="5458968"/>
            <a:ext cx="4663440" cy="795528"/>
            <a:chOff x="0" y="0"/>
            <a:chExt cx="6217920" cy="106070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17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6217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08192" y="0"/>
                  </a:lnTo>
                  <a:cubicBezTo>
                    <a:pt x="6168771" y="0"/>
                    <a:pt x="6217920" y="49149"/>
                    <a:pt x="6217920" y="109728"/>
                  </a:cubicBezTo>
                  <a:lnTo>
                    <a:pt x="6217920" y="950976"/>
                  </a:lnTo>
                  <a:cubicBezTo>
                    <a:pt x="6217920" y="1011555"/>
                    <a:pt x="6168771" y="1060704"/>
                    <a:pt x="610819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621792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INSAT-3DS + GPM + JTWC/IBTrACS fused into one grid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617220" y="6391656"/>
            <a:ext cx="3154680" cy="795528"/>
            <a:chOff x="0" y="0"/>
            <a:chExt cx="4206240" cy="106070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2062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950976"/>
                  </a:lnTo>
                  <a:cubicBezTo>
                    <a:pt x="4206240" y="1011555"/>
                    <a:pt x="4157091" y="1060704"/>
                    <a:pt x="409651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420624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B2C2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Manual tracking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Slow and error-prone</a:t>
              </a:r>
            </a:p>
          </p:txBody>
        </p:sp>
      </p:grpSp>
      <p:sp>
        <p:nvSpPr>
          <p:cNvPr name="AutoShape 118" id="118"/>
          <p:cNvSpPr/>
          <p:nvPr/>
        </p:nvSpPr>
        <p:spPr>
          <a:xfrm rot="290640">
            <a:off x="3820620" y="6779895"/>
            <a:ext cx="451190" cy="0"/>
          </a:xfrm>
          <a:prstGeom prst="line">
            <a:avLst/>
          </a:prstGeom>
          <a:ln cap="rnd" w="190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9" id="119"/>
          <p:cNvGrpSpPr/>
          <p:nvPr/>
        </p:nvGrpSpPr>
        <p:grpSpPr>
          <a:xfrm rot="0">
            <a:off x="4320540" y="6391656"/>
            <a:ext cx="4663440" cy="795528"/>
            <a:chOff x="0" y="0"/>
            <a:chExt cx="6217920" cy="106070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217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6217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08192" y="0"/>
                  </a:lnTo>
                  <a:cubicBezTo>
                    <a:pt x="6168771" y="0"/>
                    <a:pt x="6217920" y="49149"/>
                    <a:pt x="6217920" y="109728"/>
                  </a:cubicBezTo>
                  <a:lnTo>
                    <a:pt x="6217920" y="950976"/>
                  </a:lnTo>
                  <a:cubicBezTo>
                    <a:pt x="6217920" y="1011555"/>
                    <a:pt x="6168771" y="1060704"/>
                    <a:pt x="610819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621792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Automated 30-minute pipeline, every cycle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17220" y="7324344"/>
            <a:ext cx="3154680" cy="795528"/>
            <a:chOff x="0" y="0"/>
            <a:chExt cx="4206240" cy="106070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2062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950976"/>
                  </a:lnTo>
                  <a:cubicBezTo>
                    <a:pt x="4206240" y="1011555"/>
                    <a:pt x="4157091" y="1060704"/>
                    <a:pt x="409651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420624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B2C2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Forecast uncertainty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Weak systems get missed</a:t>
              </a:r>
            </a:p>
          </p:txBody>
        </p:sp>
      </p:grpSp>
      <p:sp>
        <p:nvSpPr>
          <p:cNvPr name="AutoShape 125" id="125"/>
          <p:cNvSpPr/>
          <p:nvPr/>
        </p:nvSpPr>
        <p:spPr>
          <a:xfrm rot="290640">
            <a:off x="3820620" y="7712583"/>
            <a:ext cx="451190" cy="0"/>
          </a:xfrm>
          <a:prstGeom prst="line">
            <a:avLst/>
          </a:prstGeom>
          <a:ln cap="rnd" w="190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6" id="126"/>
          <p:cNvGrpSpPr/>
          <p:nvPr/>
        </p:nvGrpSpPr>
        <p:grpSpPr>
          <a:xfrm rot="0">
            <a:off x="4320540" y="7324344"/>
            <a:ext cx="4663440" cy="795528"/>
            <a:chOff x="0" y="0"/>
            <a:chExt cx="6217920" cy="106070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17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6217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08192" y="0"/>
                  </a:lnTo>
                  <a:cubicBezTo>
                    <a:pt x="6168771" y="0"/>
                    <a:pt x="6217920" y="49149"/>
                    <a:pt x="6217920" y="109728"/>
                  </a:cubicBezTo>
                  <a:lnTo>
                    <a:pt x="6217920" y="950976"/>
                  </a:lnTo>
                  <a:cubicBezTo>
                    <a:pt x="6217920" y="1011555"/>
                    <a:pt x="6168771" y="1060704"/>
                    <a:pt x="610819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621792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Physics check and uncertainty cone flag weak systems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617220" y="8257032"/>
            <a:ext cx="3154680" cy="795528"/>
            <a:chOff x="0" y="0"/>
            <a:chExt cx="4206240" cy="106070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206240" cy="1060704"/>
            </a:xfrm>
            <a:custGeom>
              <a:avLst/>
              <a:gdLst/>
              <a:ahLst/>
              <a:cxnLst/>
              <a:rect r="r" b="b" t="t" l="l"/>
              <a:pathLst>
                <a:path h="1060704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950976"/>
                  </a:lnTo>
                  <a:cubicBezTo>
                    <a:pt x="4206240" y="1011555"/>
                    <a:pt x="4157091" y="1060704"/>
                    <a:pt x="409651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420624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9B2C2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Coastal risk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High population exposure</a:t>
              </a:r>
            </a:p>
          </p:txBody>
        </p:sp>
      </p:grpSp>
      <p:sp>
        <p:nvSpPr>
          <p:cNvPr name="AutoShape 132" id="132"/>
          <p:cNvSpPr/>
          <p:nvPr/>
        </p:nvSpPr>
        <p:spPr>
          <a:xfrm rot="290640">
            <a:off x="3820620" y="8645271"/>
            <a:ext cx="451190" cy="0"/>
          </a:xfrm>
          <a:prstGeom prst="line">
            <a:avLst/>
          </a:prstGeom>
          <a:ln cap="rnd" w="190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3" id="133"/>
          <p:cNvGrpSpPr/>
          <p:nvPr/>
        </p:nvGrpSpPr>
        <p:grpSpPr>
          <a:xfrm rot="0">
            <a:off x="4320540" y="8257032"/>
            <a:ext cx="4663440" cy="795528"/>
            <a:chOff x="0" y="0"/>
            <a:chExt cx="6217920" cy="106070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217920" cy="1060704"/>
            </a:xfrm>
            <a:custGeom>
              <a:avLst/>
              <a:gdLst/>
              <a:ahLst/>
              <a:cxnLst/>
              <a:rect r="r" b="b" t="t" l="l"/>
              <a:pathLst>
                <a:path h="1060704" w="62179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108192" y="0"/>
                  </a:lnTo>
                  <a:cubicBezTo>
                    <a:pt x="6168771" y="0"/>
                    <a:pt x="6217920" y="49149"/>
                    <a:pt x="6217920" y="109728"/>
                  </a:cubicBezTo>
                  <a:lnTo>
                    <a:pt x="6217920" y="950976"/>
                  </a:lnTo>
                  <a:cubicBezTo>
                    <a:pt x="6217920" y="1011555"/>
                    <a:pt x="6168771" y="1060704"/>
                    <a:pt x="6108192" y="1060704"/>
                  </a:cubicBezTo>
                  <a:lnTo>
                    <a:pt x="109728" y="1060704"/>
                  </a:lnTo>
                  <a:cubicBezTo>
                    <a:pt x="49149" y="1060704"/>
                    <a:pt x="0" y="1011555"/>
                    <a:pt x="0" y="950976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6217920" cy="1070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Hazard swaths, landfall ETA, district exposure, EN/HI alerts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385935" y="5449443"/>
            <a:ext cx="4133850" cy="1774698"/>
            <a:chOff x="0" y="0"/>
            <a:chExt cx="5511800" cy="236626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511800" cy="2366264"/>
            </a:xfrm>
            <a:custGeom>
              <a:avLst/>
              <a:gdLst/>
              <a:ahLst/>
              <a:cxnLst/>
              <a:rect r="r" b="b" t="t" l="l"/>
              <a:pathLst>
                <a:path h="2366264" w="551180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5400929" y="0"/>
                  </a:lnTo>
                  <a:cubicBezTo>
                    <a:pt x="5462143" y="0"/>
                    <a:pt x="5511800" y="49657"/>
                    <a:pt x="5511800" y="110871"/>
                  </a:cubicBezTo>
                  <a:lnTo>
                    <a:pt x="5511800" y="2255393"/>
                  </a:lnTo>
                  <a:cubicBezTo>
                    <a:pt x="5511800" y="2316607"/>
                    <a:pt x="5462143" y="2366264"/>
                    <a:pt x="5400929" y="2366264"/>
                  </a:cubicBezTo>
                  <a:lnTo>
                    <a:pt x="110871" y="2366264"/>
                  </a:lnTo>
                  <a:cubicBezTo>
                    <a:pt x="49657" y="2366264"/>
                    <a:pt x="0" y="2316607"/>
                    <a:pt x="0" y="2255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9601200" y="5664708"/>
            <a:ext cx="685800" cy="685800"/>
            <a:chOff x="0" y="0"/>
            <a:chExt cx="914400" cy="9144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765792" y="5829300"/>
            <a:ext cx="356616" cy="356616"/>
            <a:chOff x="0" y="0"/>
            <a:chExt cx="475488" cy="475488"/>
          </a:xfrm>
        </p:grpSpPr>
        <p:sp>
          <p:nvSpPr>
            <p:cNvPr name="Freeform 141" id="141" descr="satellite_w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601200" y="6487668"/>
            <a:ext cx="3703320" cy="356616"/>
            <a:chOff x="0" y="0"/>
            <a:chExt cx="4937760" cy="47548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937760" cy="475488"/>
            </a:xfrm>
            <a:custGeom>
              <a:avLst/>
              <a:gdLst/>
              <a:ahLst/>
              <a:cxnLst/>
              <a:rect r="r" b="b" t="t" l="l"/>
              <a:pathLst>
                <a:path h="47548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9050"/>
              <a:ext cx="493776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Indian + NASA fusion</a:t>
              </a:r>
            </a:p>
          </p:txBody>
        </p:sp>
      </p:grpSp>
      <p:sp>
        <p:nvSpPr>
          <p:cNvPr name="TextBox 145" id="145"/>
          <p:cNvSpPr txBox="true"/>
          <p:nvPr/>
        </p:nvSpPr>
        <p:spPr>
          <a:xfrm rot="0">
            <a:off x="9601200" y="6811518"/>
            <a:ext cx="370332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INSAT-3DS and GPM in one AI model</a:t>
            </a:r>
          </a:p>
        </p:txBody>
      </p:sp>
      <p:grpSp>
        <p:nvGrpSpPr>
          <p:cNvPr name="Group 146" id="146"/>
          <p:cNvGrpSpPr/>
          <p:nvPr/>
        </p:nvGrpSpPr>
        <p:grpSpPr>
          <a:xfrm rot="0">
            <a:off x="13679043" y="5449443"/>
            <a:ext cx="3996690" cy="1774698"/>
            <a:chOff x="0" y="0"/>
            <a:chExt cx="5328920" cy="236626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328920" cy="2366264"/>
            </a:xfrm>
            <a:custGeom>
              <a:avLst/>
              <a:gdLst/>
              <a:ahLst/>
              <a:cxnLst/>
              <a:rect r="r" b="b" t="t" l="l"/>
              <a:pathLst>
                <a:path h="2366264" w="532892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5218049" y="0"/>
                  </a:lnTo>
                  <a:cubicBezTo>
                    <a:pt x="5279263" y="0"/>
                    <a:pt x="5328920" y="49657"/>
                    <a:pt x="5328920" y="110871"/>
                  </a:cubicBezTo>
                  <a:lnTo>
                    <a:pt x="5328920" y="2255393"/>
                  </a:lnTo>
                  <a:cubicBezTo>
                    <a:pt x="5328920" y="2316607"/>
                    <a:pt x="5279263" y="2366264"/>
                    <a:pt x="5218049" y="2366264"/>
                  </a:cubicBezTo>
                  <a:lnTo>
                    <a:pt x="110871" y="2366264"/>
                  </a:lnTo>
                  <a:cubicBezTo>
                    <a:pt x="49657" y="2366264"/>
                    <a:pt x="0" y="2316607"/>
                    <a:pt x="0" y="2255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13894308" y="5664708"/>
            <a:ext cx="685800" cy="685800"/>
            <a:chOff x="0" y="0"/>
            <a:chExt cx="914400" cy="9144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4058900" y="5829300"/>
            <a:ext cx="356616" cy="356616"/>
            <a:chOff x="0" y="0"/>
            <a:chExt cx="475488" cy="475488"/>
          </a:xfrm>
        </p:grpSpPr>
        <p:sp>
          <p:nvSpPr>
            <p:cNvPr name="Freeform 151" id="151" descr="shield_w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3894308" y="6487668"/>
            <a:ext cx="3566160" cy="356616"/>
            <a:chOff x="0" y="0"/>
            <a:chExt cx="4754880" cy="47548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754880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475488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Hard-fail quality gates</a:t>
              </a:r>
            </a:p>
          </p:txBody>
        </p:sp>
      </p:grpSp>
      <p:sp>
        <p:nvSpPr>
          <p:cNvPr name="TextBox 155" id="155"/>
          <p:cNvSpPr txBox="true"/>
          <p:nvPr/>
        </p:nvSpPr>
        <p:spPr>
          <a:xfrm rot="0">
            <a:off x="13894308" y="6811518"/>
            <a:ext cx="356616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Bad tensors are blocked before inference</a:t>
            </a:r>
          </a:p>
        </p:txBody>
      </p:sp>
      <p:grpSp>
        <p:nvGrpSpPr>
          <p:cNvPr name="Group 156" id="156"/>
          <p:cNvGrpSpPr/>
          <p:nvPr/>
        </p:nvGrpSpPr>
        <p:grpSpPr>
          <a:xfrm rot="0">
            <a:off x="9385935" y="7369683"/>
            <a:ext cx="4133850" cy="1774698"/>
            <a:chOff x="0" y="0"/>
            <a:chExt cx="5511800" cy="2366264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511800" cy="2366264"/>
            </a:xfrm>
            <a:custGeom>
              <a:avLst/>
              <a:gdLst/>
              <a:ahLst/>
              <a:cxnLst/>
              <a:rect r="r" b="b" t="t" l="l"/>
              <a:pathLst>
                <a:path h="2366264" w="551180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5400929" y="0"/>
                  </a:lnTo>
                  <a:cubicBezTo>
                    <a:pt x="5462143" y="0"/>
                    <a:pt x="5511800" y="49657"/>
                    <a:pt x="5511800" y="110871"/>
                  </a:cubicBezTo>
                  <a:lnTo>
                    <a:pt x="5511800" y="2255393"/>
                  </a:lnTo>
                  <a:cubicBezTo>
                    <a:pt x="5511800" y="2316607"/>
                    <a:pt x="5462143" y="2366264"/>
                    <a:pt x="5400929" y="2366264"/>
                  </a:cubicBezTo>
                  <a:lnTo>
                    <a:pt x="110871" y="2366264"/>
                  </a:lnTo>
                  <a:cubicBezTo>
                    <a:pt x="49657" y="2366264"/>
                    <a:pt x="0" y="2316607"/>
                    <a:pt x="0" y="2255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158" id="158"/>
          <p:cNvGrpSpPr/>
          <p:nvPr/>
        </p:nvGrpSpPr>
        <p:grpSpPr>
          <a:xfrm rot="0">
            <a:off x="9601200" y="7584948"/>
            <a:ext cx="685800" cy="685800"/>
            <a:chOff x="0" y="0"/>
            <a:chExt cx="914400" cy="9144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9765792" y="7749540"/>
            <a:ext cx="356616" cy="356616"/>
            <a:chOff x="0" y="0"/>
            <a:chExt cx="475488" cy="475488"/>
          </a:xfrm>
        </p:grpSpPr>
        <p:sp>
          <p:nvSpPr>
            <p:cNvPr name="Freeform 161" id="161" descr="search_w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9601200" y="8407908"/>
            <a:ext cx="3703320" cy="356616"/>
            <a:chOff x="0" y="0"/>
            <a:chExt cx="4937760" cy="47548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937760" cy="475488"/>
            </a:xfrm>
            <a:custGeom>
              <a:avLst/>
              <a:gdLst/>
              <a:ahLst/>
              <a:cxnLst/>
              <a:rect r="r" b="b" t="t" l="l"/>
              <a:pathLst>
                <a:path h="47548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19050"/>
              <a:ext cx="493776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Early weak-system flags</a:t>
              </a:r>
            </a:p>
          </p:txBody>
        </p:sp>
      </p:grpSp>
      <p:sp>
        <p:nvSpPr>
          <p:cNvPr name="TextBox 165" id="165"/>
          <p:cNvSpPr txBox="true"/>
          <p:nvPr/>
        </p:nvSpPr>
        <p:spPr>
          <a:xfrm rot="0">
            <a:off x="9601200" y="8731758"/>
            <a:ext cx="370332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Detects systems before they are named</a:t>
            </a:r>
          </a:p>
        </p:txBody>
      </p:sp>
      <p:grpSp>
        <p:nvGrpSpPr>
          <p:cNvPr name="Group 166" id="166"/>
          <p:cNvGrpSpPr/>
          <p:nvPr/>
        </p:nvGrpSpPr>
        <p:grpSpPr>
          <a:xfrm rot="0">
            <a:off x="13679043" y="7369683"/>
            <a:ext cx="3996690" cy="1774698"/>
            <a:chOff x="0" y="0"/>
            <a:chExt cx="5328920" cy="2366264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5328920" cy="2366264"/>
            </a:xfrm>
            <a:custGeom>
              <a:avLst/>
              <a:gdLst/>
              <a:ahLst/>
              <a:cxnLst/>
              <a:rect r="r" b="b" t="t" l="l"/>
              <a:pathLst>
                <a:path h="2366264" w="532892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5218049" y="0"/>
                  </a:lnTo>
                  <a:cubicBezTo>
                    <a:pt x="5279263" y="0"/>
                    <a:pt x="5328920" y="49657"/>
                    <a:pt x="5328920" y="110871"/>
                  </a:cubicBezTo>
                  <a:lnTo>
                    <a:pt x="5328920" y="2255393"/>
                  </a:lnTo>
                  <a:cubicBezTo>
                    <a:pt x="5328920" y="2316607"/>
                    <a:pt x="5279263" y="2366264"/>
                    <a:pt x="5218049" y="2366264"/>
                  </a:cubicBezTo>
                  <a:lnTo>
                    <a:pt x="110871" y="2366264"/>
                  </a:lnTo>
                  <a:cubicBezTo>
                    <a:pt x="49657" y="2366264"/>
                    <a:pt x="0" y="2316607"/>
                    <a:pt x="0" y="225539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94308" y="7584948"/>
            <a:ext cx="685800" cy="685800"/>
            <a:chOff x="0" y="0"/>
            <a:chExt cx="914400" cy="9144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058900" y="7749540"/>
            <a:ext cx="356616" cy="356616"/>
            <a:chOff x="0" y="0"/>
            <a:chExt cx="475488" cy="475488"/>
          </a:xfrm>
        </p:grpSpPr>
        <p:sp>
          <p:nvSpPr>
            <p:cNvPr name="Freeform 171" id="171" descr="globe_w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894308" y="8407908"/>
            <a:ext cx="3566160" cy="356616"/>
            <a:chOff x="0" y="0"/>
            <a:chExt cx="4754880" cy="47548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754880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19050"/>
              <a:ext cx="475488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Clearly labelled, open</a:t>
              </a:r>
            </a:p>
          </p:txBody>
        </p:sp>
      </p:grpSp>
      <p:sp>
        <p:nvSpPr>
          <p:cNvPr name="TextBox 175" id="175"/>
          <p:cNvSpPr txBox="true"/>
          <p:nvPr/>
        </p:nvSpPr>
        <p:spPr>
          <a:xfrm rot="0">
            <a:off x="13894308" y="8731758"/>
            <a:ext cx="356616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Official vs AI tags; low-cost, open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220" y="1755648"/>
            <a:ext cx="11932920" cy="411480"/>
            <a:chOff x="0" y="0"/>
            <a:chExt cx="1591056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10558" cy="548640"/>
            </a:xfrm>
            <a:custGeom>
              <a:avLst/>
              <a:gdLst/>
              <a:ahLst/>
              <a:cxnLst/>
              <a:rect r="r" b="b" t="t" l="l"/>
              <a:pathLst>
                <a:path h="548640" w="15910558">
                  <a:moveTo>
                    <a:pt x="0" y="0"/>
                  </a:moveTo>
                  <a:lnTo>
                    <a:pt x="15910558" y="0"/>
                  </a:lnTo>
                  <a:lnTo>
                    <a:pt x="1591055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066" r="0" b="-5150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910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Technologies to be used: architecture, one signed and monitored path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5314" y="2251234"/>
            <a:ext cx="2767012" cy="819340"/>
            <a:chOff x="0" y="0"/>
            <a:chExt cx="3689350" cy="10924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89350" cy="1092454"/>
            </a:xfrm>
            <a:custGeom>
              <a:avLst/>
              <a:gdLst/>
              <a:ahLst/>
              <a:cxnLst/>
              <a:rect r="r" b="b" t="t" l="l"/>
              <a:pathLst>
                <a:path h="1092454" w="368935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3576320" y="0"/>
                  </a:lnTo>
                  <a:cubicBezTo>
                    <a:pt x="3638677" y="0"/>
                    <a:pt x="3689350" y="50546"/>
                    <a:pt x="3689350" y="113030"/>
                  </a:cubicBezTo>
                  <a:lnTo>
                    <a:pt x="3689350" y="979424"/>
                  </a:lnTo>
                  <a:cubicBezTo>
                    <a:pt x="3689350" y="1041781"/>
                    <a:pt x="3638804" y="1092454"/>
                    <a:pt x="3576320" y="1092454"/>
                  </a:cubicBezTo>
                  <a:lnTo>
                    <a:pt x="113030" y="1092454"/>
                  </a:lnTo>
                  <a:cubicBezTo>
                    <a:pt x="50673" y="1092454"/>
                    <a:pt x="0" y="1041908"/>
                    <a:pt x="0" y="979424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689350" cy="1101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INSAT-3DS (ISRO)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IR + WV, every 30 min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91414" y="2251234"/>
            <a:ext cx="2767012" cy="819340"/>
            <a:chOff x="0" y="0"/>
            <a:chExt cx="3689350" cy="10924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89350" cy="1092454"/>
            </a:xfrm>
            <a:custGeom>
              <a:avLst/>
              <a:gdLst/>
              <a:ahLst/>
              <a:cxnLst/>
              <a:rect r="r" b="b" t="t" l="l"/>
              <a:pathLst>
                <a:path h="1092454" w="368935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3576320" y="0"/>
                  </a:lnTo>
                  <a:cubicBezTo>
                    <a:pt x="3638677" y="0"/>
                    <a:pt x="3689350" y="50546"/>
                    <a:pt x="3689350" y="113030"/>
                  </a:cubicBezTo>
                  <a:lnTo>
                    <a:pt x="3689350" y="979424"/>
                  </a:lnTo>
                  <a:cubicBezTo>
                    <a:pt x="3689350" y="1041781"/>
                    <a:pt x="3638804" y="1092454"/>
                    <a:pt x="3576320" y="1092454"/>
                  </a:cubicBezTo>
                  <a:lnTo>
                    <a:pt x="113030" y="1092454"/>
                  </a:lnTo>
                  <a:cubicBezTo>
                    <a:pt x="50673" y="1092454"/>
                    <a:pt x="0" y="1041908"/>
                    <a:pt x="0" y="979424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689350" cy="1101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GPM IMERG (NASA)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Rain rate, 30 min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77514" y="2251234"/>
            <a:ext cx="2767012" cy="819340"/>
            <a:chOff x="0" y="0"/>
            <a:chExt cx="3689350" cy="10924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89350" cy="1092454"/>
            </a:xfrm>
            <a:custGeom>
              <a:avLst/>
              <a:gdLst/>
              <a:ahLst/>
              <a:cxnLst/>
              <a:rect r="r" b="b" t="t" l="l"/>
              <a:pathLst>
                <a:path h="1092454" w="368935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3576320" y="0"/>
                  </a:lnTo>
                  <a:cubicBezTo>
                    <a:pt x="3638677" y="0"/>
                    <a:pt x="3689350" y="50546"/>
                    <a:pt x="3689350" y="113030"/>
                  </a:cubicBezTo>
                  <a:lnTo>
                    <a:pt x="3689350" y="979424"/>
                  </a:lnTo>
                  <a:cubicBezTo>
                    <a:pt x="3689350" y="1041781"/>
                    <a:pt x="3638804" y="1092454"/>
                    <a:pt x="3576320" y="1092454"/>
                  </a:cubicBezTo>
                  <a:lnTo>
                    <a:pt x="113030" y="1092454"/>
                  </a:lnTo>
                  <a:cubicBezTo>
                    <a:pt x="50673" y="1092454"/>
                    <a:pt x="0" y="1041908"/>
                    <a:pt x="0" y="979424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689350" cy="1101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JTWC + IBTrACS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Official tracks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63614" y="2251234"/>
            <a:ext cx="2767012" cy="819340"/>
            <a:chOff x="0" y="0"/>
            <a:chExt cx="3689350" cy="10924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89350" cy="1092454"/>
            </a:xfrm>
            <a:custGeom>
              <a:avLst/>
              <a:gdLst/>
              <a:ahLst/>
              <a:cxnLst/>
              <a:rect r="r" b="b" t="t" l="l"/>
              <a:pathLst>
                <a:path h="1092454" w="3689350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3576320" y="0"/>
                  </a:lnTo>
                  <a:cubicBezTo>
                    <a:pt x="3638677" y="0"/>
                    <a:pt x="3689350" y="50546"/>
                    <a:pt x="3689350" y="113030"/>
                  </a:cubicBezTo>
                  <a:lnTo>
                    <a:pt x="3689350" y="979424"/>
                  </a:lnTo>
                  <a:cubicBezTo>
                    <a:pt x="3689350" y="1041781"/>
                    <a:pt x="3638804" y="1092454"/>
                    <a:pt x="3576320" y="1092454"/>
                  </a:cubicBezTo>
                  <a:lnTo>
                    <a:pt x="113030" y="1092454"/>
                  </a:lnTo>
                  <a:cubicBezTo>
                    <a:pt x="50673" y="1092454"/>
                    <a:pt x="0" y="1041908"/>
                    <a:pt x="0" y="979424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689350" cy="1101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Open-Meteo + GIBS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Wind, SST, map tiles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5177100">
            <a:off x="1805073" y="3252788"/>
            <a:ext cx="367484" cy="0"/>
          </a:xfrm>
          <a:prstGeom prst="line">
            <a:avLst/>
          </a:prstGeom>
          <a:ln cap="rnd" w="9525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rot="5177100">
            <a:off x="4891173" y="3252788"/>
            <a:ext cx="367484" cy="0"/>
          </a:xfrm>
          <a:prstGeom prst="line">
            <a:avLst/>
          </a:prstGeom>
          <a:ln cap="rnd" w="9525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 rot="5177100">
            <a:off x="7977273" y="3252788"/>
            <a:ext cx="367484" cy="0"/>
          </a:xfrm>
          <a:prstGeom prst="line">
            <a:avLst/>
          </a:prstGeom>
          <a:ln cap="rnd" w="9525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rot="5177100">
            <a:off x="11063373" y="3252788"/>
            <a:ext cx="367484" cy="0"/>
          </a:xfrm>
          <a:prstGeom prst="line">
            <a:avLst/>
          </a:prstGeom>
          <a:ln cap="rnd" w="9525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607695" y="3419475"/>
            <a:ext cx="5848350" cy="2007870"/>
            <a:chOff x="0" y="0"/>
            <a:chExt cx="7797800" cy="2677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978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77978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7650099" y="0"/>
                  </a:lnTo>
                  <a:cubicBezTo>
                    <a:pt x="7731633" y="0"/>
                    <a:pt x="7797800" y="66167"/>
                    <a:pt x="7797800" y="147701"/>
                  </a:cubicBezTo>
                  <a:lnTo>
                    <a:pt x="7797800" y="2529459"/>
                  </a:lnTo>
                  <a:cubicBezTo>
                    <a:pt x="7797800" y="2610993"/>
                    <a:pt x="7731633" y="2677160"/>
                    <a:pt x="76500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0070C0"/>
              </a:solidFill>
              <a:prstDash val="dash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81812" y="3483864"/>
            <a:ext cx="5486400" cy="301752"/>
            <a:chOff x="0" y="0"/>
            <a:chExt cx="7315200" cy="4023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73152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ORACLE ALWAYS-FREE VM  ·  MUMBAI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779895" y="3419475"/>
            <a:ext cx="5848350" cy="2007870"/>
            <a:chOff x="0" y="0"/>
            <a:chExt cx="7797800" cy="2677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97800" cy="2677160"/>
            </a:xfrm>
            <a:custGeom>
              <a:avLst/>
              <a:gdLst/>
              <a:ahLst/>
              <a:cxnLst/>
              <a:rect r="r" b="b" t="t" l="l"/>
              <a:pathLst>
                <a:path h="2677160" w="77978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7650099" y="0"/>
                  </a:lnTo>
                  <a:cubicBezTo>
                    <a:pt x="7731633" y="0"/>
                    <a:pt x="7797800" y="66167"/>
                    <a:pt x="7797800" y="147701"/>
                  </a:cubicBezTo>
                  <a:lnTo>
                    <a:pt x="7797800" y="2529459"/>
                  </a:lnTo>
                  <a:cubicBezTo>
                    <a:pt x="7797800" y="2610993"/>
                    <a:pt x="7731633" y="2677160"/>
                    <a:pt x="7650099" y="2677160"/>
                  </a:cubicBezTo>
                  <a:lnTo>
                    <a:pt x="147701" y="2677160"/>
                  </a:lnTo>
                  <a:cubicBezTo>
                    <a:pt x="66167" y="2677160"/>
                    <a:pt x="0" y="2610993"/>
                    <a:pt x="0" y="2529459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0070C0"/>
              </a:solidFill>
              <a:prstDash val="dash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954012" y="3483864"/>
            <a:ext cx="5486400" cy="301752"/>
            <a:chOff x="0" y="0"/>
            <a:chExt cx="7315200" cy="4023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0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73152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HOSTINGER BACKEND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4855" y="3830955"/>
            <a:ext cx="2693670" cy="1459230"/>
            <a:chOff x="0" y="0"/>
            <a:chExt cx="3591560" cy="1945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915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59156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480435" y="0"/>
                  </a:lnTo>
                  <a:cubicBezTo>
                    <a:pt x="3541776" y="0"/>
                    <a:pt x="3591560" y="49784"/>
                    <a:pt x="3591560" y="111125"/>
                  </a:cubicBezTo>
                  <a:lnTo>
                    <a:pt x="3591560" y="1834515"/>
                  </a:lnTo>
                  <a:cubicBezTo>
                    <a:pt x="3591560" y="1895856"/>
                    <a:pt x="3541776" y="1945640"/>
                    <a:pt x="348043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591560" cy="195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inference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FastAPI · PyTorch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YOLO-OBB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ConvLSTM + GRU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556635" y="3830955"/>
            <a:ext cx="2693670" cy="1459230"/>
            <a:chOff x="0" y="0"/>
            <a:chExt cx="3591560" cy="1945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915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59156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480435" y="0"/>
                  </a:lnTo>
                  <a:cubicBezTo>
                    <a:pt x="3541776" y="0"/>
                    <a:pt x="3591560" y="49784"/>
                    <a:pt x="3591560" y="111125"/>
                  </a:cubicBezTo>
                  <a:lnTo>
                    <a:pt x="3591560" y="1834515"/>
                  </a:lnTo>
                  <a:cubicBezTo>
                    <a:pt x="3591560" y="1895856"/>
                    <a:pt x="3541776" y="1945640"/>
                    <a:pt x="348043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591560" cy="195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Pipeline runner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Calibrate and fuse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6-frame tensor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Physics detector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17055" y="3830955"/>
            <a:ext cx="2693670" cy="1459230"/>
            <a:chOff x="0" y="0"/>
            <a:chExt cx="3591560" cy="1945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915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59156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480435" y="0"/>
                  </a:lnTo>
                  <a:cubicBezTo>
                    <a:pt x="3541776" y="0"/>
                    <a:pt x="3591560" y="49784"/>
                    <a:pt x="3591560" y="111125"/>
                  </a:cubicBezTo>
                  <a:lnTo>
                    <a:pt x="3591560" y="1834515"/>
                  </a:lnTo>
                  <a:cubicBezTo>
                    <a:pt x="3591560" y="1895856"/>
                    <a:pt x="3541776" y="1945640"/>
                    <a:pt x="348043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591560" cy="195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Express API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Zod + HMAC checks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Advisories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REST for the app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28835" y="3830955"/>
            <a:ext cx="2693670" cy="1459230"/>
            <a:chOff x="0" y="0"/>
            <a:chExt cx="3591560" cy="1945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91560" cy="1945640"/>
            </a:xfrm>
            <a:custGeom>
              <a:avLst/>
              <a:gdLst/>
              <a:ahLst/>
              <a:cxnLst/>
              <a:rect r="r" b="b" t="t" l="l"/>
              <a:pathLst>
                <a:path h="1945640" w="359156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3480435" y="0"/>
                  </a:lnTo>
                  <a:cubicBezTo>
                    <a:pt x="3541776" y="0"/>
                    <a:pt x="3591560" y="49784"/>
                    <a:pt x="3591560" y="111125"/>
                  </a:cubicBezTo>
                  <a:lnTo>
                    <a:pt x="3591560" y="1834515"/>
                  </a:lnTo>
                  <a:cubicBezTo>
                    <a:pt x="3591560" y="1895856"/>
                    <a:pt x="3541776" y="1945640"/>
                    <a:pt x="3480435" y="1945640"/>
                  </a:cubicBezTo>
                  <a:lnTo>
                    <a:pt x="111125" y="1945640"/>
                  </a:lnTo>
                  <a:cubicBezTo>
                    <a:pt x="49784" y="1945640"/>
                    <a:pt x="0" y="1895856"/>
                    <a:pt x="0" y="18345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591560" cy="1955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MySQL + workers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Official feed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Wind-grid cache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4A5B6C"/>
                  </a:solidFill>
                  <a:latin typeface="Arial"/>
                  <a:ea typeface="Arial"/>
                  <a:cs typeface="Arial"/>
                  <a:sym typeface="Arial"/>
                </a:rPr>
                <a:t>Health checks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180780">
            <a:off x="6221225" y="4544187"/>
            <a:ext cx="724900" cy="0"/>
          </a:xfrm>
          <a:prstGeom prst="line">
            <a:avLst/>
          </a:prstGeom>
          <a:ln cap="rnd" w="19050">
            <a:solidFill>
              <a:srgbClr val="0A254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6347841" y="4324731"/>
            <a:ext cx="457962" cy="457962"/>
            <a:chOff x="0" y="0"/>
            <a:chExt cx="610616" cy="6106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0616" cy="610616"/>
            </a:xfrm>
            <a:custGeom>
              <a:avLst/>
              <a:gdLst/>
              <a:ahLst/>
              <a:cxnLst/>
              <a:rect r="r" b="b" t="t" l="l"/>
              <a:pathLst>
                <a:path h="610616" w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cubicBezTo>
                    <a:pt x="473964" y="0"/>
                    <a:pt x="610616" y="136652"/>
                    <a:pt x="610616" y="305308"/>
                  </a:cubicBezTo>
                  <a:cubicBezTo>
                    <a:pt x="610616" y="473964"/>
                    <a:pt x="473964" y="610616"/>
                    <a:pt x="305308" y="610616"/>
                  </a:cubicBez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28C28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460236" y="4430268"/>
            <a:ext cx="233172" cy="233172"/>
            <a:chOff x="0" y="0"/>
            <a:chExt cx="310896" cy="310896"/>
          </a:xfrm>
        </p:grpSpPr>
        <p:sp>
          <p:nvSpPr>
            <p:cNvPr name="Freeform 60" id="60" descr="lock_n.png"/>
            <p:cNvSpPr/>
            <p:nvPr/>
          </p:nvSpPr>
          <p:spPr>
            <a:xfrm flipH="false" flipV="false" rot="0">
              <a:off x="0" y="0"/>
              <a:ext cx="310896" cy="310896"/>
            </a:xfrm>
            <a:custGeom>
              <a:avLst/>
              <a:gdLst/>
              <a:ahLst/>
              <a:cxnLst/>
              <a:rect r="r" b="b" t="t" l="l"/>
              <a:pathLst>
                <a:path h="310896" w="310896">
                  <a:moveTo>
                    <a:pt x="0" y="0"/>
                  </a:moveTo>
                  <a:lnTo>
                    <a:pt x="310896" y="0"/>
                  </a:lnTo>
                  <a:lnTo>
                    <a:pt x="310896" y="310896"/>
                  </a:lnTo>
                  <a:lnTo>
                    <a:pt x="0" y="310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61" id="61"/>
          <p:cNvSpPr/>
          <p:nvPr/>
        </p:nvSpPr>
        <p:spPr>
          <a:xfrm rot="5103360">
            <a:off x="8063817" y="5559171"/>
            <a:ext cx="33156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6789420" y="5719572"/>
            <a:ext cx="3154680" cy="754380"/>
            <a:chOff x="0" y="0"/>
            <a:chExt cx="420624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062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2062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096512" y="0"/>
                  </a:lnTo>
                  <a:cubicBezTo>
                    <a:pt x="4157091" y="0"/>
                    <a:pt x="4206240" y="49149"/>
                    <a:pt x="4206240" y="109728"/>
                  </a:cubicBezTo>
                  <a:lnTo>
                    <a:pt x="4206240" y="896112"/>
                  </a:lnTo>
                  <a:cubicBezTo>
                    <a:pt x="4206240" y="956691"/>
                    <a:pt x="4157091" y="1005840"/>
                    <a:pt x="409651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4206240" cy="102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React web app (Vercel)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CADCFC"/>
                  </a:solidFill>
                  <a:latin typeface="Arial"/>
                  <a:ea typeface="Arial"/>
                  <a:cs typeface="Arial"/>
                  <a:sym typeface="Arial"/>
                </a:rPr>
                <a:t>Map · advisories · status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192900">
            <a:off x="9929412" y="6094095"/>
            <a:ext cx="50943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6" id="66"/>
          <p:cNvGrpSpPr/>
          <p:nvPr/>
        </p:nvGrpSpPr>
        <p:grpSpPr>
          <a:xfrm rot="0">
            <a:off x="10424160" y="5719572"/>
            <a:ext cx="2194560" cy="754380"/>
            <a:chOff x="0" y="0"/>
            <a:chExt cx="2926080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26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9260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816352" y="0"/>
                  </a:lnTo>
                  <a:cubicBezTo>
                    <a:pt x="2876931" y="0"/>
                    <a:pt x="2926080" y="49149"/>
                    <a:pt x="2926080" y="109728"/>
                  </a:cubicBezTo>
                  <a:lnTo>
                    <a:pt x="2926080" y="896112"/>
                  </a:lnTo>
                  <a:cubicBezTo>
                    <a:pt x="2926080" y="956691"/>
                    <a:pt x="2876931" y="1005840"/>
                    <a:pt x="2816352" y="1005840"/>
                  </a:cubicBezTo>
                  <a:lnTo>
                    <a:pt x="109728" y="1005840"/>
                  </a:lnTo>
                  <a:cubicBezTo>
                    <a:pt x="49149" y="1005840"/>
                    <a:pt x="0" y="956691"/>
                    <a:pt x="0" y="896112"/>
                  </a:cubicBez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2926080" cy="102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Citizens, fishers,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disaster officials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07695" y="5806059"/>
            <a:ext cx="1802130" cy="567690"/>
            <a:chOff x="0" y="0"/>
            <a:chExt cx="2402840" cy="7569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02840" cy="756920"/>
            </a:xfrm>
            <a:custGeom>
              <a:avLst/>
              <a:gdLst/>
              <a:ahLst/>
              <a:cxnLst/>
              <a:rect r="r" b="b" t="t" l="l"/>
              <a:pathLst>
                <a:path h="756920" w="24028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2024380" y="0"/>
                  </a:lnTo>
                  <a:cubicBezTo>
                    <a:pt x="2233422" y="0"/>
                    <a:pt x="2402840" y="169418"/>
                    <a:pt x="2402840" y="378460"/>
                  </a:cubicBezTo>
                  <a:cubicBezTo>
                    <a:pt x="2402840" y="587502"/>
                    <a:pt x="2233422" y="756920"/>
                    <a:pt x="20243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2402840" cy="766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sources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527935" y="5806059"/>
            <a:ext cx="1802130" cy="567690"/>
            <a:chOff x="0" y="0"/>
            <a:chExt cx="2402840" cy="7569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02840" cy="756920"/>
            </a:xfrm>
            <a:custGeom>
              <a:avLst/>
              <a:gdLst/>
              <a:ahLst/>
              <a:cxnLst/>
              <a:rect r="r" b="b" t="t" l="l"/>
              <a:pathLst>
                <a:path h="756920" w="24028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2024380" y="0"/>
                  </a:lnTo>
                  <a:cubicBezTo>
                    <a:pt x="2233422" y="0"/>
                    <a:pt x="2402840" y="169418"/>
                    <a:pt x="2402840" y="378460"/>
                  </a:cubicBezTo>
                  <a:cubicBezTo>
                    <a:pt x="2402840" y="587502"/>
                    <a:pt x="2233422" y="756920"/>
                    <a:pt x="20243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402840" cy="766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servers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448175" y="5806059"/>
            <a:ext cx="1802130" cy="567690"/>
            <a:chOff x="0" y="0"/>
            <a:chExt cx="2402840" cy="7569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02840" cy="756920"/>
            </a:xfrm>
            <a:custGeom>
              <a:avLst/>
              <a:gdLst/>
              <a:ahLst/>
              <a:cxnLst/>
              <a:rect r="r" b="b" t="t" l="l"/>
              <a:pathLst>
                <a:path h="756920" w="24028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2024380" y="0"/>
                  </a:lnTo>
                  <a:cubicBezTo>
                    <a:pt x="2233422" y="0"/>
                    <a:pt x="2402840" y="169418"/>
                    <a:pt x="2402840" y="378460"/>
                  </a:cubicBezTo>
                  <a:cubicBezTo>
                    <a:pt x="2402840" y="587502"/>
                    <a:pt x="2233422" y="756920"/>
                    <a:pt x="20243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402840" cy="766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web app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952095" y="2253615"/>
            <a:ext cx="4723638" cy="4229862"/>
            <a:chOff x="0" y="0"/>
            <a:chExt cx="6298184" cy="56398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98184" cy="5639816"/>
            </a:xfrm>
            <a:custGeom>
              <a:avLst/>
              <a:gdLst/>
              <a:ahLst/>
              <a:cxnLst/>
              <a:rect r="r" b="b" t="t" l="l"/>
              <a:pathLst>
                <a:path h="5639816" w="62981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151245" y="0"/>
                  </a:lnTo>
                  <a:cubicBezTo>
                    <a:pt x="6232398" y="0"/>
                    <a:pt x="6298184" y="65786"/>
                    <a:pt x="6298184" y="146939"/>
                  </a:cubicBezTo>
                  <a:lnTo>
                    <a:pt x="6298184" y="5492877"/>
                  </a:lnTo>
                  <a:cubicBezTo>
                    <a:pt x="6298184" y="5574030"/>
                    <a:pt x="6232398" y="5639816"/>
                    <a:pt x="6151245" y="5639816"/>
                  </a:cubicBezTo>
                  <a:lnTo>
                    <a:pt x="146939" y="5639816"/>
                  </a:lnTo>
                  <a:cubicBezTo>
                    <a:pt x="65786" y="5639816"/>
                    <a:pt x="0" y="5574030"/>
                    <a:pt x="0" y="549287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3167360" y="2359152"/>
            <a:ext cx="4251960" cy="384048"/>
            <a:chOff x="0" y="0"/>
            <a:chExt cx="5669280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69280" cy="512064"/>
            </a:xfrm>
            <a:custGeom>
              <a:avLst/>
              <a:gdLst/>
              <a:ahLst/>
              <a:cxnLst/>
              <a:rect r="r" b="b" t="t" l="l"/>
              <a:pathLst>
                <a:path h="512064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66928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167360" y="2811780"/>
            <a:ext cx="1303020" cy="630936"/>
            <a:chOff x="0" y="0"/>
            <a:chExt cx="1737360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3736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73736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401800" y="2811780"/>
            <a:ext cx="3154680" cy="630936"/>
            <a:chOff x="0" y="0"/>
            <a:chExt cx="4206240" cy="8412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206240" cy="841248"/>
            </a:xfrm>
            <a:custGeom>
              <a:avLst/>
              <a:gdLst/>
              <a:ahLst/>
              <a:cxnLst/>
              <a:rect r="r" b="b" t="t" l="l"/>
              <a:pathLst>
                <a:path h="841248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420624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React · Vite · MapLibre GL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167360" y="3525012"/>
            <a:ext cx="1303020" cy="630936"/>
            <a:chOff x="0" y="0"/>
            <a:chExt cx="1737360" cy="8412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3736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73736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401800" y="3525012"/>
            <a:ext cx="3154680" cy="630936"/>
            <a:chOff x="0" y="0"/>
            <a:chExt cx="4206240" cy="8412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206240" cy="841248"/>
            </a:xfrm>
            <a:custGeom>
              <a:avLst/>
              <a:gdLst/>
              <a:ahLst/>
              <a:cxnLst/>
              <a:rect r="r" b="b" t="t" l="l"/>
              <a:pathLst>
                <a:path h="841248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420624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Node.js · Express · MySQL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167360" y="4238244"/>
            <a:ext cx="1303020" cy="630936"/>
            <a:chOff x="0" y="0"/>
            <a:chExt cx="1737360" cy="8412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73736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73736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/ ML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401800" y="4238244"/>
            <a:ext cx="3154680" cy="630936"/>
            <a:chOff x="0" y="0"/>
            <a:chExt cx="4206240" cy="8412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06240" cy="841248"/>
            </a:xfrm>
            <a:custGeom>
              <a:avLst/>
              <a:gdLst/>
              <a:ahLst/>
              <a:cxnLst/>
              <a:rect r="r" b="b" t="t" l="l"/>
              <a:pathLst>
                <a:path h="841248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420624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 b="true">
                  <a:solidFill>
                    <a:srgbClr val="1B2A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· PyTorch · YOLO-OBB · ConvLSTM · FastAPI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167360" y="4951476"/>
            <a:ext cx="1303020" cy="630936"/>
            <a:chOff x="0" y="0"/>
            <a:chExt cx="1737360" cy="8412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3736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73736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401800" y="4951476"/>
            <a:ext cx="3154680" cy="630936"/>
            <a:chOff x="0" y="0"/>
            <a:chExt cx="4206240" cy="8412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206240" cy="841248"/>
            </a:xfrm>
            <a:custGeom>
              <a:avLst/>
              <a:gdLst/>
              <a:ahLst/>
              <a:cxnLst/>
              <a:rect r="r" b="b" t="t" l="l"/>
              <a:pathLst>
                <a:path h="841248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420624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29"/>
                </a:lnSpc>
              </a:pPr>
              <a:r>
                <a:rPr lang="en-US" sz="1524" b="true">
                  <a:solidFill>
                    <a:srgbClr val="1B2A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INSAT-3DS (MOSDAC) · NASA GPM IMERG · JTWC · IBTrACS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167360" y="5664708"/>
            <a:ext cx="1303020" cy="630936"/>
            <a:chOff x="0" y="0"/>
            <a:chExt cx="1737360" cy="8412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37360" cy="841248"/>
            </a:xfrm>
            <a:custGeom>
              <a:avLst/>
              <a:gdLst/>
              <a:ahLst/>
              <a:cxnLst/>
              <a:rect r="r" b="b" t="t" l="l"/>
              <a:pathLst>
                <a:path h="841248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25" t="0" r="-12125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173736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Deployment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4401800" y="5664708"/>
            <a:ext cx="3154680" cy="630936"/>
            <a:chOff x="0" y="0"/>
            <a:chExt cx="4206240" cy="8412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206240" cy="841248"/>
            </a:xfrm>
            <a:custGeom>
              <a:avLst/>
              <a:gdLst/>
              <a:ahLst/>
              <a:cxnLst/>
              <a:rect r="r" b="b" t="t" l="l"/>
              <a:pathLst>
                <a:path h="841248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420624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9"/>
                </a:lnSpc>
              </a:pPr>
              <a:r>
                <a:rPr lang="en-US" sz="1624" b="true">
                  <a:solidFill>
                    <a:srgbClr val="1B2A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Oracle Cloud (AI) · Hostinger (API) · Vercel (web)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17220" y="6652260"/>
            <a:ext cx="17007840" cy="411480"/>
            <a:chOff x="0" y="0"/>
            <a:chExt cx="2267712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677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5381" r="0" b="-75538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226771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 and process for implementation: flow chart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17220" y="7132320"/>
            <a:ext cx="3470148" cy="1069848"/>
            <a:chOff x="0" y="0"/>
            <a:chExt cx="4626864" cy="14264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6268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4626864">
                  <a:moveTo>
                    <a:pt x="0" y="0"/>
                  </a:moveTo>
                  <a:lnTo>
                    <a:pt x="3913632" y="0"/>
                  </a:lnTo>
                  <a:lnTo>
                    <a:pt x="4626864" y="713232"/>
                  </a:lnTo>
                  <a:lnTo>
                    <a:pt x="3913632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4626864" cy="1445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 Fetch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every 30 min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54380" y="8270748"/>
            <a:ext cx="3154680" cy="362712"/>
            <a:chOff x="0" y="0"/>
            <a:chExt cx="4206240" cy="48361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206240" cy="483617"/>
            </a:xfrm>
            <a:custGeom>
              <a:avLst/>
              <a:gdLst/>
              <a:ahLst/>
              <a:cxnLst/>
              <a:rect r="r" b="b" t="t" l="l"/>
              <a:pathLst>
                <a:path h="483617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83617"/>
                  </a:lnTo>
                  <a:lnTo>
                    <a:pt x="0" y="483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201" r="0" b="-11673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4206240" cy="493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9"/>
                </a:lnSpc>
              </a:pPr>
              <a:r>
                <a:rPr lang="en-US" sz="1374" b="true">
                  <a:solidFill>
                    <a:srgbClr val="4A5B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INSAT-3DS + GPM IMERG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4005072" y="7132320"/>
            <a:ext cx="3470148" cy="1069848"/>
            <a:chOff x="0" y="0"/>
            <a:chExt cx="4626864" cy="142646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6268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4626864">
                  <a:moveTo>
                    <a:pt x="0" y="0"/>
                  </a:moveTo>
                  <a:lnTo>
                    <a:pt x="3913632" y="0"/>
                  </a:lnTo>
                  <a:lnTo>
                    <a:pt x="4626864" y="713232"/>
                  </a:lnTo>
                  <a:lnTo>
                    <a:pt x="3913632" y="1426464"/>
                  </a:lnTo>
                  <a:lnTo>
                    <a:pt x="0" y="1426464"/>
                  </a:lnTo>
                  <a:lnTo>
                    <a:pt x="713232" y="713232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19050"/>
              <a:ext cx="4626864" cy="1445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 Merge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 frames · 15 h window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4142232" y="8270748"/>
            <a:ext cx="3154680" cy="507492"/>
            <a:chOff x="0" y="0"/>
            <a:chExt cx="4206240" cy="6766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206240" cy="676656"/>
            </a:xfrm>
            <a:custGeom>
              <a:avLst/>
              <a:gdLst/>
              <a:ahLst/>
              <a:cxnLst/>
              <a:rect r="r" b="b" t="t" l="l"/>
              <a:pathLst>
                <a:path h="67665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339" r="0" b="-5490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0"/>
              <a:ext cx="420624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4A5B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[4×1024×1024] tensor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392924" y="7132320"/>
            <a:ext cx="3470148" cy="1069848"/>
            <a:chOff x="0" y="0"/>
            <a:chExt cx="4626864" cy="142646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6268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4626864">
                  <a:moveTo>
                    <a:pt x="0" y="0"/>
                  </a:moveTo>
                  <a:lnTo>
                    <a:pt x="3913632" y="0"/>
                  </a:lnTo>
                  <a:lnTo>
                    <a:pt x="4626864" y="713232"/>
                  </a:lnTo>
                  <a:lnTo>
                    <a:pt x="3913632" y="1426464"/>
                  </a:lnTo>
                  <a:lnTo>
                    <a:pt x="0" y="1426464"/>
                  </a:lnTo>
                  <a:lnTo>
                    <a:pt x="713232" y="713232"/>
                  </a:ln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4626864" cy="1445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 AI inference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0A2540"/>
                  </a:solidFill>
                  <a:latin typeface="Arial"/>
                  <a:ea typeface="Arial"/>
                  <a:cs typeface="Arial"/>
                  <a:sym typeface="Arial"/>
                </a:rPr>
                <a:t>detect · classify · forecast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7530084" y="8270748"/>
            <a:ext cx="3154680" cy="393594"/>
            <a:chOff x="0" y="0"/>
            <a:chExt cx="4206240" cy="5247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206240" cy="524792"/>
            </a:xfrm>
            <a:custGeom>
              <a:avLst/>
              <a:gdLst/>
              <a:ahLst/>
              <a:cxnLst/>
              <a:rect r="r" b="b" t="t" l="l"/>
              <a:pathLst>
                <a:path h="52479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24792"/>
                  </a:lnTo>
                  <a:lnTo>
                    <a:pt x="0" y="52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613" r="0" b="-99733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4206240" cy="524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4A5B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YOLO-OBB → ConvLSTM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780776" y="7132320"/>
            <a:ext cx="3470148" cy="1069848"/>
            <a:chOff x="0" y="0"/>
            <a:chExt cx="4626864" cy="142646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6268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4626864">
                  <a:moveTo>
                    <a:pt x="0" y="0"/>
                  </a:moveTo>
                  <a:lnTo>
                    <a:pt x="3913632" y="0"/>
                  </a:lnTo>
                  <a:lnTo>
                    <a:pt x="4626864" y="713232"/>
                  </a:lnTo>
                  <a:lnTo>
                    <a:pt x="3913632" y="1426464"/>
                  </a:lnTo>
                  <a:lnTo>
                    <a:pt x="0" y="1426464"/>
                  </a:lnTo>
                  <a:lnTo>
                    <a:pt x="713232" y="713232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4626864" cy="1445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 Match + alert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official tracks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917936" y="8270748"/>
            <a:ext cx="3154680" cy="393594"/>
            <a:chOff x="0" y="0"/>
            <a:chExt cx="4206240" cy="52479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206240" cy="524792"/>
            </a:xfrm>
            <a:custGeom>
              <a:avLst/>
              <a:gdLst/>
              <a:ahLst/>
              <a:cxnLst/>
              <a:rect r="r" b="b" t="t" l="l"/>
              <a:pathLst>
                <a:path h="52479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24792"/>
                  </a:lnTo>
                  <a:lnTo>
                    <a:pt x="0" y="52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613" r="0" b="-9973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4206240" cy="524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4A5B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JTWC / IBTrACS check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4168628" y="7132320"/>
            <a:ext cx="3470148" cy="1069848"/>
            <a:chOff x="0" y="0"/>
            <a:chExt cx="4626864" cy="142646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6268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4626864">
                  <a:moveTo>
                    <a:pt x="0" y="0"/>
                  </a:moveTo>
                  <a:lnTo>
                    <a:pt x="3913632" y="0"/>
                  </a:lnTo>
                  <a:lnTo>
                    <a:pt x="4626864" y="713232"/>
                  </a:lnTo>
                  <a:lnTo>
                    <a:pt x="3913632" y="1426464"/>
                  </a:lnTo>
                  <a:lnTo>
                    <a:pt x="0" y="1426464"/>
                  </a:lnTo>
                  <a:lnTo>
                    <a:pt x="713232" y="713232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4626864" cy="1445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  Publish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live map · advisories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305788" y="8270748"/>
            <a:ext cx="3154680" cy="393594"/>
            <a:chOff x="0" y="0"/>
            <a:chExt cx="4206240" cy="52479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206240" cy="524792"/>
            </a:xfrm>
            <a:custGeom>
              <a:avLst/>
              <a:gdLst/>
              <a:ahLst/>
              <a:cxnLst/>
              <a:rect r="r" b="b" t="t" l="l"/>
              <a:pathLst>
                <a:path h="524792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24792"/>
                  </a:lnTo>
                  <a:lnTo>
                    <a:pt x="0" y="52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613" r="0" b="-9973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4206240" cy="524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4A5B6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REST API → React map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617220" y="8778240"/>
            <a:ext cx="17007840" cy="548640"/>
            <a:chOff x="0" y="0"/>
            <a:chExt cx="22677120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22677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0A254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Every hop is signed (HMAC-SHA256), validated (Zod) and health-monitored, from satellite pixel to citizen.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220" y="1755648"/>
            <a:ext cx="11521440" cy="411480"/>
            <a:chOff x="0" y="0"/>
            <a:chExt cx="153619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6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361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Analysis of the feasibility of the idea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7695" y="2253615"/>
            <a:ext cx="5574030" cy="1459230"/>
            <a:chOff x="0" y="0"/>
            <a:chExt cx="7432040" cy="1945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32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74320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7283831" y="0"/>
                  </a:lnTo>
                  <a:cubicBezTo>
                    <a:pt x="7365747" y="0"/>
                    <a:pt x="7432040" y="66421"/>
                    <a:pt x="7432040" y="148209"/>
                  </a:cubicBezTo>
                  <a:lnTo>
                    <a:pt x="7432040" y="1797431"/>
                  </a:lnTo>
                  <a:cubicBezTo>
                    <a:pt x="7432040" y="1879346"/>
                    <a:pt x="7365619" y="1945640"/>
                    <a:pt x="72838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64108" y="2633472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8700" y="2798064"/>
            <a:ext cx="356616" cy="356616"/>
            <a:chOff x="0" y="0"/>
            <a:chExt cx="475488" cy="475488"/>
          </a:xfrm>
        </p:grpSpPr>
        <p:sp>
          <p:nvSpPr>
            <p:cNvPr name="Freeform 23" id="23" descr="check_w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83080" y="2414016"/>
            <a:ext cx="4251960" cy="411480"/>
            <a:chOff x="0" y="0"/>
            <a:chExt cx="566928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669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Feasible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83080" y="2843403"/>
            <a:ext cx="42519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Built on free, public data: ISRO, NASA, JTWC and NOAA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354699" y="2253615"/>
            <a:ext cx="5574030" cy="1459230"/>
            <a:chOff x="0" y="0"/>
            <a:chExt cx="7432040" cy="1945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2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74320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7283831" y="0"/>
                  </a:lnTo>
                  <a:cubicBezTo>
                    <a:pt x="7365747" y="0"/>
                    <a:pt x="7432040" y="66421"/>
                    <a:pt x="7432040" y="148209"/>
                  </a:cubicBezTo>
                  <a:lnTo>
                    <a:pt x="7432040" y="1797431"/>
                  </a:lnTo>
                  <a:cubicBezTo>
                    <a:pt x="7432040" y="1879346"/>
                    <a:pt x="7365619" y="1945640"/>
                    <a:pt x="72838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611112" y="2633472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775704" y="2798064"/>
            <a:ext cx="356616" cy="356616"/>
            <a:chOff x="0" y="0"/>
            <a:chExt cx="475488" cy="475488"/>
          </a:xfrm>
        </p:grpSpPr>
        <p:sp>
          <p:nvSpPr>
            <p:cNvPr name="Freeform 33" id="33" descr="coins_w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530084" y="2414016"/>
            <a:ext cx="4251960" cy="411480"/>
            <a:chOff x="0" y="0"/>
            <a:chExt cx="566928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669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 cost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530084" y="2843403"/>
            <a:ext cx="42519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Open-source stack; free cloud tiers where available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101703" y="2253615"/>
            <a:ext cx="5574030" cy="1459230"/>
            <a:chOff x="0" y="0"/>
            <a:chExt cx="7432040" cy="1945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32040" cy="1945640"/>
            </a:xfrm>
            <a:custGeom>
              <a:avLst/>
              <a:gdLst/>
              <a:ahLst/>
              <a:cxnLst/>
              <a:rect r="r" b="b" t="t" l="l"/>
              <a:pathLst>
                <a:path h="1945640" w="7432040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7283831" y="0"/>
                  </a:lnTo>
                  <a:cubicBezTo>
                    <a:pt x="7365747" y="0"/>
                    <a:pt x="7432040" y="66421"/>
                    <a:pt x="7432040" y="148209"/>
                  </a:cubicBezTo>
                  <a:lnTo>
                    <a:pt x="7432040" y="1797431"/>
                  </a:lnTo>
                  <a:cubicBezTo>
                    <a:pt x="7432040" y="1879346"/>
                    <a:pt x="7365619" y="1945640"/>
                    <a:pt x="72838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358116" y="2633472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522708" y="2798064"/>
            <a:ext cx="356616" cy="356616"/>
            <a:chOff x="0" y="0"/>
            <a:chExt cx="475488" cy="475488"/>
          </a:xfrm>
        </p:grpSpPr>
        <p:sp>
          <p:nvSpPr>
            <p:cNvPr name="Freeform 43" id="43" descr="expand_w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277088" y="2414016"/>
            <a:ext cx="4251960" cy="411480"/>
            <a:chOff x="0" y="0"/>
            <a:chExt cx="566928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669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Scalable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277088" y="2843403"/>
            <a:ext cx="42519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Cloud-hosted; works on any phone or browser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12457" y="4110038"/>
            <a:ext cx="3575685" cy="585597"/>
            <a:chOff x="0" y="0"/>
            <a:chExt cx="4767580" cy="7807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67580" cy="780796"/>
            </a:xfrm>
            <a:custGeom>
              <a:avLst/>
              <a:gdLst/>
              <a:ahLst/>
              <a:cxnLst/>
              <a:rect r="r" b="b" t="t" l="l"/>
              <a:pathLst>
                <a:path h="780796" w="4767580">
                  <a:moveTo>
                    <a:pt x="0" y="0"/>
                  </a:moveTo>
                  <a:lnTo>
                    <a:pt x="4767580" y="0"/>
                  </a:lnTo>
                  <a:lnTo>
                    <a:pt x="4767580" y="780796"/>
                  </a:lnTo>
                  <a:lnTo>
                    <a:pt x="0" y="780796"/>
                  </a:lnTo>
                  <a:close/>
                </a:path>
              </a:pathLst>
            </a:custGeom>
            <a:solidFill>
              <a:srgbClr val="0A25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767580" cy="79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Potential challenges and risks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178617" y="4110038"/>
            <a:ext cx="1312545" cy="585597"/>
            <a:chOff x="0" y="0"/>
            <a:chExt cx="1750060" cy="7807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50060" cy="780796"/>
            </a:xfrm>
            <a:custGeom>
              <a:avLst/>
              <a:gdLst/>
              <a:ahLst/>
              <a:cxnLst/>
              <a:rect r="r" b="b" t="t" l="l"/>
              <a:pathLst>
                <a:path h="780796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780796"/>
                  </a:lnTo>
                  <a:lnTo>
                    <a:pt x="0" y="780796"/>
                  </a:lnTo>
                  <a:close/>
                </a:path>
              </a:pathLst>
            </a:custGeom>
            <a:solidFill>
              <a:srgbClr val="0A25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750060" cy="79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Probability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481638" y="4110038"/>
            <a:ext cx="1312545" cy="585597"/>
            <a:chOff x="0" y="0"/>
            <a:chExt cx="1750060" cy="7807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50060" cy="780796"/>
            </a:xfrm>
            <a:custGeom>
              <a:avLst/>
              <a:gdLst/>
              <a:ahLst/>
              <a:cxnLst/>
              <a:rect r="r" b="b" t="t" l="l"/>
              <a:pathLst>
                <a:path h="780796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780796"/>
                  </a:lnTo>
                  <a:lnTo>
                    <a:pt x="0" y="780796"/>
                  </a:lnTo>
                  <a:close/>
                </a:path>
              </a:pathLst>
            </a:custGeom>
            <a:solidFill>
              <a:srgbClr val="0A25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750060" cy="79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784657" y="4110038"/>
            <a:ext cx="5015865" cy="585597"/>
            <a:chOff x="0" y="0"/>
            <a:chExt cx="6687820" cy="7807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87820" cy="780796"/>
            </a:xfrm>
            <a:custGeom>
              <a:avLst/>
              <a:gdLst/>
              <a:ahLst/>
              <a:cxnLst/>
              <a:rect r="r" b="b" t="t" l="l"/>
              <a:pathLst>
                <a:path h="780796" w="6687820">
                  <a:moveTo>
                    <a:pt x="0" y="0"/>
                  </a:moveTo>
                  <a:lnTo>
                    <a:pt x="6687820" y="0"/>
                  </a:lnTo>
                  <a:lnTo>
                    <a:pt x="6687820" y="780796"/>
                  </a:lnTo>
                  <a:lnTo>
                    <a:pt x="0" y="780796"/>
                  </a:lnTo>
                  <a:close/>
                </a:path>
              </a:pathLst>
            </a:custGeom>
            <a:solidFill>
              <a:srgbClr val="0A254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687820" cy="79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Strategies for overcoming these challenges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12457" y="4686110"/>
            <a:ext cx="3575685" cy="777621"/>
            <a:chOff x="0" y="0"/>
            <a:chExt cx="4767580" cy="10368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67580" cy="1036828"/>
            </a:xfrm>
            <a:custGeom>
              <a:avLst/>
              <a:gdLst/>
              <a:ahLst/>
              <a:cxnLst/>
              <a:rect r="r" b="b" t="t" l="l"/>
              <a:pathLst>
                <a:path h="1036828" w="4767580">
                  <a:moveTo>
                    <a:pt x="0" y="0"/>
                  </a:moveTo>
                  <a:lnTo>
                    <a:pt x="4767580" y="0"/>
                  </a:lnTo>
                  <a:lnTo>
                    <a:pt x="476758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76758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Large satellite files (~24 MB each)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178617" y="4686110"/>
            <a:ext cx="1312545" cy="777621"/>
            <a:chOff x="0" y="0"/>
            <a:chExt cx="1750060" cy="10368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ADBD8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03A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481638" y="4686110"/>
            <a:ext cx="1312545" cy="777621"/>
            <a:chOff x="0" y="0"/>
            <a:chExt cx="1750060" cy="10368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ADBD8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03A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784657" y="4686110"/>
            <a:ext cx="5015865" cy="777621"/>
            <a:chOff x="0" y="0"/>
            <a:chExt cx="6687820" cy="10368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687820" cy="1036828"/>
            </a:xfrm>
            <a:custGeom>
              <a:avLst/>
              <a:gdLst/>
              <a:ahLst/>
              <a:cxnLst/>
              <a:rect r="r" b="b" t="t" l="l"/>
              <a:pathLst>
                <a:path h="1036828" w="6687820">
                  <a:moveTo>
                    <a:pt x="0" y="0"/>
                  </a:moveTo>
                  <a:lnTo>
                    <a:pt x="6687820" y="0"/>
                  </a:lnTo>
                  <a:lnTo>
                    <a:pt x="668782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668782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Compressed transfer, frame caching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12457" y="5454206"/>
            <a:ext cx="3575685" cy="777621"/>
            <a:chOff x="0" y="0"/>
            <a:chExt cx="4767580" cy="10368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67580" cy="1036828"/>
            </a:xfrm>
            <a:custGeom>
              <a:avLst/>
              <a:gdLst/>
              <a:ahLst/>
              <a:cxnLst/>
              <a:rect r="r" b="b" t="t" l="l"/>
              <a:pathLst>
                <a:path h="1036828" w="4767580">
                  <a:moveTo>
                    <a:pt x="0" y="0"/>
                  </a:moveTo>
                  <a:lnTo>
                    <a:pt x="4767580" y="0"/>
                  </a:lnTo>
                  <a:lnTo>
                    <a:pt x="476758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476758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Cloud imagery hides the cyclone centre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178617" y="5454206"/>
            <a:ext cx="1312545" cy="777621"/>
            <a:chOff x="0" y="0"/>
            <a:chExt cx="1750060" cy="10368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DEBD0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977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Medium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481638" y="5454206"/>
            <a:ext cx="1312545" cy="777621"/>
            <a:chOff x="0" y="0"/>
            <a:chExt cx="1750060" cy="10368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ADBD8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03A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784657" y="5454206"/>
            <a:ext cx="5015865" cy="777621"/>
            <a:chOff x="0" y="0"/>
            <a:chExt cx="6687820" cy="103682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687820" cy="1036828"/>
            </a:xfrm>
            <a:custGeom>
              <a:avLst/>
              <a:gdLst/>
              <a:ahLst/>
              <a:cxnLst/>
              <a:rect r="r" b="b" t="t" l="l"/>
              <a:pathLst>
                <a:path h="1036828" w="6687820">
                  <a:moveTo>
                    <a:pt x="0" y="0"/>
                  </a:moveTo>
                  <a:lnTo>
                    <a:pt x="6687820" y="0"/>
                  </a:lnTo>
                  <a:lnTo>
                    <a:pt x="668782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668782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Combine with official tracks and rainfall data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12457" y="6222302"/>
            <a:ext cx="3575685" cy="777621"/>
            <a:chOff x="0" y="0"/>
            <a:chExt cx="4767580" cy="103682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67580" cy="1036828"/>
            </a:xfrm>
            <a:custGeom>
              <a:avLst/>
              <a:gdLst/>
              <a:ahLst/>
              <a:cxnLst/>
              <a:rect r="r" b="b" t="t" l="l"/>
              <a:pathLst>
                <a:path h="1036828" w="4767580">
                  <a:moveTo>
                    <a:pt x="0" y="0"/>
                  </a:moveTo>
                  <a:lnTo>
                    <a:pt x="4767580" y="0"/>
                  </a:lnTo>
                  <a:lnTo>
                    <a:pt x="476758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76758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False alarms from monsoon clouds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178617" y="6222302"/>
            <a:ext cx="1312545" cy="777621"/>
            <a:chOff x="0" y="0"/>
            <a:chExt cx="1750060" cy="10368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DEBD0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977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Medium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481638" y="6222302"/>
            <a:ext cx="1312545" cy="777621"/>
            <a:chOff x="0" y="0"/>
            <a:chExt cx="1750060" cy="10368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DEBD0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977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Medium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784657" y="6222302"/>
            <a:ext cx="5015865" cy="777621"/>
            <a:chOff x="0" y="0"/>
            <a:chExt cx="6687820" cy="10368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687820" cy="1036828"/>
            </a:xfrm>
            <a:custGeom>
              <a:avLst/>
              <a:gdLst/>
              <a:ahLst/>
              <a:cxnLst/>
              <a:rect r="r" b="b" t="t" l="l"/>
              <a:pathLst>
                <a:path h="1036828" w="6687820">
                  <a:moveTo>
                    <a:pt x="0" y="0"/>
                  </a:moveTo>
                  <a:lnTo>
                    <a:pt x="6687820" y="0"/>
                  </a:lnTo>
                  <a:lnTo>
                    <a:pt x="668782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668782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Persistence, sea-temperature and organisation checks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12457" y="6990397"/>
            <a:ext cx="3575685" cy="777621"/>
            <a:chOff x="0" y="0"/>
            <a:chExt cx="4767580" cy="103682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767580" cy="1036828"/>
            </a:xfrm>
            <a:custGeom>
              <a:avLst/>
              <a:gdLst/>
              <a:ahLst/>
              <a:cxnLst/>
              <a:rect r="r" b="b" t="t" l="l"/>
              <a:pathLst>
                <a:path h="1036828" w="4767580">
                  <a:moveTo>
                    <a:pt x="0" y="0"/>
                  </a:moveTo>
                  <a:lnTo>
                    <a:pt x="4767580" y="0"/>
                  </a:lnTo>
                  <a:lnTo>
                    <a:pt x="476758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476758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Delayed data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4178617" y="6990397"/>
            <a:ext cx="1312545" cy="777621"/>
            <a:chOff x="0" y="0"/>
            <a:chExt cx="1750060" cy="103682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D5F5E3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E844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481638" y="6990397"/>
            <a:ext cx="1312545" cy="777621"/>
            <a:chOff x="0" y="0"/>
            <a:chExt cx="1750060" cy="10368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DEBD0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977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Medium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6784657" y="6990397"/>
            <a:ext cx="5015865" cy="777621"/>
            <a:chOff x="0" y="0"/>
            <a:chExt cx="6687820" cy="10368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687820" cy="1036828"/>
            </a:xfrm>
            <a:custGeom>
              <a:avLst/>
              <a:gdLst/>
              <a:ahLst/>
              <a:cxnLst/>
              <a:rect r="r" b="b" t="t" l="l"/>
              <a:pathLst>
                <a:path h="1036828" w="6687820">
                  <a:moveTo>
                    <a:pt x="0" y="0"/>
                  </a:moveTo>
                  <a:lnTo>
                    <a:pt x="6687820" y="0"/>
                  </a:lnTo>
                  <a:lnTo>
                    <a:pt x="668782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668782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Live health checks and a "data delayed" banner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612457" y="7758494"/>
            <a:ext cx="3575685" cy="777621"/>
            <a:chOff x="0" y="0"/>
            <a:chExt cx="4767580" cy="103682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767580" cy="1036828"/>
            </a:xfrm>
            <a:custGeom>
              <a:avLst/>
              <a:gdLst/>
              <a:ahLst/>
              <a:cxnLst/>
              <a:rect r="r" b="b" t="t" l="l"/>
              <a:pathLst>
                <a:path h="1036828" w="4767580">
                  <a:moveTo>
                    <a:pt x="0" y="0"/>
                  </a:moveTo>
                  <a:lnTo>
                    <a:pt x="4767580" y="0"/>
                  </a:lnTo>
                  <a:lnTo>
                    <a:pt x="476758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476758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Misinformation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4178617" y="7758494"/>
            <a:ext cx="1312545" cy="777621"/>
            <a:chOff x="0" y="0"/>
            <a:chExt cx="1750060" cy="103682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D5F5E3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E844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481638" y="7758494"/>
            <a:ext cx="1312545" cy="777621"/>
            <a:chOff x="0" y="0"/>
            <a:chExt cx="1750060" cy="103682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750060" cy="1036828"/>
            </a:xfrm>
            <a:custGeom>
              <a:avLst/>
              <a:gdLst/>
              <a:ahLst/>
              <a:cxnLst/>
              <a:rect r="r" b="b" t="t" l="l"/>
              <a:pathLst>
                <a:path h="1036828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ADBD8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1750060" cy="105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B03A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6784657" y="7758494"/>
            <a:ext cx="5015865" cy="777621"/>
            <a:chOff x="0" y="0"/>
            <a:chExt cx="6687820" cy="103682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687820" cy="1036828"/>
            </a:xfrm>
            <a:custGeom>
              <a:avLst/>
              <a:gdLst/>
              <a:ahLst/>
              <a:cxnLst/>
              <a:rect r="r" b="b" t="t" l="l"/>
              <a:pathLst>
                <a:path h="1036828" w="6687820">
                  <a:moveTo>
                    <a:pt x="0" y="0"/>
                  </a:moveTo>
                  <a:lnTo>
                    <a:pt x="6687820" y="0"/>
                  </a:lnTo>
                  <a:lnTo>
                    <a:pt x="668782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CE8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6687820" cy="1046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B2A3A"/>
                  </a:solidFill>
                  <a:latin typeface="Arial"/>
                  <a:ea typeface="Arial"/>
                  <a:cs typeface="Arial"/>
                  <a:sym typeface="Arial"/>
                </a:rPr>
                <a:t>Official vs AI labels; users directed to IMD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138660" y="4114800"/>
            <a:ext cx="5527548" cy="438912"/>
            <a:chOff x="0" y="0"/>
            <a:chExt cx="7370064" cy="5852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370064" cy="585216"/>
            </a:xfrm>
            <a:custGeom>
              <a:avLst/>
              <a:gdLst/>
              <a:ahLst/>
              <a:cxnLst/>
              <a:rect r="r" b="b" t="t" l="l"/>
              <a:pathLst>
                <a:path h="585216" w="7370064">
                  <a:moveTo>
                    <a:pt x="0" y="0"/>
                  </a:moveTo>
                  <a:lnTo>
                    <a:pt x="7370064" y="0"/>
                  </a:lnTo>
                  <a:lnTo>
                    <a:pt x="73700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389" r="0" b="-19538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7370064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Hard-fail data quality gate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883515" y="4653915"/>
            <a:ext cx="4037838" cy="595122"/>
            <a:chOff x="0" y="0"/>
            <a:chExt cx="5383784" cy="79349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383784" cy="793496"/>
            </a:xfrm>
            <a:custGeom>
              <a:avLst/>
              <a:gdLst/>
              <a:ahLst/>
              <a:cxnLst/>
              <a:rect r="r" b="b" t="t" l="l"/>
              <a:pathLst>
                <a:path h="793496" w="5383784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5270373" y="0"/>
                  </a:lnTo>
                  <a:cubicBezTo>
                    <a:pt x="5332984" y="0"/>
                    <a:pt x="5383784" y="50800"/>
                    <a:pt x="5383784" y="113411"/>
                  </a:cubicBezTo>
                  <a:lnTo>
                    <a:pt x="5383784" y="680085"/>
                  </a:lnTo>
                  <a:cubicBezTo>
                    <a:pt x="5383784" y="742696"/>
                    <a:pt x="5332984" y="793496"/>
                    <a:pt x="5270373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5383784" cy="812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Raw satellite tensor · 4×1024×1024</a:t>
              </a:r>
            </a:p>
          </p:txBody>
        </p:sp>
      </p:grpSp>
      <p:sp>
        <p:nvSpPr>
          <p:cNvPr name="AutoShape 126" id="126"/>
          <p:cNvSpPr/>
          <p:nvPr/>
        </p:nvSpPr>
        <p:spPr>
          <a:xfrm rot="4982820">
            <a:off x="14784410" y="5332857"/>
            <a:ext cx="236049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7" id="127"/>
          <p:cNvGrpSpPr/>
          <p:nvPr/>
        </p:nvGrpSpPr>
        <p:grpSpPr>
          <a:xfrm rot="0">
            <a:off x="12883515" y="5435727"/>
            <a:ext cx="4037838" cy="595122"/>
            <a:chOff x="0" y="0"/>
            <a:chExt cx="5383784" cy="79349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383784" cy="793496"/>
            </a:xfrm>
            <a:custGeom>
              <a:avLst/>
              <a:gdLst/>
              <a:ahLst/>
              <a:cxnLst/>
              <a:rect r="r" b="b" t="t" l="l"/>
              <a:pathLst>
                <a:path h="793496" w="5383784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5270373" y="0"/>
                  </a:lnTo>
                  <a:cubicBezTo>
                    <a:pt x="5332984" y="0"/>
                    <a:pt x="5383784" y="50800"/>
                    <a:pt x="5383784" y="113411"/>
                  </a:cubicBezTo>
                  <a:lnTo>
                    <a:pt x="5383784" y="680085"/>
                  </a:lnTo>
                  <a:cubicBezTo>
                    <a:pt x="5383784" y="742696"/>
                    <a:pt x="5332984" y="793496"/>
                    <a:pt x="5270373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EAF3FB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29" id="129"/>
            <p:cNvSpPr txBox="true"/>
            <p:nvPr/>
          </p:nvSpPr>
          <p:spPr>
            <a:xfrm>
              <a:off x="0" y="-19050"/>
              <a:ext cx="5383784" cy="812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Normalise 0–1 + variance check</a:t>
              </a:r>
            </a:p>
          </p:txBody>
        </p:sp>
      </p:grpSp>
      <p:sp>
        <p:nvSpPr>
          <p:cNvPr name="AutoShape 130" id="130"/>
          <p:cNvSpPr/>
          <p:nvPr/>
        </p:nvSpPr>
        <p:spPr>
          <a:xfrm rot="4982820">
            <a:off x="14784410" y="6114669"/>
            <a:ext cx="236049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1" id="131"/>
          <p:cNvGrpSpPr/>
          <p:nvPr/>
        </p:nvGrpSpPr>
        <p:grpSpPr>
          <a:xfrm rot="0">
            <a:off x="13454824" y="6212776"/>
            <a:ext cx="2895219" cy="1263015"/>
            <a:chOff x="0" y="0"/>
            <a:chExt cx="3860292" cy="168402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860292" cy="1684020"/>
            </a:xfrm>
            <a:custGeom>
              <a:avLst/>
              <a:gdLst/>
              <a:ahLst/>
              <a:cxnLst/>
              <a:rect r="r" b="b" t="t" l="l"/>
              <a:pathLst>
                <a:path h="1684020" w="3860292">
                  <a:moveTo>
                    <a:pt x="0" y="842010"/>
                  </a:moveTo>
                  <a:lnTo>
                    <a:pt x="1930146" y="0"/>
                  </a:lnTo>
                  <a:lnTo>
                    <a:pt x="3860292" y="842010"/>
                  </a:lnTo>
                  <a:lnTo>
                    <a:pt x="1930146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3860292" cy="170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σ &gt; 0.02 ?</a:t>
              </a:r>
            </a:p>
          </p:txBody>
        </p:sp>
      </p:grpSp>
      <p:sp>
        <p:nvSpPr>
          <p:cNvPr name="AutoShape 134" id="134"/>
          <p:cNvSpPr/>
          <p:nvPr/>
        </p:nvSpPr>
        <p:spPr>
          <a:xfrm rot="10590120">
            <a:off x="13015474" y="6834759"/>
            <a:ext cx="468363" cy="0"/>
          </a:xfrm>
          <a:prstGeom prst="line">
            <a:avLst/>
          </a:prstGeom>
          <a:ln cap="rnd" w="19050">
            <a:solidFill>
              <a:srgbClr val="D32F2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5" id="135"/>
          <p:cNvSpPr/>
          <p:nvPr/>
        </p:nvSpPr>
        <p:spPr>
          <a:xfrm rot="5286480">
            <a:off x="12597336" y="7253097"/>
            <a:ext cx="865727" cy="0"/>
          </a:xfrm>
          <a:prstGeom prst="line">
            <a:avLst/>
          </a:prstGeom>
          <a:ln cap="rnd" w="19050">
            <a:solidFill>
              <a:srgbClr val="D32F2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6" id="136"/>
          <p:cNvSpPr/>
          <p:nvPr/>
        </p:nvSpPr>
        <p:spPr>
          <a:xfrm rot="230040">
            <a:off x="16320992" y="6834759"/>
            <a:ext cx="427291" cy="0"/>
          </a:xfrm>
          <a:prstGeom prst="line">
            <a:avLst/>
          </a:prstGeom>
          <a:ln cap="rnd" w="19050">
            <a:solidFill>
              <a:srgbClr val="2E9E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7" id="137"/>
          <p:cNvSpPr/>
          <p:nvPr/>
        </p:nvSpPr>
        <p:spPr>
          <a:xfrm rot="5286480">
            <a:off x="16300656" y="7253097"/>
            <a:ext cx="865727" cy="0"/>
          </a:xfrm>
          <a:prstGeom prst="line">
            <a:avLst/>
          </a:prstGeom>
          <a:ln cap="rnd" w="19050">
            <a:solidFill>
              <a:srgbClr val="2E9E5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8" id="138"/>
          <p:cNvSpPr txBox="true"/>
          <p:nvPr/>
        </p:nvSpPr>
        <p:spPr>
          <a:xfrm rot="0">
            <a:off x="12412980" y="6468618"/>
            <a:ext cx="82296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D32F2F"/>
                </a:solidFill>
                <a:latin typeface="Arial Bold"/>
                <a:ea typeface="Arial Bold"/>
                <a:cs typeface="Arial Bold"/>
                <a:sym typeface="Arial Bold"/>
              </a:rPr>
              <a:t>NO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6390620" y="6468618"/>
            <a:ext cx="822960" cy="32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E9E5B"/>
                </a:solidFill>
                <a:latin typeface="Arial Bold"/>
                <a:ea typeface="Arial Bold"/>
                <a:cs typeface="Arial Bold"/>
                <a:sym typeface="Arial Bold"/>
              </a:rPr>
              <a:t>YES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12334875" y="7671435"/>
            <a:ext cx="2350770" cy="869442"/>
            <a:chOff x="0" y="0"/>
            <a:chExt cx="3134360" cy="115925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13436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13436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3022219" y="0"/>
                  </a:lnTo>
                  <a:cubicBezTo>
                    <a:pt x="3084195" y="0"/>
                    <a:pt x="3134360" y="50165"/>
                    <a:pt x="3134360" y="112141"/>
                  </a:cubicBezTo>
                  <a:lnTo>
                    <a:pt x="3134360" y="1047115"/>
                  </a:lnTo>
                  <a:cubicBezTo>
                    <a:pt x="3134360" y="1109091"/>
                    <a:pt x="3084195" y="1159256"/>
                    <a:pt x="302221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FADBD8"/>
            </a:solidFill>
            <a:ln w="19050" cap="sq">
              <a:solidFill>
                <a:srgbClr val="D32F2F"/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3134360" cy="1168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B03A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BLOCK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B03A2E"/>
                  </a:solidFill>
                  <a:latin typeface="Arial"/>
                  <a:ea typeface="Arial"/>
                  <a:cs typeface="Arial"/>
                  <a:sym typeface="Arial"/>
                </a:rPr>
                <a:t>log + alert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5078075" y="7671435"/>
            <a:ext cx="2419350" cy="869442"/>
            <a:chOff x="0" y="0"/>
            <a:chExt cx="3225800" cy="115925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225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322580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3113659" y="0"/>
                  </a:lnTo>
                  <a:cubicBezTo>
                    <a:pt x="3175635" y="0"/>
                    <a:pt x="3225800" y="50165"/>
                    <a:pt x="3225800" y="112141"/>
                  </a:cubicBezTo>
                  <a:lnTo>
                    <a:pt x="3225800" y="1047115"/>
                  </a:lnTo>
                  <a:cubicBezTo>
                    <a:pt x="3225800" y="1109091"/>
                    <a:pt x="3175635" y="1159256"/>
                    <a:pt x="311365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D5F5E3"/>
            </a:solidFill>
            <a:ln w="19050" cap="sq">
              <a:solidFill>
                <a:srgbClr val="2E9E5B"/>
              </a:solidFill>
              <a:prstDash val="solid"/>
              <a:miter/>
            </a:ln>
          </p:spPr>
        </p:sp>
        <p:sp>
          <p:nvSpPr>
            <p:cNvPr name="TextBox 145" id="145"/>
            <p:cNvSpPr txBox="true"/>
            <p:nvPr/>
          </p:nvSpPr>
          <p:spPr>
            <a:xfrm>
              <a:off x="0" y="-9525"/>
              <a:ext cx="3225800" cy="1168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E844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PASS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1E8449"/>
                  </a:solidFill>
                  <a:latin typeface="Arial"/>
                  <a:ea typeface="Arial"/>
                  <a:cs typeface="Arial"/>
                  <a:sym typeface="Arial"/>
                </a:rPr>
                <a:t>to AI inference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617220" y="8778240"/>
            <a:ext cx="17007840" cy="548640"/>
            <a:chOff x="0" y="0"/>
            <a:chExt cx="22677120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22677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0A254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The architecture anticipates data failure, model-input failure, mobile performance limits and API limits.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220" y="1755648"/>
            <a:ext cx="11521440" cy="411480"/>
            <a:chOff x="0" y="0"/>
            <a:chExt cx="153619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61920" cy="548640"/>
            </a:xfrm>
            <a:custGeom>
              <a:avLst/>
              <a:gdLst/>
              <a:ahLst/>
              <a:cxnLst/>
              <a:rect r="r" b="b" t="t" l="l"/>
              <a:pathLst>
                <a:path h="5486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5361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Potential impact on the target audience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7695" y="2253615"/>
            <a:ext cx="4133850" cy="1527810"/>
            <a:chOff x="0" y="0"/>
            <a:chExt cx="5511800" cy="2037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11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51180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363718" y="0"/>
                  </a:lnTo>
                  <a:cubicBezTo>
                    <a:pt x="5445506" y="0"/>
                    <a:pt x="5511800" y="66294"/>
                    <a:pt x="5511800" y="148082"/>
                  </a:cubicBezTo>
                  <a:lnTo>
                    <a:pt x="5511800" y="1888998"/>
                  </a:lnTo>
                  <a:cubicBezTo>
                    <a:pt x="5511800" y="1970786"/>
                    <a:pt x="5445506" y="2037080"/>
                    <a:pt x="5363718" y="2037080"/>
                  </a:cubicBezTo>
                  <a:lnTo>
                    <a:pt x="148082" y="2037080"/>
                  </a:lnTo>
                  <a:cubicBezTo>
                    <a:pt x="66294" y="2037080"/>
                    <a:pt x="0" y="1970786"/>
                    <a:pt x="0" y="18889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2359152"/>
            <a:ext cx="3703320" cy="754380"/>
            <a:chOff x="0" y="0"/>
            <a:chExt cx="493776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11,098 km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3094482"/>
            <a:ext cx="370332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India's coastline (2025 revision)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18634" y="2253615"/>
            <a:ext cx="4133850" cy="1527810"/>
            <a:chOff x="0" y="0"/>
            <a:chExt cx="5511800" cy="2037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11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51180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363718" y="0"/>
                  </a:lnTo>
                  <a:cubicBezTo>
                    <a:pt x="5445506" y="0"/>
                    <a:pt x="5511800" y="66294"/>
                    <a:pt x="5511800" y="148082"/>
                  </a:cubicBezTo>
                  <a:lnTo>
                    <a:pt x="5511800" y="1888998"/>
                  </a:lnTo>
                  <a:cubicBezTo>
                    <a:pt x="5511800" y="1970786"/>
                    <a:pt x="5445506" y="2037080"/>
                    <a:pt x="5363718" y="2037080"/>
                  </a:cubicBezTo>
                  <a:lnTo>
                    <a:pt x="148082" y="2037080"/>
                  </a:lnTo>
                  <a:cubicBezTo>
                    <a:pt x="66294" y="2037080"/>
                    <a:pt x="0" y="1970786"/>
                    <a:pt x="0" y="18889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133899" y="2359152"/>
            <a:ext cx="3703320" cy="754380"/>
            <a:chOff x="0" y="0"/>
            <a:chExt cx="493776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3.77 million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133899" y="3094482"/>
            <a:ext cx="370332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fisherfolk (CMFRI census, 2016)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29573" y="2253615"/>
            <a:ext cx="4133850" cy="1527810"/>
            <a:chOff x="0" y="0"/>
            <a:chExt cx="5511800" cy="2037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11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51180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363718" y="0"/>
                  </a:lnTo>
                  <a:cubicBezTo>
                    <a:pt x="5445506" y="0"/>
                    <a:pt x="5511800" y="66294"/>
                    <a:pt x="5511800" y="148082"/>
                  </a:cubicBezTo>
                  <a:lnTo>
                    <a:pt x="5511800" y="1888998"/>
                  </a:lnTo>
                  <a:cubicBezTo>
                    <a:pt x="5511800" y="1970786"/>
                    <a:pt x="5445506" y="2037080"/>
                    <a:pt x="5363718" y="2037080"/>
                  </a:cubicBezTo>
                  <a:lnTo>
                    <a:pt x="148082" y="2037080"/>
                  </a:lnTo>
                  <a:cubicBezTo>
                    <a:pt x="66294" y="2037080"/>
                    <a:pt x="0" y="1970786"/>
                    <a:pt x="0" y="18889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444838" y="2359152"/>
            <a:ext cx="3703320" cy="754380"/>
            <a:chOff x="0" y="0"/>
            <a:chExt cx="493776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~30%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444838" y="3094482"/>
            <a:ext cx="370332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less damage with a 24-hour warning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540511" y="2253615"/>
            <a:ext cx="4133850" cy="1527810"/>
            <a:chOff x="0" y="0"/>
            <a:chExt cx="5511800" cy="2037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11800" cy="2037080"/>
            </a:xfrm>
            <a:custGeom>
              <a:avLst/>
              <a:gdLst/>
              <a:ahLst/>
              <a:cxnLst/>
              <a:rect r="r" b="b" t="t" l="l"/>
              <a:pathLst>
                <a:path h="2037080" w="551180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363718" y="0"/>
                  </a:lnTo>
                  <a:cubicBezTo>
                    <a:pt x="5445506" y="0"/>
                    <a:pt x="5511800" y="66294"/>
                    <a:pt x="5511800" y="148082"/>
                  </a:cubicBezTo>
                  <a:lnTo>
                    <a:pt x="5511800" y="1888998"/>
                  </a:lnTo>
                  <a:cubicBezTo>
                    <a:pt x="5511800" y="1970786"/>
                    <a:pt x="5445506" y="2037080"/>
                    <a:pt x="5363718" y="2037080"/>
                  </a:cubicBezTo>
                  <a:lnTo>
                    <a:pt x="148082" y="2037080"/>
                  </a:lnTo>
                  <a:cubicBezTo>
                    <a:pt x="66294" y="2037080"/>
                    <a:pt x="0" y="1970786"/>
                    <a:pt x="0" y="18889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755776" y="2359152"/>
            <a:ext cx="3703320" cy="754380"/>
            <a:chOff x="0" y="0"/>
            <a:chExt cx="493776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~1 million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755776" y="3094482"/>
            <a:ext cx="3703320" cy="59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evacuated for Cyclone Phailin (2013)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17220" y="3950208"/>
            <a:ext cx="1783080" cy="411480"/>
            <a:chOff x="0" y="0"/>
            <a:chExt cx="237744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77440" cy="548640"/>
            </a:xfrm>
            <a:custGeom>
              <a:avLst/>
              <a:gdLst/>
              <a:ahLst/>
              <a:cxnLst/>
              <a:rect r="r" b="b" t="t" l="l"/>
              <a:pathLst>
                <a:path h="5486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3774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users: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393156" y="3943064"/>
            <a:ext cx="2277428" cy="425768"/>
            <a:chOff x="0" y="0"/>
            <a:chExt cx="3036570" cy="56769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36570" cy="567690"/>
            </a:xfrm>
            <a:custGeom>
              <a:avLst/>
              <a:gdLst/>
              <a:ahLst/>
              <a:cxnLst/>
              <a:rect r="r" b="b" t="t" l="l"/>
              <a:pathLst>
                <a:path h="567690" w="3036570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752725" y="0"/>
                  </a:lnTo>
                  <a:cubicBezTo>
                    <a:pt x="2909443" y="0"/>
                    <a:pt x="3036570" y="127127"/>
                    <a:pt x="3036570" y="283845"/>
                  </a:cubicBezTo>
                  <a:cubicBezTo>
                    <a:pt x="3036570" y="440563"/>
                    <a:pt x="2909443" y="567690"/>
                    <a:pt x="2752725" y="567690"/>
                  </a:cubicBezTo>
                  <a:lnTo>
                    <a:pt x="283845" y="567690"/>
                  </a:lnTo>
                  <a:cubicBezTo>
                    <a:pt x="127127" y="567690"/>
                    <a:pt x="0" y="440563"/>
                    <a:pt x="0" y="283845"/>
                  </a:cubicBezTo>
                  <a:close/>
                </a:path>
              </a:pathLst>
            </a:custGeom>
            <a:solidFill>
              <a:srgbClr val="EAF3FB"/>
            </a:solidFill>
            <a:ln w="14288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036570" cy="586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Coastal residents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793456" y="3943064"/>
            <a:ext cx="1660208" cy="425768"/>
            <a:chOff x="0" y="0"/>
            <a:chExt cx="2213610" cy="56769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3610" cy="567690"/>
            </a:xfrm>
            <a:custGeom>
              <a:avLst/>
              <a:gdLst/>
              <a:ahLst/>
              <a:cxnLst/>
              <a:rect r="r" b="b" t="t" l="l"/>
              <a:pathLst>
                <a:path h="567690" w="2213610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1929765" y="0"/>
                  </a:lnTo>
                  <a:cubicBezTo>
                    <a:pt x="2086483" y="0"/>
                    <a:pt x="2213610" y="127127"/>
                    <a:pt x="2213610" y="283845"/>
                  </a:cubicBezTo>
                  <a:cubicBezTo>
                    <a:pt x="2213610" y="440563"/>
                    <a:pt x="2086483" y="567690"/>
                    <a:pt x="1929765" y="567690"/>
                  </a:cubicBezTo>
                  <a:lnTo>
                    <a:pt x="283845" y="567690"/>
                  </a:lnTo>
                  <a:cubicBezTo>
                    <a:pt x="127127" y="567690"/>
                    <a:pt x="0" y="440563"/>
                    <a:pt x="0" y="283845"/>
                  </a:cubicBezTo>
                  <a:close/>
                </a:path>
              </a:pathLst>
            </a:custGeom>
            <a:solidFill>
              <a:srgbClr val="EAF3FB"/>
            </a:solidFill>
            <a:ln w="14288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213610" cy="586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Fisherfolk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76536" y="3943064"/>
            <a:ext cx="2277428" cy="425768"/>
            <a:chOff x="0" y="0"/>
            <a:chExt cx="3036570" cy="5676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36570" cy="567690"/>
            </a:xfrm>
            <a:custGeom>
              <a:avLst/>
              <a:gdLst/>
              <a:ahLst/>
              <a:cxnLst/>
              <a:rect r="r" b="b" t="t" l="l"/>
              <a:pathLst>
                <a:path h="567690" w="3036570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752725" y="0"/>
                  </a:lnTo>
                  <a:cubicBezTo>
                    <a:pt x="2909443" y="0"/>
                    <a:pt x="3036570" y="127127"/>
                    <a:pt x="3036570" y="283845"/>
                  </a:cubicBezTo>
                  <a:cubicBezTo>
                    <a:pt x="3036570" y="440563"/>
                    <a:pt x="2909443" y="567690"/>
                    <a:pt x="2752725" y="567690"/>
                  </a:cubicBezTo>
                  <a:lnTo>
                    <a:pt x="283845" y="567690"/>
                  </a:lnTo>
                  <a:cubicBezTo>
                    <a:pt x="127127" y="567690"/>
                    <a:pt x="0" y="440563"/>
                    <a:pt x="0" y="283845"/>
                  </a:cubicBezTo>
                  <a:close/>
                </a:path>
              </a:pathLst>
            </a:custGeom>
            <a:solidFill>
              <a:srgbClr val="EAF3FB"/>
            </a:solidFill>
            <a:ln w="14288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036570" cy="586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Disaster officials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976836" y="3943064"/>
            <a:ext cx="1797367" cy="425768"/>
            <a:chOff x="0" y="0"/>
            <a:chExt cx="2396490" cy="56769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96490" cy="567690"/>
            </a:xfrm>
            <a:custGeom>
              <a:avLst/>
              <a:gdLst/>
              <a:ahLst/>
              <a:cxnLst/>
              <a:rect r="r" b="b" t="t" l="l"/>
              <a:pathLst>
                <a:path h="567690" w="2396490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112645" y="0"/>
                  </a:lnTo>
                  <a:cubicBezTo>
                    <a:pt x="2269363" y="0"/>
                    <a:pt x="2396490" y="127127"/>
                    <a:pt x="2396490" y="283845"/>
                  </a:cubicBezTo>
                  <a:cubicBezTo>
                    <a:pt x="2396490" y="440563"/>
                    <a:pt x="2269363" y="567690"/>
                    <a:pt x="2112645" y="567690"/>
                  </a:cubicBezTo>
                  <a:lnTo>
                    <a:pt x="283845" y="567690"/>
                  </a:lnTo>
                  <a:cubicBezTo>
                    <a:pt x="127127" y="567690"/>
                    <a:pt x="0" y="440563"/>
                    <a:pt x="0" y="283845"/>
                  </a:cubicBezTo>
                  <a:close/>
                </a:path>
              </a:pathLst>
            </a:custGeom>
            <a:solidFill>
              <a:srgbClr val="EAF3FB"/>
            </a:solidFill>
            <a:ln w="14288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396490" cy="586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Researchers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17220" y="4526280"/>
            <a:ext cx="12344400" cy="411480"/>
            <a:chOff x="0" y="0"/>
            <a:chExt cx="164592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645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Benefits of the solution (social, economic, environmental, etc.)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07695" y="4996815"/>
            <a:ext cx="4065270" cy="3516630"/>
            <a:chOff x="0" y="0"/>
            <a:chExt cx="5420360" cy="4688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20360" cy="4688840"/>
            </a:xfrm>
            <a:custGeom>
              <a:avLst/>
              <a:gdLst/>
              <a:ahLst/>
              <a:cxnLst/>
              <a:rect r="r" b="b" t="t" l="l"/>
              <a:pathLst>
                <a:path h="4688840" w="542036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5273294" y="0"/>
                  </a:lnTo>
                  <a:cubicBezTo>
                    <a:pt x="5354574" y="0"/>
                    <a:pt x="5420360" y="65913"/>
                    <a:pt x="5420360" y="147066"/>
                  </a:cubicBezTo>
                  <a:lnTo>
                    <a:pt x="5420360" y="4541774"/>
                  </a:lnTo>
                  <a:cubicBezTo>
                    <a:pt x="5420360" y="4623054"/>
                    <a:pt x="5354447" y="4688840"/>
                    <a:pt x="5273294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5184648"/>
            <a:ext cx="658368" cy="658368"/>
            <a:chOff x="0" y="0"/>
            <a:chExt cx="877824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80970" y="5342658"/>
            <a:ext cx="342348" cy="342348"/>
            <a:chOff x="0" y="0"/>
            <a:chExt cx="456463" cy="456463"/>
          </a:xfrm>
        </p:grpSpPr>
        <p:sp>
          <p:nvSpPr>
            <p:cNvPr name="Freeform 65" id="65" descr="users_w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604772" y="5184648"/>
            <a:ext cx="2948940" cy="658368"/>
            <a:chOff x="0" y="0"/>
            <a:chExt cx="3931920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31920" cy="877824"/>
            </a:xfrm>
            <a:custGeom>
              <a:avLst/>
              <a:gdLst/>
              <a:ahLst/>
              <a:cxnLst/>
              <a:rect r="r" b="b" t="t" l="l"/>
              <a:pathLst>
                <a:path h="8778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76" r="0" b="-3727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9319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Social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822960" y="6015990"/>
            <a:ext cx="3675888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Earlier warnings in local language save lives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Phailin (2013): ~1 million evacuated, deaths far below the ~10,000 of 1999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Alerts reach any phone or browser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4859655" y="4996815"/>
            <a:ext cx="4065270" cy="3516630"/>
            <a:chOff x="0" y="0"/>
            <a:chExt cx="5420360" cy="4688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20360" cy="4688840"/>
            </a:xfrm>
            <a:custGeom>
              <a:avLst/>
              <a:gdLst/>
              <a:ahLst/>
              <a:cxnLst/>
              <a:rect r="r" b="b" t="t" l="l"/>
              <a:pathLst>
                <a:path h="4688840" w="542036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5273294" y="0"/>
                  </a:lnTo>
                  <a:cubicBezTo>
                    <a:pt x="5354574" y="0"/>
                    <a:pt x="5420360" y="65913"/>
                    <a:pt x="5420360" y="147066"/>
                  </a:cubicBezTo>
                  <a:lnTo>
                    <a:pt x="5420360" y="4541774"/>
                  </a:lnTo>
                  <a:cubicBezTo>
                    <a:pt x="5420360" y="4623054"/>
                    <a:pt x="5354447" y="4688840"/>
                    <a:pt x="5273294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5074920" y="5184648"/>
            <a:ext cx="658368" cy="658368"/>
            <a:chOff x="0" y="0"/>
            <a:chExt cx="877824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232930" y="5342658"/>
            <a:ext cx="342348" cy="342348"/>
            <a:chOff x="0" y="0"/>
            <a:chExt cx="456463" cy="456463"/>
          </a:xfrm>
        </p:grpSpPr>
        <p:sp>
          <p:nvSpPr>
            <p:cNvPr name="Freeform 75" id="75" descr="anchor_w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856732" y="5184648"/>
            <a:ext cx="2948940" cy="658368"/>
            <a:chOff x="0" y="0"/>
            <a:chExt cx="3931920" cy="87782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931920" cy="877824"/>
            </a:xfrm>
            <a:custGeom>
              <a:avLst/>
              <a:gdLst/>
              <a:ahLst/>
              <a:cxnLst/>
              <a:rect r="r" b="b" t="t" l="l"/>
              <a:pathLst>
                <a:path h="8778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76" r="0" b="-3727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9319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 and livelihood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5074920" y="6015990"/>
            <a:ext cx="3675888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A 24 h warning can cut damage by ~30%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Amphan (2020) caused ~US$14 billion in losses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"Do not go to sea" alerts protect boats and nets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111615" y="4996815"/>
            <a:ext cx="4065270" cy="3516630"/>
            <a:chOff x="0" y="0"/>
            <a:chExt cx="5420360" cy="46888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20360" cy="4688840"/>
            </a:xfrm>
            <a:custGeom>
              <a:avLst/>
              <a:gdLst/>
              <a:ahLst/>
              <a:cxnLst/>
              <a:rect r="r" b="b" t="t" l="l"/>
              <a:pathLst>
                <a:path h="4688840" w="542036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5273294" y="0"/>
                  </a:lnTo>
                  <a:cubicBezTo>
                    <a:pt x="5354574" y="0"/>
                    <a:pt x="5420360" y="65913"/>
                    <a:pt x="5420360" y="147066"/>
                  </a:cubicBezTo>
                  <a:lnTo>
                    <a:pt x="5420360" y="4541774"/>
                  </a:lnTo>
                  <a:cubicBezTo>
                    <a:pt x="5420360" y="4623054"/>
                    <a:pt x="5354447" y="4688840"/>
                    <a:pt x="5273294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326880" y="5184648"/>
            <a:ext cx="658368" cy="658368"/>
            <a:chOff x="0" y="0"/>
            <a:chExt cx="877824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484890" y="5342658"/>
            <a:ext cx="342348" cy="342348"/>
            <a:chOff x="0" y="0"/>
            <a:chExt cx="456463" cy="456463"/>
          </a:xfrm>
        </p:grpSpPr>
        <p:sp>
          <p:nvSpPr>
            <p:cNvPr name="Freeform 85" id="85" descr="leaf_w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108692" y="5184648"/>
            <a:ext cx="2948940" cy="658368"/>
            <a:chOff x="0" y="0"/>
            <a:chExt cx="3931920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31920" cy="877824"/>
            </a:xfrm>
            <a:custGeom>
              <a:avLst/>
              <a:gdLst/>
              <a:ahLst/>
              <a:cxnLst/>
              <a:rect r="r" b="b" t="t" l="l"/>
              <a:pathLst>
                <a:path h="8778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276" r="0" b="-3727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9319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9326880" y="6015990"/>
            <a:ext cx="3675888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Rainfall hot-spot tracking supports flood preparedness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Open data supports climate research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14538960" y="4869180"/>
            <a:ext cx="2743200" cy="3634740"/>
            <a:chOff x="0" y="0"/>
            <a:chExt cx="3657600" cy="48463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7600" cy="4846320"/>
            </a:xfrm>
            <a:custGeom>
              <a:avLst/>
              <a:gdLst/>
              <a:ahLst/>
              <a:cxnLst/>
              <a:rect r="r" b="b" t="t" l="l"/>
              <a:pathLst>
                <a:path h="4846320" w="365760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3255264" y="0"/>
                  </a:lnTo>
                  <a:cubicBezTo>
                    <a:pt x="3477514" y="0"/>
                    <a:pt x="3657600" y="180086"/>
                    <a:pt x="3657600" y="402336"/>
                  </a:cubicBezTo>
                  <a:lnTo>
                    <a:pt x="3657600" y="4443984"/>
                  </a:lnTo>
                  <a:cubicBezTo>
                    <a:pt x="3657600" y="4666234"/>
                    <a:pt x="3477514" y="4846320"/>
                    <a:pt x="3255264" y="4846320"/>
                  </a:cubicBezTo>
                  <a:lnTo>
                    <a:pt x="402336" y="4846320"/>
                  </a:lnTo>
                  <a:cubicBezTo>
                    <a:pt x="180086" y="4846320"/>
                    <a:pt x="0" y="4666234"/>
                    <a:pt x="0" y="4443984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648688" y="5061204"/>
            <a:ext cx="2523744" cy="3250692"/>
            <a:chOff x="0" y="0"/>
            <a:chExt cx="3364992" cy="43342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364992" cy="4334256"/>
            </a:xfrm>
            <a:custGeom>
              <a:avLst/>
              <a:gdLst/>
              <a:ahLst/>
              <a:cxnLst/>
              <a:rect r="r" b="b" t="t" l="l"/>
              <a:pathLst>
                <a:path h="4334256" w="3364992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108960" y="0"/>
                  </a:lnTo>
                  <a:cubicBezTo>
                    <a:pt x="3250311" y="0"/>
                    <a:pt x="3364992" y="114681"/>
                    <a:pt x="3364992" y="256032"/>
                  </a:cubicBezTo>
                  <a:lnTo>
                    <a:pt x="3364992" y="4078224"/>
                  </a:lnTo>
                  <a:cubicBezTo>
                    <a:pt x="3364992" y="4219575"/>
                    <a:pt x="3250311" y="4334256"/>
                    <a:pt x="3108960" y="4334256"/>
                  </a:cubicBezTo>
                  <a:lnTo>
                    <a:pt x="256032" y="4334256"/>
                  </a:lnTo>
                  <a:cubicBezTo>
                    <a:pt x="114681" y="4334256"/>
                    <a:pt x="0" y="4219575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758416" y="5143500"/>
            <a:ext cx="2304288" cy="301752"/>
            <a:chOff x="0" y="0"/>
            <a:chExt cx="3072384" cy="40233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072384" cy="402336"/>
            </a:xfrm>
            <a:custGeom>
              <a:avLst/>
              <a:gdLst/>
              <a:ahLst/>
              <a:cxnLst/>
              <a:rect r="r" b="b" t="t" l="l"/>
              <a:pathLst>
                <a:path h="402336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94" r="0" b="-9879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072384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CYCLO-NEXUS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758416" y="5554980"/>
            <a:ext cx="2304288" cy="466344"/>
            <a:chOff x="0" y="0"/>
            <a:chExt cx="3072384" cy="62179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072384" cy="621792"/>
            </a:xfrm>
            <a:custGeom>
              <a:avLst/>
              <a:gdLst/>
              <a:ahLst/>
              <a:cxnLst/>
              <a:rect r="r" b="b" t="t" l="l"/>
              <a:pathLst>
                <a:path h="621792" w="3072384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980944" y="0"/>
                  </a:lnTo>
                  <a:cubicBezTo>
                    <a:pt x="3031490" y="0"/>
                    <a:pt x="3072384" y="40894"/>
                    <a:pt x="3072384" y="91440"/>
                  </a:cubicBezTo>
                  <a:lnTo>
                    <a:pt x="3072384" y="530352"/>
                  </a:lnTo>
                  <a:cubicBezTo>
                    <a:pt x="3072384" y="580898"/>
                    <a:pt x="3031490" y="621792"/>
                    <a:pt x="2980944" y="621792"/>
                  </a:cubicBezTo>
                  <a:lnTo>
                    <a:pt x="91440" y="621792"/>
                  </a:lnTo>
                  <a:cubicBezTo>
                    <a:pt x="40894" y="621792"/>
                    <a:pt x="0" y="580898"/>
                    <a:pt x="0" y="530352"/>
                  </a:cubicBezTo>
                  <a:close/>
                </a:path>
              </a:pathLst>
            </a:custGeom>
            <a:solidFill>
              <a:srgbClr val="FF7A00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3072384" cy="640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ORANGE ALERT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4785848" y="6112002"/>
            <a:ext cx="2249424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Do not go to sea</a:t>
            </a:r>
          </a:p>
          <a:p>
            <a:pPr algn="l">
              <a:lnSpc>
                <a:spcPts val="1530"/>
              </a:lnSpc>
            </a:pPr>
            <a:r>
              <a:rPr lang="en-US" sz="1275">
                <a:solidFill>
                  <a:srgbClr val="1B2A3A"/>
                </a:solidFill>
                <a:latin typeface="Arial"/>
                <a:ea typeface="Arial"/>
                <a:cs typeface="Arial"/>
                <a:sym typeface="Arial"/>
              </a:rPr>
              <a:t>Severe cyclonic storm expected near the coast.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A25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समुद्र में न जाएं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4785848" y="7584948"/>
            <a:ext cx="2249424" cy="329184"/>
            <a:chOff x="0" y="0"/>
            <a:chExt cx="2999232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999232" cy="438912"/>
            </a:xfrm>
            <a:custGeom>
              <a:avLst/>
              <a:gdLst/>
              <a:ahLst/>
              <a:cxnLst/>
              <a:rect r="r" b="b" t="t" l="l"/>
              <a:pathLst>
                <a:path h="438912" w="2999232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2907792" y="0"/>
                  </a:lnTo>
                  <a:cubicBezTo>
                    <a:pt x="2958338" y="0"/>
                    <a:pt x="2999232" y="40894"/>
                    <a:pt x="2999232" y="91440"/>
                  </a:cubicBezTo>
                  <a:lnTo>
                    <a:pt x="2999232" y="347472"/>
                  </a:lnTo>
                  <a:cubicBezTo>
                    <a:pt x="2999232" y="398018"/>
                    <a:pt x="2958338" y="438912"/>
                    <a:pt x="2907792" y="438912"/>
                  </a:cubicBezTo>
                  <a:lnTo>
                    <a:pt x="91440" y="438912"/>
                  </a:lnTo>
                  <a:cubicBezTo>
                    <a:pt x="40894" y="438912"/>
                    <a:pt x="0" y="398018"/>
                    <a:pt x="0" y="347472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2999232" cy="457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Official + AI, labelled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14538960" y="8512302"/>
            <a:ext cx="2743200" cy="2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 i="true">
                <a:solidFill>
                  <a:srgbClr val="4A5B6C"/>
                </a:solidFill>
                <a:latin typeface="Arial Italics"/>
                <a:ea typeface="Arial Italics"/>
                <a:cs typeface="Arial Italics"/>
                <a:sym typeface="Arial Italics"/>
              </a:rPr>
              <a:t>Illustrative alert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617220" y="8778240"/>
            <a:ext cx="17007840" cy="548640"/>
            <a:chOff x="0" y="0"/>
            <a:chExt cx="22677120" cy="7315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22677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i="true">
                  <a:solidFill>
                    <a:srgbClr val="0A2540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Turning satellite data into early action that protects lives.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077"/>
            <a:ext cx="18287105" cy="753837"/>
            <a:chOff x="0" y="0"/>
            <a:chExt cx="24382806" cy="100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05078"/>
            </a:xfrm>
            <a:custGeom>
              <a:avLst/>
              <a:gdLst/>
              <a:ahLst/>
              <a:cxnLst/>
              <a:rect r="r" b="b" t="t" l="l"/>
              <a:pathLst>
                <a:path h="100507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05078"/>
                  </a:lnTo>
                  <a:lnTo>
                    <a:pt x="0" y="1005078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219" y="-71276"/>
            <a:ext cx="16458124" cy="1713424"/>
            <a:chOff x="0" y="0"/>
            <a:chExt cx="21944165" cy="2284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160" cy="2284560"/>
            </a:xfrm>
            <a:custGeom>
              <a:avLst/>
              <a:gdLst/>
              <a:ahLst/>
              <a:cxnLst/>
              <a:rect r="r" b="b" t="t" l="l"/>
              <a:pathLst>
                <a:path h="2284560" w="21944160">
                  <a:moveTo>
                    <a:pt x="0" y="0"/>
                  </a:moveTo>
                  <a:lnTo>
                    <a:pt x="21944160" y="0"/>
                  </a:lnTo>
                  <a:lnTo>
                    <a:pt x="21944160" y="2284560"/>
                  </a:lnTo>
                  <a:lnTo>
                    <a:pt x="0" y="228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61" r="0" b="-13716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4165" cy="2313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343" y="9534782"/>
            <a:ext cx="4266000" cy="546480"/>
            <a:chOff x="0" y="0"/>
            <a:chExt cx="5688000" cy="72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8000" cy="728643"/>
            </a:xfrm>
            <a:custGeom>
              <a:avLst/>
              <a:gdLst/>
              <a:ahLst/>
              <a:cxnLst/>
              <a:rect r="r" b="b" t="t" l="l"/>
              <a:pathLst>
                <a:path h="728643" w="5688000">
                  <a:moveTo>
                    <a:pt x="0" y="0"/>
                  </a:moveTo>
                  <a:lnTo>
                    <a:pt x="5688000" y="0"/>
                  </a:lnTo>
                  <a:lnTo>
                    <a:pt x="5688000" y="728643"/>
                  </a:lnTo>
                  <a:lnTo>
                    <a:pt x="0" y="7286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106" r="0" b="-1021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8000" cy="74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5556" y="272158"/>
            <a:ext cx="2854442" cy="1347302"/>
            <a:chOff x="0" y="0"/>
            <a:chExt cx="3805923" cy="17964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936" cy="1796415"/>
            </a:xfrm>
            <a:custGeom>
              <a:avLst/>
              <a:gdLst/>
              <a:ahLst/>
              <a:cxnLst/>
              <a:rect r="r" b="b" t="t" l="l"/>
              <a:pathLst>
                <a:path h="1796415" w="3805936">
                  <a:moveTo>
                    <a:pt x="0" y="0"/>
                  </a:moveTo>
                  <a:lnTo>
                    <a:pt x="3805936" y="0"/>
                  </a:lnTo>
                  <a:lnTo>
                    <a:pt x="3805936" y="1796415"/>
                  </a:lnTo>
                  <a:lnTo>
                    <a:pt x="0" y="1796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" r="0" b="-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593" y="359493"/>
            <a:ext cx="1914601" cy="1248242"/>
            <a:chOff x="0" y="0"/>
            <a:chExt cx="2552802" cy="1664322"/>
          </a:xfrm>
        </p:grpSpPr>
        <p:sp>
          <p:nvSpPr>
            <p:cNvPr name="Freeform 13" id="13" descr="Your startup LOGO"/>
            <p:cNvSpPr/>
            <p:nvPr/>
          </p:nvSpPr>
          <p:spPr>
            <a:xfrm flipH="false" flipV="false" rot="0">
              <a:off x="0" y="0"/>
              <a:ext cx="2552700" cy="1664208"/>
            </a:xfrm>
            <a:custGeom>
              <a:avLst/>
              <a:gdLst/>
              <a:ahLst/>
              <a:cxnLst/>
              <a:rect r="r" b="b" t="t" l="l"/>
              <a:pathLst>
                <a:path h="1664208" w="2552700">
                  <a:moveTo>
                    <a:pt x="0" y="832104"/>
                  </a:moveTo>
                  <a:cubicBezTo>
                    <a:pt x="0" y="372618"/>
                    <a:pt x="571500" y="0"/>
                    <a:pt x="1276350" y="0"/>
                  </a:cubicBezTo>
                  <a:cubicBezTo>
                    <a:pt x="1981200" y="0"/>
                    <a:pt x="2552700" y="372618"/>
                    <a:pt x="2552700" y="832104"/>
                  </a:cubicBezTo>
                  <a:cubicBezTo>
                    <a:pt x="2552700" y="1291590"/>
                    <a:pt x="1981200" y="1664208"/>
                    <a:pt x="1276350" y="1664208"/>
                  </a:cubicBezTo>
                  <a:cubicBezTo>
                    <a:pt x="571500" y="1664208"/>
                    <a:pt x="0" y="1291717"/>
                    <a:pt x="0" y="83210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552802" cy="172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Tikka Techies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220" y="1755648"/>
            <a:ext cx="16459200" cy="411480"/>
            <a:chOff x="0" y="0"/>
            <a:chExt cx="219456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1945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Details / Links of the reference and research work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7695" y="2253615"/>
            <a:ext cx="5574030" cy="5162550"/>
            <a:chOff x="0" y="0"/>
            <a:chExt cx="7432040" cy="688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32040" cy="6883400"/>
            </a:xfrm>
            <a:custGeom>
              <a:avLst/>
              <a:gdLst/>
              <a:ahLst/>
              <a:cxnLst/>
              <a:rect r="r" b="b" t="t" l="l"/>
              <a:pathLst>
                <a:path h="6883400" w="743204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285228" y="0"/>
                  </a:lnTo>
                  <a:cubicBezTo>
                    <a:pt x="7366254" y="0"/>
                    <a:pt x="7432040" y="65786"/>
                    <a:pt x="7432040" y="146812"/>
                  </a:cubicBezTo>
                  <a:lnTo>
                    <a:pt x="7432040" y="6736588"/>
                  </a:lnTo>
                  <a:cubicBezTo>
                    <a:pt x="7432040" y="6817614"/>
                    <a:pt x="7366254" y="6883400"/>
                    <a:pt x="7285228" y="6883400"/>
                  </a:cubicBezTo>
                  <a:lnTo>
                    <a:pt x="146812" y="6883400"/>
                  </a:lnTo>
                  <a:cubicBezTo>
                    <a:pt x="65786" y="6883400"/>
                    <a:pt x="0" y="6817614"/>
                    <a:pt x="0" y="673658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17220" y="2263140"/>
            <a:ext cx="5554980" cy="548640"/>
            <a:chOff x="0" y="0"/>
            <a:chExt cx="74066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0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740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60336" y="0"/>
                  </a:lnTo>
                  <a:cubicBezTo>
                    <a:pt x="7341108" y="0"/>
                    <a:pt x="7406640" y="65532"/>
                    <a:pt x="7406640" y="146304"/>
                  </a:cubicBezTo>
                  <a:lnTo>
                    <a:pt x="7406640" y="585216"/>
                  </a:lnTo>
                  <a:cubicBezTo>
                    <a:pt x="7406640" y="665988"/>
                    <a:pt x="7341108" y="731520"/>
                    <a:pt x="726033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406640" cy="75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sources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2966847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ISRO MOSDAC, INSAT-3DS data</a:t>
            </a:r>
          </a:p>
          <a:p>
            <a:pPr algn="l">
              <a:lnSpc>
                <a:spcPts val="1709"/>
              </a:lnSpc>
            </a:pPr>
            <a:r>
              <a:rPr lang="en-US" sz="1425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 tooltip="https://www.mosdac.gov.in"/>
              </a:rPr>
              <a:t>mosdac.gov.in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3830955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NASA GPM IMERG</a:t>
            </a:r>
          </a:p>
          <a:p>
            <a:pPr algn="l">
              <a:lnSpc>
                <a:spcPts val="1709"/>
              </a:lnSpc>
            </a:pPr>
            <a:r>
              <a:rPr lang="en-US" sz="1425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5" tooltip="https://gpm.nasa.gov/data/imerg"/>
              </a:rPr>
              <a:t>gpm.nasa.gov/data/imerg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4695063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JTWC</a:t>
            </a:r>
          </a:p>
          <a:p>
            <a:pPr algn="l">
              <a:lnSpc>
                <a:spcPts val="1709"/>
              </a:lnSpc>
            </a:pPr>
            <a:r>
              <a:rPr lang="en-US" sz="1425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 tooltip="https://www.metoc.navy.mil/jtwc"/>
              </a:rPr>
              <a:t>metoc.navy.mil/jtwc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960" y="5559171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NOAA IBTrACS</a:t>
            </a:r>
          </a:p>
          <a:p>
            <a:pPr algn="l">
              <a:lnSpc>
                <a:spcPts val="1709"/>
              </a:lnSpc>
            </a:pPr>
            <a:r>
              <a:rPr lang="en-US" sz="1425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7" tooltip="https://www.ncei.noaa.gov"/>
              </a:rPr>
              <a:t>ncei.noaa.gov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22960" y="6423279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IMD</a:t>
            </a:r>
          </a:p>
          <a:p>
            <a:pPr algn="l">
              <a:lnSpc>
                <a:spcPts val="1709"/>
              </a:lnSpc>
            </a:pPr>
            <a:r>
              <a:rPr lang="en-US" sz="1425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8" tooltip="https://mausam.imd.gov.in"/>
              </a:rPr>
              <a:t>mausam.imd.gov.in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354699" y="2253615"/>
            <a:ext cx="5574030" cy="5162550"/>
            <a:chOff x="0" y="0"/>
            <a:chExt cx="7432040" cy="6883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2040" cy="6883400"/>
            </a:xfrm>
            <a:custGeom>
              <a:avLst/>
              <a:gdLst/>
              <a:ahLst/>
              <a:cxnLst/>
              <a:rect r="r" b="b" t="t" l="l"/>
              <a:pathLst>
                <a:path h="6883400" w="743204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285228" y="0"/>
                  </a:lnTo>
                  <a:cubicBezTo>
                    <a:pt x="7366254" y="0"/>
                    <a:pt x="7432040" y="65786"/>
                    <a:pt x="7432040" y="146812"/>
                  </a:cubicBezTo>
                  <a:lnTo>
                    <a:pt x="7432040" y="6736588"/>
                  </a:lnTo>
                  <a:cubicBezTo>
                    <a:pt x="7432040" y="6817614"/>
                    <a:pt x="7366254" y="6883400"/>
                    <a:pt x="7285228" y="6883400"/>
                  </a:cubicBezTo>
                  <a:lnTo>
                    <a:pt x="146812" y="6883400"/>
                  </a:lnTo>
                  <a:cubicBezTo>
                    <a:pt x="65786" y="6883400"/>
                    <a:pt x="0" y="6817614"/>
                    <a:pt x="0" y="673658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364224" y="2263140"/>
            <a:ext cx="5554980" cy="548640"/>
            <a:chOff x="0" y="0"/>
            <a:chExt cx="74066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0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740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60336" y="0"/>
                  </a:lnTo>
                  <a:cubicBezTo>
                    <a:pt x="7341108" y="0"/>
                    <a:pt x="7406640" y="65532"/>
                    <a:pt x="7406640" y="146304"/>
                  </a:cubicBezTo>
                  <a:lnTo>
                    <a:pt x="7406640" y="585216"/>
                  </a:lnTo>
                  <a:cubicBezTo>
                    <a:pt x="7406640" y="665988"/>
                    <a:pt x="7341108" y="731520"/>
                    <a:pt x="726033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7406640" cy="75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and tools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569964" y="2966847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Shi et al. (2015), Convolutional LSTM Network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NeurIPS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69964" y="3830955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Piñeros et al. (2008), Deviation-Angle Variance technique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IEEE TGRS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69964" y="4695063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Ultralytics YOLO OBB</a:t>
            </a:r>
          </a:p>
          <a:p>
            <a:pPr algn="l">
              <a:lnSpc>
                <a:spcPts val="1709"/>
              </a:lnSpc>
            </a:pPr>
            <a:r>
              <a:rPr lang="en-US" sz="1425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9" tooltip="https://docs.ultralytics.com"/>
              </a:rPr>
              <a:t>docs.ultralytics.com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101703" y="2253615"/>
            <a:ext cx="5574030" cy="5162550"/>
            <a:chOff x="0" y="0"/>
            <a:chExt cx="7432040" cy="6883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2040" cy="6883400"/>
            </a:xfrm>
            <a:custGeom>
              <a:avLst/>
              <a:gdLst/>
              <a:ahLst/>
              <a:cxnLst/>
              <a:rect r="r" b="b" t="t" l="l"/>
              <a:pathLst>
                <a:path h="6883400" w="743204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285228" y="0"/>
                  </a:lnTo>
                  <a:cubicBezTo>
                    <a:pt x="7366254" y="0"/>
                    <a:pt x="7432040" y="65786"/>
                    <a:pt x="7432040" y="146812"/>
                  </a:cubicBezTo>
                  <a:lnTo>
                    <a:pt x="7432040" y="6736588"/>
                  </a:lnTo>
                  <a:cubicBezTo>
                    <a:pt x="7432040" y="6817614"/>
                    <a:pt x="7366254" y="6883400"/>
                    <a:pt x="7285228" y="6883400"/>
                  </a:cubicBezTo>
                  <a:lnTo>
                    <a:pt x="146812" y="6883400"/>
                  </a:lnTo>
                  <a:cubicBezTo>
                    <a:pt x="65786" y="6883400"/>
                    <a:pt x="0" y="6817614"/>
                    <a:pt x="0" y="673658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0DCE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11228" y="2263140"/>
            <a:ext cx="5554980" cy="548640"/>
            <a:chOff x="0" y="0"/>
            <a:chExt cx="74066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0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7406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60336" y="0"/>
                  </a:lnTo>
                  <a:cubicBezTo>
                    <a:pt x="7341108" y="0"/>
                    <a:pt x="7406640" y="65532"/>
                    <a:pt x="7406640" y="146304"/>
                  </a:cubicBezTo>
                  <a:lnTo>
                    <a:pt x="7406640" y="585216"/>
                  </a:lnTo>
                  <a:cubicBezTo>
                    <a:pt x="7406640" y="665988"/>
                    <a:pt x="7341108" y="731520"/>
                    <a:pt x="726033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406640" cy="75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evidence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316968" y="2966847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World Bank, Cyclone Phailin (2013)</a:t>
            </a:r>
          </a:p>
          <a:p>
            <a:pPr algn="l">
              <a:lnSpc>
                <a:spcPts val="1709"/>
              </a:lnSpc>
            </a:pPr>
            <a:r>
              <a:rPr lang="en-US" sz="1425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0" tooltip="https://www.worldbank.org"/>
              </a:rPr>
              <a:t>worldbank.org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16968" y="3830955"/>
            <a:ext cx="5143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Amphan losses, UN report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ThePrint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16968" y="4695063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Global Commission on Adaptation (2019)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Climate Home News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316968" y="5559171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CMFRI Marine Fisheries Census 2016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fisherfolk population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16968" y="6423279"/>
            <a:ext cx="514350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A2540"/>
                </a:solidFill>
                <a:latin typeface="Arial Bold"/>
                <a:ea typeface="Arial Bold"/>
                <a:cs typeface="Arial Bold"/>
                <a:sym typeface="Arial Bold"/>
              </a:rPr>
              <a:t>India coastline revision 2025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11,098 km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17220" y="7653528"/>
            <a:ext cx="17048988" cy="1673352"/>
            <a:chOff x="0" y="0"/>
            <a:chExt cx="22731984" cy="22311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731985" cy="2231136"/>
            </a:xfrm>
            <a:custGeom>
              <a:avLst/>
              <a:gdLst/>
              <a:ahLst/>
              <a:cxnLst/>
              <a:rect r="r" b="b" t="t" l="l"/>
              <a:pathLst>
                <a:path h="2231136" w="2273198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585680" y="0"/>
                  </a:lnTo>
                  <a:cubicBezTo>
                    <a:pt x="22666452" y="0"/>
                    <a:pt x="22731985" y="65532"/>
                    <a:pt x="22731985" y="146304"/>
                  </a:cubicBezTo>
                  <a:lnTo>
                    <a:pt x="22731985" y="2084832"/>
                  </a:lnTo>
                  <a:cubicBezTo>
                    <a:pt x="22731985" y="2165604"/>
                    <a:pt x="22666452" y="2231136"/>
                    <a:pt x="22585680" y="2231136"/>
                  </a:cubicBezTo>
                  <a:lnTo>
                    <a:pt x="146304" y="2231136"/>
                  </a:lnTo>
                  <a:cubicBezTo>
                    <a:pt x="65532" y="2231136"/>
                    <a:pt x="0" y="2165604"/>
                    <a:pt x="0" y="2084832"/>
                  </a:cubicBezTo>
                  <a:close/>
                </a:path>
              </a:pathLst>
            </a:custGeom>
            <a:solidFill>
              <a:srgbClr val="EAF3F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82015" y="7808595"/>
            <a:ext cx="1363218" cy="1363218"/>
            <a:chOff x="0" y="0"/>
            <a:chExt cx="1817624" cy="1817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17624" cy="1817624"/>
            </a:xfrm>
            <a:custGeom>
              <a:avLst/>
              <a:gdLst/>
              <a:ahLst/>
              <a:cxnLst/>
              <a:rect r="r" b="b" t="t" l="l"/>
              <a:pathLst>
                <a:path h="1817624" w="1817624">
                  <a:moveTo>
                    <a:pt x="0" y="0"/>
                  </a:moveTo>
                  <a:lnTo>
                    <a:pt x="1817624" y="0"/>
                  </a:lnTo>
                  <a:lnTo>
                    <a:pt x="1817624" y="1817624"/>
                  </a:lnTo>
                  <a:lnTo>
                    <a:pt x="0" y="181762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AA9B6"/>
              </a:solidFill>
              <a:prstDash val="dash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91540" y="7818120"/>
            <a:ext cx="1344168" cy="1344168"/>
            <a:chOff x="0" y="0"/>
            <a:chExt cx="1792224" cy="17922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92224" cy="1792224"/>
            </a:xfrm>
            <a:custGeom>
              <a:avLst/>
              <a:gdLst/>
              <a:ahLst/>
              <a:cxnLst/>
              <a:rect r="r" b="b" t="t" l="l"/>
              <a:pathLst>
                <a:path h="1792224" w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792224" cy="1811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9AA9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468880" y="8023860"/>
            <a:ext cx="3771900" cy="411480"/>
            <a:chOff x="0" y="0"/>
            <a:chExt cx="50292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02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02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video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468880" y="8443722"/>
            <a:ext cx="37719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Scan to watch the working prototype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629019" y="7808595"/>
            <a:ext cx="1363218" cy="1363218"/>
            <a:chOff x="0" y="0"/>
            <a:chExt cx="1817624" cy="18176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17624" cy="1817624"/>
            </a:xfrm>
            <a:custGeom>
              <a:avLst/>
              <a:gdLst/>
              <a:ahLst/>
              <a:cxnLst/>
              <a:rect r="r" b="b" t="t" l="l"/>
              <a:pathLst>
                <a:path h="1817624" w="1817624">
                  <a:moveTo>
                    <a:pt x="0" y="0"/>
                  </a:moveTo>
                  <a:lnTo>
                    <a:pt x="1817624" y="0"/>
                  </a:lnTo>
                  <a:lnTo>
                    <a:pt x="1817624" y="1817624"/>
                  </a:lnTo>
                  <a:lnTo>
                    <a:pt x="0" y="181762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AA9B6"/>
              </a:solidFill>
              <a:prstDash val="dash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638544" y="7818120"/>
            <a:ext cx="1344168" cy="1344168"/>
            <a:chOff x="0" y="0"/>
            <a:chExt cx="1792224" cy="17922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92224" cy="1792224"/>
            </a:xfrm>
            <a:custGeom>
              <a:avLst/>
              <a:gdLst/>
              <a:ahLst/>
              <a:cxnLst/>
              <a:rect r="r" b="b" t="t" l="l"/>
              <a:pathLst>
                <a:path h="1792224" w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792224" cy="1811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9AA9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15884" y="8023860"/>
            <a:ext cx="3771900" cy="411480"/>
            <a:chOff x="0" y="0"/>
            <a:chExt cx="50292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02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02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 repository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8215884" y="8443722"/>
            <a:ext cx="37719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Scan to view the source code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376023" y="7808595"/>
            <a:ext cx="1363218" cy="1363218"/>
            <a:chOff x="0" y="0"/>
            <a:chExt cx="1817624" cy="18176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17624" cy="1817624"/>
            </a:xfrm>
            <a:custGeom>
              <a:avLst/>
              <a:gdLst/>
              <a:ahLst/>
              <a:cxnLst/>
              <a:rect r="r" b="b" t="t" l="l"/>
              <a:pathLst>
                <a:path h="1817624" w="1817624">
                  <a:moveTo>
                    <a:pt x="0" y="0"/>
                  </a:moveTo>
                  <a:lnTo>
                    <a:pt x="1817624" y="0"/>
                  </a:lnTo>
                  <a:lnTo>
                    <a:pt x="1817624" y="1817624"/>
                  </a:lnTo>
                  <a:lnTo>
                    <a:pt x="0" y="181762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AA9B6"/>
              </a:solidFill>
              <a:prstDash val="dash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385548" y="7818120"/>
            <a:ext cx="1344168" cy="1344168"/>
            <a:chOff x="0" y="0"/>
            <a:chExt cx="1792224" cy="17922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92224" cy="1792224"/>
            </a:xfrm>
            <a:custGeom>
              <a:avLst/>
              <a:gdLst/>
              <a:ahLst/>
              <a:cxnLst/>
              <a:rect r="r" b="b" t="t" l="l"/>
              <a:pathLst>
                <a:path h="1792224" w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792224" cy="1811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9AA9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QR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962888" y="8023860"/>
            <a:ext cx="3771900" cy="411480"/>
            <a:chOff x="0" y="0"/>
            <a:chExt cx="50292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02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5029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254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report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3962888" y="8443722"/>
            <a:ext cx="37719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A5B6C"/>
                </a:solidFill>
                <a:latin typeface="Arial"/>
                <a:ea typeface="Arial"/>
                <a:cs typeface="Arial"/>
                <a:sym typeface="Arial"/>
              </a:rPr>
              <a:t>Scan for the full technical report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DAHWmIYCVxY</dc:identifier>
  <dcterms:modified xsi:type="dcterms:W3CDTF">2011-08-01T06:04:30Z</dcterms:modified>
  <cp:revision>1</cp:revision>
  <dc:title>SIH26070.pptx</dc:title>
</cp:coreProperties>
</file>